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4" r:id="rId3"/>
    <p:sldId id="262" r:id="rId4"/>
    <p:sldId id="263" r:id="rId5"/>
    <p:sldId id="260" r:id="rId6"/>
    <p:sldId id="256" r:id="rId7"/>
    <p:sldId id="261" r:id="rId8"/>
    <p:sldId id="258" r:id="rId9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0020"/>
    <a:srgbClr val="800020"/>
    <a:srgbClr val="984A5B"/>
    <a:srgbClr val="4E262F"/>
    <a:srgbClr val="B56576"/>
    <a:srgbClr val="A55163"/>
    <a:srgbClr val="522831"/>
    <a:srgbClr val="4A4A69"/>
    <a:srgbClr val="3B3B98"/>
    <a:srgbClr val="2A2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>
        <p:scale>
          <a:sx n="36" d="100"/>
          <a:sy n="36" d="100"/>
        </p:scale>
        <p:origin x="1781" y="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i). 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workflows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ii). Task Binding Semantics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iii). Containerized 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iii). Containerized 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ii). Task Binding Semantics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i). 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workflows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jpeg"/><Relationship Id="rId4" Type="http://schemas.openxmlformats.org/officeDocument/2006/relationships/image" Target="../media/image9.png"/><Relationship Id="rId9" Type="http://schemas.openxmlformats.org/officeDocument/2006/relationships/image" Target="../media/image1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6675840" y="3248049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257391" y="10890061"/>
            <a:ext cx="6156256" cy="4800796"/>
            <a:chOff x="225113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225113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5919442" y="2580453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1526510" y="10816934"/>
            <a:ext cx="6156256" cy="4881482"/>
            <a:chOff x="11591831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591831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1696857" y="11312831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3599412" y="7430272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3778893" y="7635543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3331480" y="8582309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3979422" y="900523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0793786" y="7598222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0939397" y="851978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1053533" y="7542238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0259202" y="9061958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3782784" y="14122192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790795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TaskTide Workflow Engine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8873" y="3406574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7466555" y="6626837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0843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139" y="6145315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101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200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4852" y="11067701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021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1688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214" y="825415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2052320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2082800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2113280" y="10586720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8408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-732238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-722078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-610318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3180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5155442"/>
              </p:ext>
            </p:extLst>
          </p:nvPr>
        </p:nvGraphicFramePr>
        <p:xfrm>
          <a:off x="612536" y="2748599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26252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937356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2625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7255" y="75129"/>
            <a:ext cx="6537343" cy="5813137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F285AACC-9EB5-63E5-DE3D-1984E3D2EA53}"/>
              </a:ext>
            </a:extLst>
          </p:cNvPr>
          <p:cNvGrpSpPr/>
          <p:nvPr/>
        </p:nvGrpSpPr>
        <p:grpSpPr>
          <a:xfrm>
            <a:off x="286030" y="3210827"/>
            <a:ext cx="17369977" cy="12034084"/>
            <a:chOff x="286030" y="2891852"/>
            <a:chExt cx="17369977" cy="12034084"/>
          </a:xfrm>
        </p:grpSpPr>
        <p:pic>
          <p:nvPicPr>
            <p:cNvPr id="25" name="Picture 24" descr="A group of logos on a white background&#10;&#10;AI-generated content may be incorrect.">
              <a:extLst>
                <a:ext uri="{FF2B5EF4-FFF2-40B4-BE49-F238E27FC236}">
                  <a16:creationId xmlns:a16="http://schemas.microsoft.com/office/drawing/2014/main" id="{ABB203D0-3D97-1EDE-DC6D-B67CAA1D37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6030" y="11817662"/>
              <a:ext cx="5116008" cy="3108274"/>
            </a:xfrm>
            <a:prstGeom prst="rect">
              <a:avLst/>
            </a:prstGeom>
          </p:spPr>
        </p:pic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6D46A4F6-A6E6-EEDD-9DAA-C85003898CD6}"/>
                </a:ext>
              </a:extLst>
            </p:cNvPr>
            <p:cNvSpPr/>
            <p:nvPr/>
          </p:nvSpPr>
          <p:spPr>
            <a:xfrm>
              <a:off x="3853559" y="2891852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483EFC43-8D08-EDDA-C48D-B19EF8145547}"/>
                </a:ext>
              </a:extLst>
            </p:cNvPr>
            <p:cNvSpPr/>
            <p:nvPr/>
          </p:nvSpPr>
          <p:spPr>
            <a:xfrm>
              <a:off x="1156998" y="4666373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BF743EF5-BB08-F701-6DF6-8EA8AAB63398}"/>
                </a:ext>
              </a:extLst>
            </p:cNvPr>
            <p:cNvSpPr/>
            <p:nvPr/>
          </p:nvSpPr>
          <p:spPr>
            <a:xfrm>
              <a:off x="7274334" y="4676460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A60E3390-6BDF-75B0-676A-C81444615F2C}"/>
                </a:ext>
              </a:extLst>
            </p:cNvPr>
            <p:cNvSpPr/>
            <p:nvPr/>
          </p:nvSpPr>
          <p:spPr>
            <a:xfrm>
              <a:off x="3579677" y="6387837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761A1A9A-FBA2-221A-ED5A-8397CBBF7091}"/>
                </a:ext>
              </a:extLst>
            </p:cNvPr>
            <p:cNvSpPr/>
            <p:nvPr/>
          </p:nvSpPr>
          <p:spPr>
            <a:xfrm>
              <a:off x="3760249" y="8118944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6CF3679C-A42B-BB1A-89A6-3779A8CAC4B0}"/>
                </a:ext>
              </a:extLst>
            </p:cNvPr>
            <p:cNvSpPr/>
            <p:nvPr/>
          </p:nvSpPr>
          <p:spPr>
            <a:xfrm>
              <a:off x="286030" y="10418029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A9DF68DD-9327-AAF2-6D6A-40C7FF82282B}"/>
                </a:ext>
              </a:extLst>
            </p:cNvPr>
            <p:cNvSpPr/>
            <p:nvPr/>
          </p:nvSpPr>
          <p:spPr>
            <a:xfrm>
              <a:off x="10361466" y="10976251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70F9B6C0-7A11-5126-A2F9-62210095E61E}"/>
                </a:ext>
              </a:extLst>
            </p:cNvPr>
            <p:cNvSpPr/>
            <p:nvPr/>
          </p:nvSpPr>
          <p:spPr>
            <a:xfrm>
              <a:off x="5635002" y="966171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A40A20D-07AA-3C29-B525-8F054EB395CE}"/>
                </a:ext>
              </a:extLst>
            </p:cNvPr>
            <p:cNvGrpSpPr/>
            <p:nvPr/>
          </p:nvGrpSpPr>
          <p:grpSpPr>
            <a:xfrm>
              <a:off x="11185297" y="12480237"/>
              <a:ext cx="4323882" cy="2162882"/>
              <a:chOff x="8508170" y="11304872"/>
              <a:chExt cx="3773483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A0EBE8F0-852C-9D44-C282-192E019302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508170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E6A01908-3616-64D6-439C-842D10A4FB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447570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7161502-6450-2C74-3220-821B827C17C8}"/>
                  </a:ext>
                </a:extLst>
              </p:cNvPr>
              <p:cNvCxnSpPr/>
              <p:nvPr/>
            </p:nvCxnSpPr>
            <p:spPr>
              <a:xfrm flipH="1">
                <a:off x="9485965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7A954414-47EC-2512-D52F-172903F25B8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765098"/>
              <a:ext cx="0" cy="835018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7E84AA-4EFD-742C-FCF6-2A230C4ECCBB}"/>
                </a:ext>
              </a:extLst>
            </p:cNvPr>
            <p:cNvCxnSpPr>
              <a:cxnSpLocks/>
            </p:cNvCxnSpPr>
            <p:nvPr/>
          </p:nvCxnSpPr>
          <p:spPr>
            <a:xfrm>
              <a:off x="7631694" y="8989884"/>
              <a:ext cx="0" cy="62445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119E524B-4AAF-85A1-2D4B-FCC8F7BBC7CD}"/>
                </a:ext>
              </a:extLst>
            </p:cNvPr>
            <p:cNvCxnSpPr>
              <a:cxnSpLocks/>
            </p:cNvCxnSpPr>
            <p:nvPr/>
          </p:nvCxnSpPr>
          <p:spPr>
            <a:xfrm>
              <a:off x="12862574" y="11851343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8E134E11-C649-29A8-88F0-663EA7E359EC}"/>
                </a:ext>
              </a:extLst>
            </p:cNvPr>
            <p:cNvSpPr/>
            <p:nvPr/>
          </p:nvSpPr>
          <p:spPr>
            <a:xfrm>
              <a:off x="11539544" y="4781621"/>
              <a:ext cx="3904789" cy="936525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D7A76D2-A199-24BC-3649-24E384805F0D}"/>
                </a:ext>
              </a:extLst>
            </p:cNvPr>
            <p:cNvCxnSpPr>
              <a:cxnSpLocks/>
            </p:cNvCxnSpPr>
            <p:nvPr/>
          </p:nvCxnSpPr>
          <p:spPr>
            <a:xfrm>
              <a:off x="8932653" y="8603919"/>
              <a:ext cx="537536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B8214C4E-DB36-C2ED-34D2-EDA3242C2D92}"/>
                </a:ext>
              </a:extLst>
            </p:cNvPr>
            <p:cNvSpPr/>
            <p:nvPr/>
          </p:nvSpPr>
          <p:spPr>
            <a:xfrm>
              <a:off x="9529769" y="8145220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8AB1BA33-846B-71CB-C4E6-E037EFA3C024}"/>
                </a:ext>
              </a:extLst>
            </p:cNvPr>
            <p:cNvSpPr/>
            <p:nvPr/>
          </p:nvSpPr>
          <p:spPr>
            <a:xfrm>
              <a:off x="14534290" y="710410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5C067697-A9CE-7092-38B5-DE6CF63938F7}"/>
                </a:ext>
              </a:extLst>
            </p:cNvPr>
            <p:cNvSpPr/>
            <p:nvPr/>
          </p:nvSpPr>
          <p:spPr>
            <a:xfrm>
              <a:off x="14532171" y="8194921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CBAA4AFC-3354-A870-0D27-6D1FA8EB9501}"/>
                </a:ext>
              </a:extLst>
            </p:cNvPr>
            <p:cNvSpPr/>
            <p:nvPr/>
          </p:nvSpPr>
          <p:spPr>
            <a:xfrm>
              <a:off x="14519301" y="926453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8DCEE48F-962D-A3C4-8DC4-E8DDC684297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766950"/>
              <a:ext cx="0" cy="83316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811605E-2E77-4721-BB6A-D96BCA1BBA30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32163"/>
              <a:ext cx="0" cy="59243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069DBF85-D0D1-E9E2-C786-B27C86649C59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735025"/>
              <a:ext cx="0" cy="60534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DFB149C-0D70-4CAD-66D8-E7D9869E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454339"/>
              <a:ext cx="0" cy="595273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68585F70-3D6B-A57D-56B6-98A008D06323}"/>
                </a:ext>
              </a:extLst>
            </p:cNvPr>
            <p:cNvCxnSpPr>
              <a:cxnSpLocks/>
            </p:cNvCxnSpPr>
            <p:nvPr/>
          </p:nvCxnSpPr>
          <p:spPr>
            <a:xfrm>
              <a:off x="10750669" y="5222783"/>
              <a:ext cx="74596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D5D7C695-DFC6-67D0-DD12-31F6A0348BA4}"/>
                </a:ext>
              </a:extLst>
            </p:cNvPr>
            <p:cNvCxnSpPr>
              <a:cxnSpLocks/>
            </p:cNvCxnSpPr>
            <p:nvPr/>
          </p:nvCxnSpPr>
          <p:spPr>
            <a:xfrm>
              <a:off x="13461543" y="8622576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5F967A5-B59E-7B7D-5E64-512341FD7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9796" y="7648584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C5069E0D-C152-2D33-9149-D8FB64B0BEE0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655978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D83134F-275B-B0ED-A2DA-C0BE6509A2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5" y="8991515"/>
              <a:ext cx="194" cy="136932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7110645D-7449-3CAF-2FB2-5789C07DA1BC}"/>
                </a:ext>
              </a:extLst>
            </p:cNvPr>
            <p:cNvCxnSpPr>
              <a:cxnSpLocks/>
            </p:cNvCxnSpPr>
            <p:nvPr/>
          </p:nvCxnSpPr>
          <p:spPr>
            <a:xfrm>
              <a:off x="8907983" y="8905416"/>
              <a:ext cx="3759332" cy="200486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B63FC61A-B064-0C71-D47B-6087923E9AA1}"/>
                </a:ext>
              </a:extLst>
            </p:cNvPr>
            <p:cNvCxnSpPr>
              <a:cxnSpLocks/>
            </p:cNvCxnSpPr>
            <p:nvPr/>
          </p:nvCxnSpPr>
          <p:spPr>
            <a:xfrm>
              <a:off x="7616145" y="10528192"/>
              <a:ext cx="0" cy="91213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A1788FC1-D1D9-FCA0-8AA7-E335A3FB44E0}"/>
                </a:ext>
              </a:extLst>
            </p:cNvPr>
            <p:cNvGrpSpPr/>
            <p:nvPr/>
          </p:nvGrpSpPr>
          <p:grpSpPr>
            <a:xfrm>
              <a:off x="5930016" y="11455567"/>
              <a:ext cx="3317123" cy="2907635"/>
              <a:chOff x="5892693" y="12674487"/>
              <a:chExt cx="3317123" cy="2907635"/>
            </a:xfrm>
          </p:grpSpPr>
          <p:pic>
            <p:nvPicPr>
              <p:cNvPr id="4" name="Picture 3" descr="A blue circle with white text and a dolphin&#10;&#10;AI-generated content may be incorrect.">
                <a:extLst>
                  <a:ext uri="{FF2B5EF4-FFF2-40B4-BE49-F238E27FC236}">
                    <a16:creationId xmlns:a16="http://schemas.microsoft.com/office/drawing/2014/main" id="{4317112C-5E93-13F6-DEEF-8EAA6FDD08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92693" y="12674487"/>
                <a:ext cx="1409700" cy="1409700"/>
              </a:xfrm>
              <a:prstGeom prst="rect">
                <a:avLst/>
              </a:prstGeom>
            </p:spPr>
          </p:pic>
          <p:pic>
            <p:nvPicPr>
              <p:cNvPr id="15" name="Picture 14" descr="A logo for a company&#10;&#10;AI-generated content may be incorrect.">
                <a:extLst>
                  <a:ext uri="{FF2B5EF4-FFF2-40B4-BE49-F238E27FC236}">
                    <a16:creationId xmlns:a16="http://schemas.microsoft.com/office/drawing/2014/main" id="{B03A0ABC-098B-C812-3DA4-0300D71075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817572" y="14381372"/>
                <a:ext cx="1590182" cy="1200750"/>
              </a:xfrm>
              <a:prstGeom prst="rect">
                <a:avLst/>
              </a:prstGeom>
            </p:spPr>
          </p:pic>
          <p:pic>
            <p:nvPicPr>
              <p:cNvPr id="19" name="Picture 18" descr="A blue elephant logo with white text&#10;&#10;AI-generated content may be incorrect.">
                <a:extLst>
                  <a:ext uri="{FF2B5EF4-FFF2-40B4-BE49-F238E27FC236}">
                    <a16:creationId xmlns:a16="http://schemas.microsoft.com/office/drawing/2014/main" id="{33994AF6-0DEF-2EBD-E76A-01617A7F5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58622" y="12732993"/>
                <a:ext cx="1351194" cy="1351194"/>
              </a:xfrm>
              <a:prstGeom prst="rect">
                <a:avLst/>
              </a:prstGeom>
            </p:spPr>
          </p:pic>
        </p:grp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9DC3E09-C608-48EF-34B8-A8C2CC14E4C6}"/>
                </a:ext>
              </a:extLst>
            </p:cNvPr>
            <p:cNvCxnSpPr>
              <a:cxnSpLocks/>
            </p:cNvCxnSpPr>
            <p:nvPr/>
          </p:nvCxnSpPr>
          <p:spPr>
            <a:xfrm>
              <a:off x="2499300" y="11291808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1753465"/>
              </p:ext>
            </p:extLst>
          </p:nvPr>
        </p:nvGraphicFramePr>
        <p:xfrm>
          <a:off x="-2229392" y="3993735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418182" y="2743200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459727" y="140208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TaskTide</a:t>
            </a:r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5689602" y="4606002"/>
            <a:ext cx="12115789" cy="107816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>
            <a:off x="11380185" y="3558775"/>
            <a:ext cx="0" cy="968362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1668760" y="3500120"/>
            <a:ext cx="1" cy="954107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7987186" y="7889090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8012586" y="11170383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6456196" y="5836920"/>
            <a:ext cx="3152458" cy="1852676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Receives      Tasks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6466357" y="9057640"/>
            <a:ext cx="3152458" cy="1852676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6466357" y="12319000"/>
            <a:ext cx="3152458" cy="1852676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7401771" y="4155461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3F73D-D09F-B45C-DA3C-EF859F32AFF6}"/>
              </a:ext>
            </a:extLst>
          </p:cNvPr>
          <p:cNvSpPr txBox="1"/>
          <p:nvPr/>
        </p:nvSpPr>
        <p:spPr>
          <a:xfrm>
            <a:off x="11763251" y="3766479"/>
            <a:ext cx="2546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accent5">
                    <a:lumMod val="75000"/>
                  </a:schemeClr>
                </a:solidFill>
              </a:rPr>
              <a:t>Task Updates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5A324E4-797D-C81C-D94D-9A1161D8568F}"/>
              </a:ext>
            </a:extLst>
          </p:cNvPr>
          <p:cNvSpPr/>
          <p:nvPr/>
        </p:nvSpPr>
        <p:spPr>
          <a:xfrm>
            <a:off x="11968168" y="8367208"/>
            <a:ext cx="2543966" cy="1222090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Event Subscription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060813-E48E-35FE-9699-20F5CFE266C0}"/>
              </a:ext>
            </a:extLst>
          </p:cNvPr>
          <p:cNvSpPr/>
          <p:nvPr/>
        </p:nvSpPr>
        <p:spPr>
          <a:xfrm>
            <a:off x="14852657" y="8367208"/>
            <a:ext cx="2543966" cy="1222090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Commit Task Updates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14C8E5-F857-D9DC-2E6E-E2A94A962D91}"/>
              </a:ext>
            </a:extLst>
          </p:cNvPr>
          <p:cNvSpPr/>
          <p:nvPr/>
        </p:nvSpPr>
        <p:spPr>
          <a:xfrm>
            <a:off x="13456373" y="10040385"/>
            <a:ext cx="2543966" cy="1222090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 Registry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1FD7A45-07A6-2A0A-0A15-386687226289}"/>
              </a:ext>
            </a:extLst>
          </p:cNvPr>
          <p:cNvSpPr/>
          <p:nvPr/>
        </p:nvSpPr>
        <p:spPr>
          <a:xfrm>
            <a:off x="11744960" y="7963917"/>
            <a:ext cx="5872474" cy="3643883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DCD5EB-E56D-7692-3FCD-FB91F1955FC4}"/>
              </a:ext>
            </a:extLst>
          </p:cNvPr>
          <p:cNvSpPr txBox="1"/>
          <p:nvPr/>
        </p:nvSpPr>
        <p:spPr>
          <a:xfrm>
            <a:off x="12623800" y="7528430"/>
            <a:ext cx="4521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Observer Chain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314848-3CAF-6E78-7D60-BEA85E354477}"/>
              </a:ext>
            </a:extLst>
          </p:cNvPr>
          <p:cNvSpPr/>
          <p:nvPr/>
        </p:nvSpPr>
        <p:spPr>
          <a:xfrm>
            <a:off x="6112479" y="5562600"/>
            <a:ext cx="3835958" cy="90424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9C2CD7-F3A6-A2A4-D43D-69A67E73918A}"/>
              </a:ext>
            </a:extLst>
          </p:cNvPr>
          <p:cNvSpPr txBox="1"/>
          <p:nvPr/>
        </p:nvSpPr>
        <p:spPr>
          <a:xfrm>
            <a:off x="6937492" y="14622217"/>
            <a:ext cx="33600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Processor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90DD8D-EC71-89A9-DA38-FE6DCDD8BED5}"/>
              </a:ext>
            </a:extLst>
          </p:cNvPr>
          <p:cNvCxnSpPr>
            <a:cxnSpLocks/>
          </p:cNvCxnSpPr>
          <p:nvPr/>
        </p:nvCxnSpPr>
        <p:spPr>
          <a:xfrm flipH="1">
            <a:off x="9975465" y="9735585"/>
            <a:ext cx="1693295" cy="0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D5D47F-B164-01B3-7D34-6665223CAF89}"/>
              </a:ext>
            </a:extLst>
          </p:cNvPr>
          <p:cNvSpPr txBox="1"/>
          <p:nvPr/>
        </p:nvSpPr>
        <p:spPr>
          <a:xfrm>
            <a:off x="10208639" y="9338994"/>
            <a:ext cx="14952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chemeClr val="accent5">
                    <a:lumMod val="75000"/>
                  </a:schemeClr>
                </a:solidFill>
              </a:rPr>
              <a:t>Validates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7648" y="29463"/>
            <a:ext cx="5368986" cy="477421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2559AEC-E5C8-6D5D-F208-A00EF8296838}"/>
              </a:ext>
            </a:extLst>
          </p:cNvPr>
          <p:cNvGrpSpPr/>
          <p:nvPr/>
        </p:nvGrpSpPr>
        <p:grpSpPr>
          <a:xfrm>
            <a:off x="286030" y="3165269"/>
            <a:ext cx="17369977" cy="11751267"/>
            <a:chOff x="286030" y="2947559"/>
            <a:chExt cx="17369977" cy="11751267"/>
          </a:xfrm>
        </p:grpSpPr>
        <p:sp>
          <p:nvSpPr>
            <p:cNvPr id="7" name="Flowchart: Alternate Process 6">
              <a:extLst>
                <a:ext uri="{FF2B5EF4-FFF2-40B4-BE49-F238E27FC236}">
                  <a16:creationId xmlns:a16="http://schemas.microsoft.com/office/drawing/2014/main" id="{A0D5D681-EC19-52DB-E992-0E57F0AEFD3A}"/>
                </a:ext>
              </a:extLst>
            </p:cNvPr>
            <p:cNvSpPr/>
            <p:nvPr/>
          </p:nvSpPr>
          <p:spPr>
            <a:xfrm>
              <a:off x="3853559" y="2947559"/>
              <a:ext cx="5147728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600" b="1" dirty="0"/>
                <a:t>TaskTide Client</a:t>
              </a:r>
            </a:p>
          </p:txBody>
        </p:sp>
        <p:sp>
          <p:nvSpPr>
            <p:cNvPr id="8" name="Flowchart: Alternate Process 7">
              <a:extLst>
                <a:ext uri="{FF2B5EF4-FFF2-40B4-BE49-F238E27FC236}">
                  <a16:creationId xmlns:a16="http://schemas.microsoft.com/office/drawing/2014/main" id="{C9B222C9-BBBA-0888-EF26-AA904B46F6C6}"/>
                </a:ext>
              </a:extLst>
            </p:cNvPr>
            <p:cNvSpPr/>
            <p:nvPr/>
          </p:nvSpPr>
          <p:spPr>
            <a:xfrm>
              <a:off x="1156998" y="4722080"/>
              <a:ext cx="380688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ManagerClient</a:t>
              </a:r>
              <a:endParaRPr lang="en-IE" sz="3600" b="1" dirty="0"/>
            </a:p>
          </p:txBody>
        </p:sp>
        <p:sp>
          <p:nvSpPr>
            <p:cNvPr id="9" name="Flowchart: Alternate Process 8">
              <a:extLst>
                <a:ext uri="{FF2B5EF4-FFF2-40B4-BE49-F238E27FC236}">
                  <a16:creationId xmlns:a16="http://schemas.microsoft.com/office/drawing/2014/main" id="{0088A710-20B0-2142-B5AA-A176FCC79125}"/>
                </a:ext>
              </a:extLst>
            </p:cNvPr>
            <p:cNvSpPr/>
            <p:nvPr/>
          </p:nvSpPr>
          <p:spPr>
            <a:xfrm>
              <a:off x="7274334" y="4732167"/>
              <a:ext cx="3454567" cy="1034688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EngineClient</a:t>
              </a:r>
            </a:p>
          </p:txBody>
        </p:sp>
        <p:sp>
          <p:nvSpPr>
            <p:cNvPr id="10" name="Flowchart: Alternate Process 9">
              <a:extLst>
                <a:ext uri="{FF2B5EF4-FFF2-40B4-BE49-F238E27FC236}">
                  <a16:creationId xmlns:a16="http://schemas.microsoft.com/office/drawing/2014/main" id="{C175F32A-56DF-9F7C-9A94-1E7802433A90}"/>
                </a:ext>
              </a:extLst>
            </p:cNvPr>
            <p:cNvSpPr/>
            <p:nvPr/>
          </p:nvSpPr>
          <p:spPr>
            <a:xfrm>
              <a:off x="3579677" y="6443544"/>
              <a:ext cx="5421603" cy="104049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TaskTideService</a:t>
              </a:r>
            </a:p>
          </p:txBody>
        </p:sp>
        <p:sp>
          <p:nvSpPr>
            <p:cNvPr id="11" name="Flowchart: Alternate Process 10">
              <a:extLst>
                <a:ext uri="{FF2B5EF4-FFF2-40B4-BE49-F238E27FC236}">
                  <a16:creationId xmlns:a16="http://schemas.microsoft.com/office/drawing/2014/main" id="{BB1892BD-1701-A0BD-82BF-2DE970D0462F}"/>
                </a:ext>
              </a:extLst>
            </p:cNvPr>
            <p:cNvSpPr/>
            <p:nvPr/>
          </p:nvSpPr>
          <p:spPr>
            <a:xfrm>
              <a:off x="3760249" y="8174651"/>
              <a:ext cx="5147734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TaskTideRepository</a:t>
              </a:r>
            </a:p>
          </p:txBody>
        </p:sp>
        <p:sp>
          <p:nvSpPr>
            <p:cNvPr id="12" name="Flowchart: Alternate Process 11">
              <a:extLst>
                <a:ext uri="{FF2B5EF4-FFF2-40B4-BE49-F238E27FC236}">
                  <a16:creationId xmlns:a16="http://schemas.microsoft.com/office/drawing/2014/main" id="{96FC22DE-6644-4604-5F43-438B9F4B6E59}"/>
                </a:ext>
              </a:extLst>
            </p:cNvPr>
            <p:cNvSpPr/>
            <p:nvPr/>
          </p:nvSpPr>
          <p:spPr>
            <a:xfrm>
              <a:off x="286030" y="11070896"/>
              <a:ext cx="496445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TemplateRepository</a:t>
              </a:r>
              <a:endParaRPr lang="en-IE" sz="3200" b="1" dirty="0"/>
            </a:p>
          </p:txBody>
        </p:sp>
        <p:sp>
          <p:nvSpPr>
            <p:cNvPr id="13" name="Flowchart: Alternate Process 12">
              <a:extLst>
                <a:ext uri="{FF2B5EF4-FFF2-40B4-BE49-F238E27FC236}">
                  <a16:creationId xmlns:a16="http://schemas.microsoft.com/office/drawing/2014/main" id="{D8992BE9-744B-1CD2-6A96-DB2DD3646F8C}"/>
                </a:ext>
              </a:extLst>
            </p:cNvPr>
            <p:cNvSpPr/>
            <p:nvPr/>
          </p:nvSpPr>
          <p:spPr>
            <a:xfrm>
              <a:off x="9595925" y="11031958"/>
              <a:ext cx="5147731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ItemStoreRepository</a:t>
              </a:r>
            </a:p>
          </p:txBody>
        </p:sp>
        <p:sp>
          <p:nvSpPr>
            <p:cNvPr id="14" name="Flowchart: Alternate Process 13">
              <a:extLst>
                <a:ext uri="{FF2B5EF4-FFF2-40B4-BE49-F238E27FC236}">
                  <a16:creationId xmlns:a16="http://schemas.microsoft.com/office/drawing/2014/main" id="{8CC51A4A-40B6-E63F-1196-E1FC3D71AF33}"/>
                </a:ext>
              </a:extLst>
            </p:cNvPr>
            <p:cNvSpPr/>
            <p:nvPr/>
          </p:nvSpPr>
          <p:spPr>
            <a:xfrm>
              <a:off x="5446221" y="10407884"/>
              <a:ext cx="4010563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JpaRepository</a:t>
              </a:r>
            </a:p>
          </p:txBody>
        </p:sp>
        <p:pic>
          <p:nvPicPr>
            <p:cNvPr id="16" name="Picture 15" descr="A logo of a white tooth with a red ball and bow and arrow&#10;&#10;AI-generated content may be incorrect.">
              <a:extLst>
                <a:ext uri="{FF2B5EF4-FFF2-40B4-BE49-F238E27FC236}">
                  <a16:creationId xmlns:a16="http://schemas.microsoft.com/office/drawing/2014/main" id="{E1FE6B74-6CAE-A5DB-C447-6DF730DC7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5575" y="12691507"/>
              <a:ext cx="2990162" cy="1880368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4A8C982-B01F-7D8D-B23D-07252774B370}"/>
                </a:ext>
              </a:extLst>
            </p:cNvPr>
            <p:cNvGrpSpPr/>
            <p:nvPr/>
          </p:nvGrpSpPr>
          <p:grpSpPr>
            <a:xfrm>
              <a:off x="10419762" y="12535944"/>
              <a:ext cx="4323877" cy="2162882"/>
              <a:chOff x="7840081" y="11304872"/>
              <a:chExt cx="3773478" cy="1545522"/>
            </a:xfrm>
          </p:grpSpPr>
          <p:pic>
            <p:nvPicPr>
              <p:cNvPr id="18" name="Picture 17" descr="A logo with a feather&#10;&#10;AI-generated content may be incorrect.">
                <a:extLst>
                  <a:ext uri="{FF2B5EF4-FFF2-40B4-BE49-F238E27FC236}">
                    <a16:creationId xmlns:a16="http://schemas.microsoft.com/office/drawing/2014/main" id="{D166C88F-651A-24E5-32CC-193FBA75BD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840081" y="11304872"/>
                <a:ext cx="1552575" cy="733425"/>
              </a:xfrm>
              <a:prstGeom prst="rect">
                <a:avLst/>
              </a:prstGeom>
            </p:spPr>
          </p:pic>
          <p:pic>
            <p:nvPicPr>
              <p:cNvPr id="22" name="Picture 21" descr="A yellow leopard jumping in a folder&#10;&#10;AI-generated content may be incorrect.">
                <a:extLst>
                  <a:ext uri="{FF2B5EF4-FFF2-40B4-BE49-F238E27FC236}">
                    <a16:creationId xmlns:a16="http://schemas.microsoft.com/office/drawing/2014/main" id="{51A207A8-6E9F-F4A9-834A-7B02AE0759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79476" y="11933352"/>
                <a:ext cx="1834083" cy="917042"/>
              </a:xfrm>
              <a:prstGeom prst="rect">
                <a:avLst/>
              </a:prstGeom>
            </p:spPr>
          </p:pic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9F910E2-88BD-CE09-B520-B2E23EE50AB1}"/>
                  </a:ext>
                </a:extLst>
              </p:cNvPr>
              <p:cNvCxnSpPr/>
              <p:nvPr/>
            </p:nvCxnSpPr>
            <p:spPr>
              <a:xfrm flipH="1">
                <a:off x="8817871" y="11325318"/>
                <a:ext cx="1765738" cy="1525076"/>
              </a:xfrm>
              <a:prstGeom prst="line">
                <a:avLst/>
              </a:prstGeom>
              <a:ln w="381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3D0CB47-95C9-9287-B513-23AE7CF501B2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3805565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503602-132C-5126-AC48-8B5C00F51FA5}"/>
                </a:ext>
              </a:extLst>
            </p:cNvPr>
            <p:cNvCxnSpPr>
              <a:cxnSpLocks/>
            </p:cNvCxnSpPr>
            <p:nvPr/>
          </p:nvCxnSpPr>
          <p:spPr>
            <a:xfrm>
              <a:off x="7371381" y="9031982"/>
              <a:ext cx="0" cy="1310589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7D1C97E-F6A7-6691-F346-63827B0E733B}"/>
                </a:ext>
              </a:extLst>
            </p:cNvPr>
            <p:cNvCxnSpPr>
              <a:cxnSpLocks/>
            </p:cNvCxnSpPr>
            <p:nvPr/>
          </p:nvCxnSpPr>
          <p:spPr>
            <a:xfrm>
              <a:off x="2891186" y="11923170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027E634-66C4-03B1-4E47-DE591C9A779D}"/>
                </a:ext>
              </a:extLst>
            </p:cNvPr>
            <p:cNvCxnSpPr>
              <a:cxnSpLocks/>
            </p:cNvCxnSpPr>
            <p:nvPr/>
          </p:nvCxnSpPr>
          <p:spPr>
            <a:xfrm>
              <a:off x="12097033" y="11917562"/>
              <a:ext cx="0" cy="550214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48" name="Flowchart: Alternate Process 47">
              <a:extLst>
                <a:ext uri="{FF2B5EF4-FFF2-40B4-BE49-F238E27FC236}">
                  <a16:creationId xmlns:a16="http://schemas.microsoft.com/office/drawing/2014/main" id="{48609721-8B1B-69B1-984D-5BB20FDBBDEE}"/>
                </a:ext>
              </a:extLst>
            </p:cNvPr>
            <p:cNvSpPr/>
            <p:nvPr/>
          </p:nvSpPr>
          <p:spPr>
            <a:xfrm>
              <a:off x="11503719" y="4865338"/>
              <a:ext cx="3904789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TaskTideEngine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291F7EB-C9AA-46EE-6925-A606E5C11666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212164" y="8400611"/>
              <a:ext cx="0" cy="51803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0" name="Flowchart: Alternate Process 49">
              <a:extLst>
                <a:ext uri="{FF2B5EF4-FFF2-40B4-BE49-F238E27FC236}">
                  <a16:creationId xmlns:a16="http://schemas.microsoft.com/office/drawing/2014/main" id="{8B86FAB3-9839-C40F-481E-72C28CB9B5B7}"/>
                </a:ext>
              </a:extLst>
            </p:cNvPr>
            <p:cNvSpPr/>
            <p:nvPr/>
          </p:nvSpPr>
          <p:spPr>
            <a:xfrm>
              <a:off x="9508504" y="8200927"/>
              <a:ext cx="3904789" cy="860826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4000" b="1" dirty="0"/>
                <a:t>TaskTideModel</a:t>
              </a:r>
            </a:p>
          </p:txBody>
        </p:sp>
        <p:sp>
          <p:nvSpPr>
            <p:cNvPr id="51" name="Flowchart: Alternate Process 50">
              <a:extLst>
                <a:ext uri="{FF2B5EF4-FFF2-40B4-BE49-F238E27FC236}">
                  <a16:creationId xmlns:a16="http://schemas.microsoft.com/office/drawing/2014/main" id="{93C3476F-BECE-5A31-EBB9-99B1E6D1940C}"/>
                </a:ext>
              </a:extLst>
            </p:cNvPr>
            <p:cNvSpPr/>
            <p:nvPr/>
          </p:nvSpPr>
          <p:spPr>
            <a:xfrm>
              <a:off x="14534290" y="715981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Workflow</a:t>
              </a:r>
            </a:p>
          </p:txBody>
        </p:sp>
        <p:sp>
          <p:nvSpPr>
            <p:cNvPr id="52" name="Flowchart: Alternate Process 51">
              <a:extLst>
                <a:ext uri="{FF2B5EF4-FFF2-40B4-BE49-F238E27FC236}">
                  <a16:creationId xmlns:a16="http://schemas.microsoft.com/office/drawing/2014/main" id="{6D5BD79C-6023-5DD8-A46C-0D202E17ADC3}"/>
                </a:ext>
              </a:extLst>
            </p:cNvPr>
            <p:cNvSpPr/>
            <p:nvPr/>
          </p:nvSpPr>
          <p:spPr>
            <a:xfrm>
              <a:off x="14532171" y="8250628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Step</a:t>
              </a:r>
            </a:p>
          </p:txBody>
        </p:sp>
        <p:sp>
          <p:nvSpPr>
            <p:cNvPr id="53" name="Flowchart: Alternate Process 52">
              <a:extLst>
                <a:ext uri="{FF2B5EF4-FFF2-40B4-BE49-F238E27FC236}">
                  <a16:creationId xmlns:a16="http://schemas.microsoft.com/office/drawing/2014/main" id="{B0AF4BAB-8A23-C95C-6BC3-FB64F87E4C32}"/>
                </a:ext>
              </a:extLst>
            </p:cNvPr>
            <p:cNvSpPr/>
            <p:nvPr/>
          </p:nvSpPr>
          <p:spPr>
            <a:xfrm>
              <a:off x="14519301" y="9320245"/>
              <a:ext cx="3121717" cy="846667"/>
            </a:xfrm>
            <a:prstGeom prst="flowChartAlternateProcess">
              <a:avLst/>
            </a:prstGeom>
            <a:gradFill flip="none" rotWithShape="1">
              <a:gsLst>
                <a:gs pos="0">
                  <a:schemeClr val="accent1">
                    <a:shade val="30000"/>
                    <a:satMod val="115000"/>
                  </a:schemeClr>
                </a:gs>
                <a:gs pos="50000">
                  <a:schemeClr val="accent1">
                    <a:shade val="67500"/>
                    <a:satMod val="115000"/>
                  </a:schemeClr>
                </a:gs>
                <a:gs pos="100000">
                  <a:schemeClr val="accent1">
                    <a:shade val="100000"/>
                    <a:satMod val="115000"/>
                  </a:schemeClr>
                </a:gs>
              </a:gsLst>
              <a:lin ang="5400000" scaled="1"/>
              <a:tileRect/>
            </a:gra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E" sz="3200" b="1" dirty="0"/>
                <a:t>WorkItem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4076E49-55B1-A2B0-BEFA-D6A05A2329E8}"/>
                </a:ext>
              </a:extLst>
            </p:cNvPr>
            <p:cNvCxnSpPr>
              <a:cxnSpLocks/>
            </p:cNvCxnSpPr>
            <p:nvPr/>
          </p:nvCxnSpPr>
          <p:spPr>
            <a:xfrm>
              <a:off x="8359074" y="3822657"/>
              <a:ext cx="0" cy="90951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B5D0FB4-8766-54ED-E1E9-22B3DD32B981}"/>
                </a:ext>
              </a:extLst>
            </p:cNvPr>
            <p:cNvCxnSpPr>
              <a:cxnSpLocks/>
            </p:cNvCxnSpPr>
            <p:nvPr/>
          </p:nvCxnSpPr>
          <p:spPr>
            <a:xfrm>
              <a:off x="4277935" y="5762646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EBCAA57-D7A6-1D1B-285B-726ADA57EB72}"/>
                </a:ext>
              </a:extLst>
            </p:cNvPr>
            <p:cNvCxnSpPr>
              <a:cxnSpLocks/>
            </p:cNvCxnSpPr>
            <p:nvPr/>
          </p:nvCxnSpPr>
          <p:spPr>
            <a:xfrm>
              <a:off x="8405177" y="580308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0F58DA43-F38B-0B4A-C3B4-BB4B0A4E9EE2}"/>
                </a:ext>
              </a:extLst>
            </p:cNvPr>
            <p:cNvCxnSpPr>
              <a:cxnSpLocks/>
            </p:cNvCxnSpPr>
            <p:nvPr/>
          </p:nvCxnSpPr>
          <p:spPr>
            <a:xfrm>
              <a:off x="6240474" y="7520030"/>
              <a:ext cx="0" cy="662236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F4A330A-7534-79EC-F357-B91BEED4D649}"/>
                </a:ext>
              </a:extLst>
            </p:cNvPr>
            <p:cNvCxnSpPr>
              <a:cxnSpLocks/>
            </p:cNvCxnSpPr>
            <p:nvPr/>
          </p:nvCxnSpPr>
          <p:spPr>
            <a:xfrm>
              <a:off x="10758389" y="5306500"/>
              <a:ext cx="636475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85DEC262-1AE3-204D-EB04-7473F4578BE5}"/>
                </a:ext>
              </a:extLst>
            </p:cNvPr>
            <p:cNvCxnSpPr>
              <a:cxnSpLocks/>
            </p:cNvCxnSpPr>
            <p:nvPr/>
          </p:nvCxnSpPr>
          <p:spPr>
            <a:xfrm>
              <a:off x="13492023" y="8678283"/>
              <a:ext cx="933104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2FD0A3-1DCF-0EEE-3198-2E002B0C1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12176" y="7719531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BBF4229-DE4C-521E-83D4-B150C1247918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3452610" y="8711685"/>
              <a:ext cx="1012951" cy="984185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C0456FA-F655-8574-5ED7-E378122881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7936" y="9031982"/>
              <a:ext cx="194" cy="1973601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CD1BE198-26FE-5274-F102-FE3EBDC0655C}"/>
                </a:ext>
              </a:extLst>
            </p:cNvPr>
            <p:cNvCxnSpPr>
              <a:cxnSpLocks/>
            </p:cNvCxnSpPr>
            <p:nvPr/>
          </p:nvCxnSpPr>
          <p:spPr>
            <a:xfrm>
              <a:off x="8886407" y="8999546"/>
              <a:ext cx="3261614" cy="201064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DD7FEEE1-2571-A927-F403-D3F4FACDFA4F}"/>
                </a:ext>
              </a:extLst>
            </p:cNvPr>
            <p:cNvCxnSpPr>
              <a:cxnSpLocks/>
            </p:cNvCxnSpPr>
            <p:nvPr/>
          </p:nvCxnSpPr>
          <p:spPr>
            <a:xfrm>
              <a:off x="7390042" y="11268425"/>
              <a:ext cx="0" cy="1093607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6" name="Picture 5" descr="A close-up of a logo&#10;&#10;AI-generated content may be incorrect.">
              <a:extLst>
                <a:ext uri="{FF2B5EF4-FFF2-40B4-BE49-F238E27FC236}">
                  <a16:creationId xmlns:a16="http://schemas.microsoft.com/office/drawing/2014/main" id="{06C3043E-52E1-11EF-906B-59D487C07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37175" y="12547234"/>
              <a:ext cx="2876550" cy="15906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1275</TotalTime>
  <Words>250</Words>
  <Application>Microsoft Office PowerPoint</Application>
  <PresentationFormat>Custom</PresentationFormat>
  <Paragraphs>95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TaskTide Workflow Engine</vt:lpstr>
      <vt:lpstr>High-Level Layered Architecture</vt:lpstr>
      <vt:lpstr>PowerPoint Presentation</vt:lpstr>
      <vt:lpstr>High Level Development Approach</vt:lpstr>
      <vt:lpstr>Mapping of TaskTide Components to Pilot Job Model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132</cp:revision>
  <dcterms:created xsi:type="dcterms:W3CDTF">2025-07-22T15:08:42Z</dcterms:created>
  <dcterms:modified xsi:type="dcterms:W3CDTF">2025-11-14T15:02:09Z</dcterms:modified>
</cp:coreProperties>
</file>