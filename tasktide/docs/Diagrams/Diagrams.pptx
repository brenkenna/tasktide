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13"/>
  </p:notesMasterIdLst>
  <p:sldIdLst>
    <p:sldId id="264" r:id="rId2"/>
    <p:sldId id="262" r:id="rId3"/>
    <p:sldId id="259" r:id="rId4"/>
    <p:sldId id="266" r:id="rId5"/>
    <p:sldId id="256" r:id="rId6"/>
    <p:sldId id="261" r:id="rId7"/>
    <p:sldId id="265" r:id="rId8"/>
    <p:sldId id="263" r:id="rId9"/>
    <p:sldId id="267" r:id="rId10"/>
    <p:sldId id="260" r:id="rId11"/>
    <p:sldId id="258" r:id="rId12"/>
  </p:sldIdLst>
  <p:sldSz cx="30240288" cy="23399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D2D8"/>
    <a:srgbClr val="E6EAED"/>
    <a:srgbClr val="CCD2D8"/>
    <a:srgbClr val="400020"/>
    <a:srgbClr val="800020"/>
    <a:srgbClr val="984A5B"/>
    <a:srgbClr val="4E262F"/>
    <a:srgbClr val="B56576"/>
    <a:srgbClr val="A55163"/>
    <a:srgbClr val="522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322" autoAdjust="0"/>
    <p:restoredTop sz="95706" autoAdjust="0"/>
  </p:normalViewPr>
  <p:slideViewPr>
    <p:cSldViewPr snapToGrid="0">
      <p:cViewPr varScale="1">
        <p:scale>
          <a:sx n="28" d="100"/>
          <a:sy n="28" d="100"/>
        </p:scale>
        <p:origin x="163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3200" b="1" dirty="0"/>
            <a:t>ToDo</a:t>
          </a:r>
          <a:endParaRPr lang="en-IE" sz="36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3200" b="1" dirty="0"/>
            <a:t>Locked</a:t>
          </a:r>
          <a:endParaRPr lang="en-IE" sz="36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32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Bioinformatic workflows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iii). Containerized Deployment</a:t>
          </a:r>
          <a:endParaRPr lang="en-IE" sz="40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3312283" y="0"/>
          <a:ext cx="4444852" cy="44455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4294742" y="1604970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ToDo</a:t>
          </a:r>
          <a:endParaRPr lang="en-IE" sz="3600" b="1" kern="1200" dirty="0"/>
        </a:p>
      </dsp:txBody>
      <dsp:txXfrm>
        <a:off x="4294742" y="1604970"/>
        <a:ext cx="2469919" cy="1234664"/>
      </dsp:txXfrm>
    </dsp:sp>
    <dsp:sp modelId="{668DC389-6720-4236-8011-BFAB07D2AE6E}">
      <dsp:nvSpPr>
        <dsp:cNvPr id="0" name=""/>
        <dsp:cNvSpPr/>
      </dsp:nvSpPr>
      <dsp:spPr>
        <a:xfrm>
          <a:off x="2077741" y="2554286"/>
          <a:ext cx="4444852" cy="4445529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065208" y="4174032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Locked</a:t>
          </a:r>
          <a:endParaRPr lang="en-IE" sz="3600" b="1" kern="1200" dirty="0"/>
        </a:p>
      </dsp:txBody>
      <dsp:txXfrm>
        <a:off x="3065208" y="4174032"/>
        <a:ext cx="2469919" cy="1234664"/>
      </dsp:txXfrm>
    </dsp:sp>
    <dsp:sp modelId="{19D1F821-3860-4F77-A074-BB6401E6326E}">
      <dsp:nvSpPr>
        <dsp:cNvPr id="0" name=""/>
        <dsp:cNvSpPr/>
      </dsp:nvSpPr>
      <dsp:spPr>
        <a:xfrm>
          <a:off x="3628640" y="5414237"/>
          <a:ext cx="3818817" cy="3820347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4300585" y="6746787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Done/Error</a:t>
          </a:r>
        </a:p>
      </dsp:txBody>
      <dsp:txXfrm>
        <a:off x="4300585" y="6746787"/>
        <a:ext cx="2469919" cy="12346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9470716"/>
          <a:ext cx="16775589" cy="310777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iii). Containerized Deployment</a:t>
          </a:r>
          <a:endParaRPr lang="en-IE" sz="4000" b="1" kern="1200" dirty="0"/>
        </a:p>
      </dsp:txBody>
      <dsp:txXfrm>
        <a:off x="0" y="9470716"/>
        <a:ext cx="16775589" cy="1678196"/>
      </dsp:txXfrm>
    </dsp:sp>
    <dsp:sp modelId="{2147C4C3-E4ED-44EA-8A74-5AB07B9224C6}">
      <dsp:nvSpPr>
        <dsp:cNvPr id="0" name=""/>
        <dsp:cNvSpPr/>
      </dsp:nvSpPr>
      <dsp:spPr>
        <a:xfrm>
          <a:off x="0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AI play time optimizer</a:t>
          </a:r>
        </a:p>
      </dsp:txBody>
      <dsp:txXfrm>
        <a:off x="0" y="11148907"/>
        <a:ext cx="5586402" cy="1429574"/>
      </dsp:txXfrm>
    </dsp:sp>
    <dsp:sp modelId="{EF0D8E2E-611F-48CE-B1FC-FF5FEBAA646D}">
      <dsp:nvSpPr>
        <dsp:cNvPr id="0" name=""/>
        <dsp:cNvSpPr/>
      </dsp:nvSpPr>
      <dsp:spPr>
        <a:xfrm>
          <a:off x="5574258" y="11148912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 containerized workloads</a:t>
          </a:r>
        </a:p>
      </dsp:txBody>
      <dsp:txXfrm>
        <a:off x="5574258" y="11148912"/>
        <a:ext cx="5586402" cy="1429574"/>
      </dsp:txXfrm>
    </dsp:sp>
    <dsp:sp modelId="{A26E17A3-6ADC-4207-BAA9-6F37A7025026}">
      <dsp:nvSpPr>
        <dsp:cNvPr id="0" name=""/>
        <dsp:cNvSpPr/>
      </dsp:nvSpPr>
      <dsp:spPr>
        <a:xfrm>
          <a:off x="11180995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Node label constraints</a:t>
          </a:r>
        </a:p>
      </dsp:txBody>
      <dsp:txXfrm>
        <a:off x="11180995" y="11148907"/>
        <a:ext cx="5586402" cy="1429574"/>
      </dsp:txXfrm>
    </dsp:sp>
    <dsp:sp modelId="{B5901160-2EED-4BC1-9CD9-CBC7C725C48E}">
      <dsp:nvSpPr>
        <dsp:cNvPr id="0" name=""/>
        <dsp:cNvSpPr/>
      </dsp:nvSpPr>
      <dsp:spPr>
        <a:xfrm rot="10800000">
          <a:off x="0" y="4735358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ii). Task Binding Semantics</a:t>
          </a:r>
        </a:p>
      </dsp:txBody>
      <dsp:txXfrm rot="-10800000">
        <a:off x="0" y="4735358"/>
        <a:ext cx="16775589" cy="1677692"/>
      </dsp:txXfrm>
    </dsp:sp>
    <dsp:sp modelId="{9CE9A027-D096-4DBA-9F41-ACB337DEDCA0}">
      <dsp:nvSpPr>
        <dsp:cNvPr id="0" name=""/>
        <dsp:cNvSpPr/>
      </dsp:nvSpPr>
      <dsp:spPr>
        <a:xfrm>
          <a:off x="11822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Serialized function runner</a:t>
          </a:r>
        </a:p>
      </dsp:txBody>
      <dsp:txXfrm>
        <a:off x="11822" y="6440404"/>
        <a:ext cx="5586402" cy="1429145"/>
      </dsp:txXfrm>
    </dsp:sp>
    <dsp:sp modelId="{87C3872B-7E02-4085-B647-9CD9B06A0313}">
      <dsp:nvSpPr>
        <dsp:cNvPr id="0" name=""/>
        <dsp:cNvSpPr/>
      </dsp:nvSpPr>
      <dsp:spPr>
        <a:xfrm>
          <a:off x="5594593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explicit binding semantics (early vs late)</a:t>
          </a:r>
        </a:p>
      </dsp:txBody>
      <dsp:txXfrm>
        <a:off x="5594593" y="6440404"/>
        <a:ext cx="5586402" cy="1429145"/>
      </dsp:txXfrm>
    </dsp:sp>
    <dsp:sp modelId="{6A9F14BE-80C0-4B02-B21C-6C233AACAF51}">
      <dsp:nvSpPr>
        <dsp:cNvPr id="0" name=""/>
        <dsp:cNvSpPr/>
      </dsp:nvSpPr>
      <dsp:spPr>
        <a:xfrm>
          <a:off x="11189186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Job environment               attached to tasks</a:t>
          </a:r>
        </a:p>
      </dsp:txBody>
      <dsp:txXfrm>
        <a:off x="11189186" y="6440404"/>
        <a:ext cx="5586402" cy="1429145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i). Workflow Orchestration</a:t>
          </a:r>
        </a:p>
      </dsp:txBody>
      <dsp:txXfrm rot="-10800000">
        <a:off x="0" y="0"/>
        <a:ext cx="16775589" cy="1677692"/>
      </dsp:txXfrm>
    </dsp:sp>
    <dsp:sp modelId="{07763EBB-4274-4F86-A670-BA07EE7CCAD5}">
      <dsp:nvSpPr>
        <dsp:cNvPr id="0" name=""/>
        <dsp:cNvSpPr/>
      </dsp:nvSpPr>
      <dsp:spPr>
        <a:xfrm>
          <a:off x="3610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Bioinformatic workflows</a:t>
          </a:r>
        </a:p>
      </dsp:txBody>
      <dsp:txXfrm>
        <a:off x="3610" y="1701681"/>
        <a:ext cx="5586402" cy="1429145"/>
      </dsp:txXfrm>
    </dsp:sp>
    <dsp:sp modelId="{A5384461-3C55-409F-A76C-DC6C5CADCFE8}">
      <dsp:nvSpPr>
        <dsp:cNvPr id="0" name=""/>
        <dsp:cNvSpPr/>
      </dsp:nvSpPr>
      <dsp:spPr>
        <a:xfrm>
          <a:off x="5594593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workflow orchestration across pilots</a:t>
          </a:r>
        </a:p>
      </dsp:txBody>
      <dsp:txXfrm>
        <a:off x="5594593" y="1701681"/>
        <a:ext cx="5586402" cy="1429145"/>
      </dsp:txXfrm>
    </dsp:sp>
    <dsp:sp modelId="{1CEB22B1-9A7E-4A91-AF0C-26B893E69FA6}">
      <dsp:nvSpPr>
        <dsp:cNvPr id="0" name=""/>
        <dsp:cNvSpPr/>
      </dsp:nvSpPr>
      <dsp:spPr>
        <a:xfrm>
          <a:off x="11189186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Operational across relational        &amp; non-relational databases</a:t>
          </a:r>
        </a:p>
      </dsp:txBody>
      <dsp:txXfrm>
        <a:off x="11189186" y="1701681"/>
        <a:ext cx="5586402" cy="14291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8BCE7-0017-4B0C-A2FB-E6F7885367AC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5100" y="1143000"/>
            <a:ext cx="3987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F6FBF-C1CE-4F54-B4F6-DD96A3A7064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9364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35100" y="1143000"/>
            <a:ext cx="3987800" cy="3086100"/>
          </a:xfrm>
        </p:spPr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#e6eaed</a:t>
            </a:r>
          </a:p>
          <a:p>
            <a:r>
              <a:rPr lang="en-IE" dirty="0"/>
              <a:t>#cdd2d8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4F6FBF-C1CE-4F54-B4F6-DD96A3A70649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401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8022" y="3829544"/>
            <a:ext cx="25704245" cy="8146580"/>
          </a:xfrm>
        </p:spPr>
        <p:txBody>
          <a:bodyPr anchor="b"/>
          <a:lstStyle>
            <a:lvl1pPr algn="ctr"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12290287"/>
            <a:ext cx="22680216" cy="5649521"/>
          </a:xfrm>
        </p:spPr>
        <p:txBody>
          <a:bodyPr/>
          <a:lstStyle>
            <a:lvl1pPr marL="0" indent="0" algn="ctr">
              <a:buNone/>
              <a:defRPr sz="7937"/>
            </a:lvl1pPr>
            <a:lvl2pPr marL="1512006" indent="0" algn="ctr">
              <a:buNone/>
              <a:defRPr sz="6614"/>
            </a:lvl2pPr>
            <a:lvl3pPr marL="3024012" indent="0" algn="ctr">
              <a:buNone/>
              <a:defRPr sz="5953"/>
            </a:lvl3pPr>
            <a:lvl4pPr marL="4536018" indent="0" algn="ctr">
              <a:buNone/>
              <a:defRPr sz="5291"/>
            </a:lvl4pPr>
            <a:lvl5pPr marL="6048024" indent="0" algn="ctr">
              <a:buNone/>
              <a:defRPr sz="5291"/>
            </a:lvl5pPr>
            <a:lvl6pPr marL="7560031" indent="0" algn="ctr">
              <a:buNone/>
              <a:defRPr sz="5291"/>
            </a:lvl6pPr>
            <a:lvl7pPr marL="9072037" indent="0" algn="ctr">
              <a:buNone/>
              <a:defRPr sz="5291"/>
            </a:lvl7pPr>
            <a:lvl8pPr marL="10584043" indent="0" algn="ctr">
              <a:buNone/>
              <a:defRPr sz="5291"/>
            </a:lvl8pPr>
            <a:lvl9pPr marL="12096049" indent="0" algn="ctr">
              <a:buNone/>
              <a:defRPr sz="529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31198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25453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2" y="5833695"/>
            <a:ext cx="26082248" cy="9733644"/>
          </a:xfrm>
        </p:spPr>
        <p:txBody>
          <a:bodyPr anchor="b"/>
          <a:lstStyle>
            <a:lvl1pPr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2" y="15659423"/>
            <a:ext cx="26082248" cy="5118694"/>
          </a:xfrm>
        </p:spPr>
        <p:txBody>
          <a:bodyPr/>
          <a:lstStyle>
            <a:lvl1pPr marL="0" indent="0">
              <a:buNone/>
              <a:defRPr sz="7937">
                <a:solidFill>
                  <a:schemeClr val="tx1">
                    <a:tint val="82000"/>
                  </a:schemeClr>
                </a:solidFill>
              </a:defRPr>
            </a:lvl1pPr>
            <a:lvl2pPr marL="1512006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2pPr>
            <a:lvl3pPr marL="3024012" indent="0">
              <a:buNone/>
              <a:defRPr sz="5953">
                <a:solidFill>
                  <a:schemeClr val="tx1">
                    <a:tint val="82000"/>
                  </a:schemeClr>
                </a:solidFill>
              </a:defRPr>
            </a:lvl3pPr>
            <a:lvl4pPr marL="4536018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4pPr>
            <a:lvl5pPr marL="6048024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5pPr>
            <a:lvl6pPr marL="7560031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6pPr>
            <a:lvl7pPr marL="9072037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7pPr>
            <a:lvl8pPr marL="10584043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8pPr>
            <a:lvl9pPr marL="12096049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63403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55347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245825"/>
            <a:ext cx="26082248" cy="45228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2" y="5736191"/>
            <a:ext cx="12793057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2" y="8547409"/>
            <a:ext cx="12793057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8" y="5736191"/>
            <a:ext cx="12856061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8" y="8547409"/>
            <a:ext cx="12856061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89652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4400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2556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3369136"/>
            <a:ext cx="15309146" cy="16628989"/>
          </a:xfrm>
        </p:spPr>
        <p:txBody>
          <a:bodyPr/>
          <a:lstStyle>
            <a:lvl1pPr>
              <a:defRPr sz="10583"/>
            </a:lvl1pPr>
            <a:lvl2pPr>
              <a:defRPr sz="9260"/>
            </a:lvl2pPr>
            <a:lvl3pPr>
              <a:defRPr sz="7937"/>
            </a:lvl3pPr>
            <a:lvl4pPr>
              <a:defRPr sz="6614"/>
            </a:lvl4pPr>
            <a:lvl5pPr>
              <a:defRPr sz="6614"/>
            </a:lvl5pPr>
            <a:lvl6pPr>
              <a:defRPr sz="6614"/>
            </a:lvl6pPr>
            <a:lvl7pPr>
              <a:defRPr sz="6614"/>
            </a:lvl7pPr>
            <a:lvl8pPr>
              <a:defRPr sz="6614"/>
            </a:lvl8pPr>
            <a:lvl9pPr>
              <a:defRPr sz="66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24624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3369136"/>
            <a:ext cx="15309146" cy="16628989"/>
          </a:xfrm>
        </p:spPr>
        <p:txBody>
          <a:bodyPr anchor="t"/>
          <a:lstStyle>
            <a:lvl1pPr marL="0" indent="0">
              <a:buNone/>
              <a:defRPr sz="10583"/>
            </a:lvl1pPr>
            <a:lvl2pPr marL="1512006" indent="0">
              <a:buNone/>
              <a:defRPr sz="9260"/>
            </a:lvl2pPr>
            <a:lvl3pPr marL="3024012" indent="0">
              <a:buNone/>
              <a:defRPr sz="7937"/>
            </a:lvl3pPr>
            <a:lvl4pPr marL="4536018" indent="0">
              <a:buNone/>
              <a:defRPr sz="6614"/>
            </a:lvl4pPr>
            <a:lvl5pPr marL="6048024" indent="0">
              <a:buNone/>
              <a:defRPr sz="6614"/>
            </a:lvl5pPr>
            <a:lvl6pPr marL="7560031" indent="0">
              <a:buNone/>
              <a:defRPr sz="6614"/>
            </a:lvl6pPr>
            <a:lvl7pPr marL="9072037" indent="0">
              <a:buNone/>
              <a:defRPr sz="6614"/>
            </a:lvl7pPr>
            <a:lvl8pPr marL="10584043" indent="0">
              <a:buNone/>
              <a:defRPr sz="6614"/>
            </a:lvl8pPr>
            <a:lvl9pPr marL="12096049" indent="0">
              <a:buNone/>
              <a:defRPr sz="661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11520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3804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8" y="1245820"/>
            <a:ext cx="6520562" cy="198302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1" y="1245820"/>
            <a:ext cx="19183683" cy="198302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667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1245825"/>
            <a:ext cx="26082248" cy="4522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6229100"/>
            <a:ext cx="26082248" cy="14846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21688107"/>
            <a:ext cx="10206097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2102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3024012" rtl="0" eaLnBrk="1" latinLnBrk="0" hangingPunct="1">
        <a:lnSpc>
          <a:spcPct val="90000"/>
        </a:lnSpc>
        <a:spcBef>
          <a:spcPct val="0"/>
        </a:spcBef>
        <a:buNone/>
        <a:defRPr sz="145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003" indent="-756003" algn="l" defTabSz="3024012" rtl="0" eaLnBrk="1" latinLnBrk="0" hangingPunct="1">
        <a:lnSpc>
          <a:spcPct val="90000"/>
        </a:lnSpc>
        <a:spcBef>
          <a:spcPts val="3307"/>
        </a:spcBef>
        <a:buFont typeface="Arial" panose="020B0604020202020204" pitchFamily="34" charset="0"/>
        <a:buChar char="•"/>
        <a:defRPr sz="9260" kern="1200">
          <a:solidFill>
            <a:schemeClr val="tx1"/>
          </a:solidFill>
          <a:latin typeface="+mn-lt"/>
          <a:ea typeface="+mn-ea"/>
          <a:cs typeface="+mn-cs"/>
        </a:defRPr>
      </a:lvl1pPr>
      <a:lvl2pPr marL="2268009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7937" kern="1200">
          <a:solidFill>
            <a:schemeClr val="tx1"/>
          </a:solidFill>
          <a:latin typeface="+mn-lt"/>
          <a:ea typeface="+mn-ea"/>
          <a:cs typeface="+mn-cs"/>
        </a:defRPr>
      </a:lvl2pPr>
      <a:lvl3pPr marL="3780015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292021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804028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8316034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828040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1340046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852052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1pPr>
      <a:lvl2pPr marL="1512006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2pPr>
      <a:lvl3pPr marL="3024012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3pPr>
      <a:lvl4pPr marL="4536018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048024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7560031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072037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0584043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096049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sv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2132" y="4912971"/>
            <a:ext cx="19380200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High-Level Layered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8AD5DC9-A2B0-E248-2339-42B3ED605801}"/>
              </a:ext>
            </a:extLst>
          </p:cNvPr>
          <p:cNvSpPr/>
          <p:nvPr/>
        </p:nvSpPr>
        <p:spPr>
          <a:xfrm>
            <a:off x="8233094" y="11192917"/>
            <a:ext cx="13370560" cy="2316480"/>
          </a:xfrm>
          <a:prstGeom prst="roundRect">
            <a:avLst/>
          </a:prstGeom>
          <a:solidFill>
            <a:srgbClr val="800020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Orchestration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TaskTide DB Coordinated Clients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Monitoring, Workflow Deployment, Binding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0D624A0-53B8-21B1-C12C-899AF45DC6E2}"/>
              </a:ext>
            </a:extLst>
          </p:cNvPr>
          <p:cNvSpPr/>
          <p:nvPr/>
        </p:nvSpPr>
        <p:spPr>
          <a:xfrm>
            <a:off x="8222933" y="15002917"/>
            <a:ext cx="13370560" cy="2316480"/>
          </a:xfrm>
          <a:prstGeom prst="roundRect">
            <a:avLst/>
          </a:prstGeom>
          <a:solidFill>
            <a:srgbClr val="3B3B98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Infrastructure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Schedulers &amp; Provisioners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(SLURM, Hadoop, </a:t>
            </a:r>
            <a:r>
              <a:rPr lang="en-IE" sz="3200" b="1" i="1" dirty="0" err="1">
                <a:solidFill>
                  <a:schemeClr val="bg1"/>
                </a:solidFill>
              </a:rPr>
              <a:t>gLite</a:t>
            </a:r>
            <a:r>
              <a:rPr lang="en-IE" sz="3200" b="1" i="1" dirty="0">
                <a:solidFill>
                  <a:schemeClr val="bg1"/>
                </a:solidFill>
              </a:rPr>
              <a:t>, Kubernetes)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7F0153C-F87B-D4B9-028C-456E925B336A}"/>
              </a:ext>
            </a:extLst>
          </p:cNvPr>
          <p:cNvSpPr/>
          <p:nvPr/>
        </p:nvSpPr>
        <p:spPr>
          <a:xfrm>
            <a:off x="8233094" y="7291476"/>
            <a:ext cx="13370560" cy="2316480"/>
          </a:xfrm>
          <a:prstGeom prst="roundRect">
            <a:avLst/>
          </a:prstGeom>
          <a:solidFill>
            <a:srgbClr val="2A2A72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Data Application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Domain Specific Workflow Development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(ETL, AI, Spark)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3E130C7-F43E-218E-CFA0-2E472A988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0664" y="9371108"/>
            <a:ext cx="3585819" cy="2254948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3B2EDDBA-81FB-2174-1909-4135281C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952" y="9744979"/>
            <a:ext cx="3585454" cy="198268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CDAD23B-55A5-E907-1F02-B4E40AB99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3915" y="5925376"/>
            <a:ext cx="4115234" cy="2139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536A531-ACB6-9D4D-412A-8B43D777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51020" y="4142596"/>
            <a:ext cx="2435749" cy="156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lurm Workload Manager - Wikipedia">
            <a:extLst>
              <a:ext uri="{FF2B5EF4-FFF2-40B4-BE49-F238E27FC236}">
                <a16:creationId xmlns:a16="http://schemas.microsoft.com/office/drawing/2014/main" id="{B310FE77-77EC-EC3C-705C-C79EAD29B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4665" y="14667365"/>
            <a:ext cx="3908804" cy="35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adoop Consulting and Support Services 🐘">
            <a:extLst>
              <a:ext uri="{FF2B5EF4-FFF2-40B4-BE49-F238E27FC236}">
                <a16:creationId xmlns:a16="http://schemas.microsoft.com/office/drawing/2014/main" id="{CF53062D-BC41-1A84-6CCE-94958EE1D6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85842" y="16392134"/>
            <a:ext cx="4872885" cy="278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Kubernetes Logo and Wordmark Sticker ...">
            <a:extLst>
              <a:ext uri="{FF2B5EF4-FFF2-40B4-BE49-F238E27FC236}">
                <a16:creationId xmlns:a16="http://schemas.microsoft.com/office/drawing/2014/main" id="{15AB4257-9B6F-5A87-7CEA-CC7E2C014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91501" y="14692676"/>
            <a:ext cx="3371614" cy="337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ython Logo PNG Vector (SVG) Free Download">
            <a:extLst>
              <a:ext uri="{FF2B5EF4-FFF2-40B4-BE49-F238E27FC236}">
                <a16:creationId xmlns:a16="http://schemas.microsoft.com/office/drawing/2014/main" id="{62B89B67-4639-4806-8F38-BF34A5277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035" y="4425079"/>
            <a:ext cx="3227499" cy="3227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815DD6-CF85-CA76-C8C9-BE2CB88C0BC0}"/>
              </a:ext>
            </a:extLst>
          </p:cNvPr>
          <p:cNvSpPr/>
          <p:nvPr/>
        </p:nvSpPr>
        <p:spPr>
          <a:xfrm>
            <a:off x="8172133" y="3843496"/>
            <a:ext cx="15544800" cy="4470400"/>
          </a:xfrm>
          <a:prstGeom prst="roundRect">
            <a:avLst/>
          </a:prstGeom>
          <a:noFill/>
          <a:ln w="76200">
            <a:solidFill>
              <a:srgbClr val="2A2A7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361AE9-7B9B-9BA8-B967-A09704AB0BCC}"/>
              </a:ext>
            </a:extLst>
          </p:cNvPr>
          <p:cNvSpPr/>
          <p:nvPr/>
        </p:nvSpPr>
        <p:spPr>
          <a:xfrm>
            <a:off x="8202614" y="8807512"/>
            <a:ext cx="15544800" cy="4909804"/>
          </a:xfrm>
          <a:prstGeom prst="roundRect">
            <a:avLst/>
          </a:prstGeom>
          <a:noFill/>
          <a:ln w="76200">
            <a:solidFill>
              <a:srgbClr val="80002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4D2371-C54A-9C5B-B216-E076192FB328}"/>
              </a:ext>
            </a:extLst>
          </p:cNvPr>
          <p:cNvSpPr/>
          <p:nvPr/>
        </p:nvSpPr>
        <p:spPr>
          <a:xfrm>
            <a:off x="8233093" y="14186377"/>
            <a:ext cx="15544800" cy="5332300"/>
          </a:xfrm>
          <a:prstGeom prst="roundRect">
            <a:avLst/>
          </a:prstGeom>
          <a:noFill/>
          <a:ln w="76200">
            <a:solidFill>
              <a:srgbClr val="3B3B9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46" name="Picture 22" descr="R Meets Hardware | R-bloggers">
            <a:extLst>
              <a:ext uri="{FF2B5EF4-FFF2-40B4-BE49-F238E27FC236}">
                <a16:creationId xmlns:a16="http://schemas.microsoft.com/office/drawing/2014/main" id="{A71FA59A-7421-FA14-8B69-A08ECC946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38221" y="4278798"/>
            <a:ext cx="3478254" cy="347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2E426D-90DF-9E70-8E8B-8220C5D9CE9B}"/>
              </a:ext>
            </a:extLst>
          </p:cNvPr>
          <p:cNvSpPr txBox="1"/>
          <p:nvPr/>
        </p:nvSpPr>
        <p:spPr>
          <a:xfrm rot="16200000">
            <a:off x="5387583" y="5288843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2A2A72"/>
                </a:solidFill>
              </a:rPr>
              <a:t>Data Application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024C1-7776-2129-C309-C8FF5AE68EEE}"/>
              </a:ext>
            </a:extLst>
          </p:cNvPr>
          <p:cNvSpPr txBox="1"/>
          <p:nvPr/>
        </p:nvSpPr>
        <p:spPr>
          <a:xfrm rot="16200000">
            <a:off x="5397742" y="10561883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800020"/>
                </a:solidFill>
              </a:rPr>
              <a:t>Orchestration   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442966-5C09-8D5B-777A-DC9B15E129F1}"/>
              </a:ext>
            </a:extLst>
          </p:cNvPr>
          <p:cNvSpPr txBox="1"/>
          <p:nvPr/>
        </p:nvSpPr>
        <p:spPr>
          <a:xfrm rot="16200000">
            <a:off x="5509502" y="16221003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3B3B98"/>
                </a:solidFill>
              </a:rPr>
              <a:t>Infrastructure   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CB8691-6939-E709-3301-C6197E8637E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582994" y="9101050"/>
            <a:ext cx="4877076" cy="435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593204-5C51-61CB-9B93-20CA3CC9130B}"/>
              </a:ext>
            </a:extLst>
          </p:cNvPr>
          <p:cNvSpPr/>
          <p:nvPr/>
        </p:nvSpPr>
        <p:spPr>
          <a:xfrm>
            <a:off x="12795661" y="6847712"/>
            <a:ext cx="4303049" cy="4136823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4000" b="1" i="1" dirty="0">
              <a:solidFill>
                <a:schemeClr val="bg1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A483FD1-2ED0-F4AB-A3F3-2BA1245E818F}"/>
              </a:ext>
            </a:extLst>
          </p:cNvPr>
          <p:cNvGrpSpPr/>
          <p:nvPr/>
        </p:nvGrpSpPr>
        <p:grpSpPr>
          <a:xfrm>
            <a:off x="6377204" y="14489722"/>
            <a:ext cx="6156256" cy="4800795"/>
            <a:chOff x="225113" y="9141619"/>
            <a:chExt cx="5730786" cy="428154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B1E6658-9A50-53B7-522A-B91C6DE4A836}"/>
                </a:ext>
              </a:extLst>
            </p:cNvPr>
            <p:cNvSpPr/>
            <p:nvPr/>
          </p:nvSpPr>
          <p:spPr>
            <a:xfrm>
              <a:off x="990600" y="9141619"/>
              <a:ext cx="4114801" cy="3578116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3DC12C-8069-DABB-86FA-74E7D28D8B99}"/>
                </a:ext>
              </a:extLst>
            </p:cNvPr>
            <p:cNvSpPr txBox="1"/>
            <p:nvPr/>
          </p:nvSpPr>
          <p:spPr>
            <a:xfrm>
              <a:off x="225113" y="12846735"/>
              <a:ext cx="5730786" cy="576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TaskTide Manager Client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81669E7-28FA-74AB-AAF2-D15F49FDBFDA}"/>
              </a:ext>
            </a:extLst>
          </p:cNvPr>
          <p:cNvSpPr txBox="1"/>
          <p:nvPr/>
        </p:nvSpPr>
        <p:spPr>
          <a:xfrm>
            <a:off x="12039255" y="6180117"/>
            <a:ext cx="5730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TaskTide Repository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C64E6B9-19FD-0A28-C46A-500411995680}"/>
              </a:ext>
            </a:extLst>
          </p:cNvPr>
          <p:cNvGrpSpPr/>
          <p:nvPr/>
        </p:nvGrpSpPr>
        <p:grpSpPr>
          <a:xfrm>
            <a:off x="17646323" y="14416596"/>
            <a:ext cx="6156256" cy="4881483"/>
            <a:chOff x="11591831" y="9246292"/>
            <a:chExt cx="6156256" cy="488148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B4C2370-9AAF-48EF-E4FD-131500998CB2}"/>
                </a:ext>
              </a:extLst>
            </p:cNvPr>
            <p:cNvGrpSpPr/>
            <p:nvPr/>
          </p:nvGrpSpPr>
          <p:grpSpPr>
            <a:xfrm>
              <a:off x="12475012" y="9246292"/>
              <a:ext cx="4432254" cy="4040981"/>
              <a:chOff x="11866610" y="9319419"/>
              <a:chExt cx="4432254" cy="4040981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208A7A84-1774-C912-AB85-F801B08D27F6}"/>
                  </a:ext>
                </a:extLst>
              </p:cNvPr>
              <p:cNvSpPr/>
              <p:nvPr/>
            </p:nvSpPr>
            <p:spPr>
              <a:xfrm>
                <a:off x="11866610" y="9319419"/>
                <a:ext cx="4432254" cy="4040981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29" name="Graphic 28" descr="Server with solid fill">
                <a:extLst>
                  <a:ext uri="{FF2B5EF4-FFF2-40B4-BE49-F238E27FC236}">
                    <a16:creationId xmlns:a16="http://schemas.microsoft.com/office/drawing/2014/main" id="{8316283D-7B25-8065-9774-0C00AB121A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372602" y="9457606"/>
                <a:ext cx="3420270" cy="3420270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C0BC1BF-385F-CF2F-0C38-6F357B388D21}"/>
                </a:ext>
              </a:extLst>
            </p:cNvPr>
            <p:cNvSpPr txBox="1"/>
            <p:nvPr/>
          </p:nvSpPr>
          <p:spPr>
            <a:xfrm>
              <a:off x="11591831" y="13481443"/>
              <a:ext cx="61562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2A2A72"/>
                  </a:solidFill>
                </a:rPr>
                <a:t>TaskTide Engine Client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F9FCBA-4E1C-7234-C161-8A6523B5DD34}"/>
              </a:ext>
            </a:extLst>
          </p:cNvPr>
          <p:cNvGrpSpPr/>
          <p:nvPr/>
        </p:nvGrpSpPr>
        <p:grpSpPr>
          <a:xfrm>
            <a:off x="7816677" y="14912487"/>
            <a:ext cx="3161011" cy="3215018"/>
            <a:chOff x="1594225" y="9742189"/>
            <a:chExt cx="3161011" cy="3215018"/>
          </a:xfrm>
          <a:effectLst/>
        </p:grpSpPr>
        <p:pic>
          <p:nvPicPr>
            <p:cNvPr id="27" name="Graphic 26" descr="Users with solid fill">
              <a:extLst>
                <a:ext uri="{FF2B5EF4-FFF2-40B4-BE49-F238E27FC236}">
                  <a16:creationId xmlns:a16="http://schemas.microsoft.com/office/drawing/2014/main" id="{C595667A-372A-C4AB-5F8D-E34128647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94225" y="9742189"/>
              <a:ext cx="3161011" cy="3161011"/>
            </a:xfrm>
            <a:prstGeom prst="rect">
              <a:avLst/>
            </a:prstGeom>
            <a:ln>
              <a:noFill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82D307F-6BEB-7D2A-6BA7-2370D2763BDE}"/>
                </a:ext>
              </a:extLst>
            </p:cNvPr>
            <p:cNvSpPr txBox="1"/>
            <p:nvPr/>
          </p:nvSpPr>
          <p:spPr>
            <a:xfrm>
              <a:off x="2044096" y="12310876"/>
              <a:ext cx="2229323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Users</a:t>
              </a: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7CFD93B-E941-33F7-5042-967656AE3163}"/>
              </a:ext>
            </a:extLst>
          </p:cNvPr>
          <p:cNvCxnSpPr>
            <a:cxnSpLocks/>
          </p:cNvCxnSpPr>
          <p:nvPr/>
        </p:nvCxnSpPr>
        <p:spPr>
          <a:xfrm flipV="1">
            <a:off x="9719232" y="11029928"/>
            <a:ext cx="2997323" cy="31397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101EE2E-D242-5A1D-0B22-F09ED2102BB8}"/>
              </a:ext>
            </a:extLst>
          </p:cNvPr>
          <p:cNvCxnSpPr>
            <a:cxnSpLocks/>
          </p:cNvCxnSpPr>
          <p:nvPr/>
        </p:nvCxnSpPr>
        <p:spPr>
          <a:xfrm flipH="1">
            <a:off x="9898714" y="11235207"/>
            <a:ext cx="2960525" cy="311211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64FC3B-2231-AB00-0114-7D3B3E4D57AC}"/>
              </a:ext>
            </a:extLst>
          </p:cNvPr>
          <p:cNvSpPr txBox="1"/>
          <p:nvPr/>
        </p:nvSpPr>
        <p:spPr>
          <a:xfrm rot="18828662">
            <a:off x="9451300" y="12181965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Register Tasks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CC0E93-2FC7-E32C-8A01-598038EDD30E}"/>
              </a:ext>
            </a:extLst>
          </p:cNvPr>
          <p:cNvSpPr txBox="1"/>
          <p:nvPr/>
        </p:nvSpPr>
        <p:spPr>
          <a:xfrm rot="18828662">
            <a:off x="10099243" y="12604886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Query Tasks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870012A-93A9-A141-B3C1-9A921F3801D6}"/>
              </a:ext>
            </a:extLst>
          </p:cNvPr>
          <p:cNvCxnSpPr>
            <a:cxnSpLocks/>
          </p:cNvCxnSpPr>
          <p:nvPr/>
        </p:nvCxnSpPr>
        <p:spPr>
          <a:xfrm flipH="1" flipV="1">
            <a:off x="16913599" y="11197878"/>
            <a:ext cx="2719222" cy="307746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BA893D8-ADC2-1C69-849B-ACBFE36CE7F6}"/>
              </a:ext>
            </a:extLst>
          </p:cNvPr>
          <p:cNvSpPr txBox="1"/>
          <p:nvPr/>
        </p:nvSpPr>
        <p:spPr>
          <a:xfrm rot="2935289">
            <a:off x="17059217" y="12119436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Consume Tasks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9934AA2-464E-7C46-F454-9C4F19C44E45}"/>
              </a:ext>
            </a:extLst>
          </p:cNvPr>
          <p:cNvCxnSpPr>
            <a:cxnSpLocks/>
          </p:cNvCxnSpPr>
          <p:nvPr/>
        </p:nvCxnSpPr>
        <p:spPr>
          <a:xfrm>
            <a:off x="17173353" y="11141902"/>
            <a:ext cx="2772793" cy="31389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D550E53-A724-EDEC-286E-FCB879197398}"/>
              </a:ext>
            </a:extLst>
          </p:cNvPr>
          <p:cNvSpPr txBox="1"/>
          <p:nvPr/>
        </p:nvSpPr>
        <p:spPr>
          <a:xfrm rot="2912262">
            <a:off x="16379015" y="12661614"/>
            <a:ext cx="34233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Update Task States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2488A-2419-8503-18D0-7ACC535DDBA1}"/>
              </a:ext>
            </a:extLst>
          </p:cNvPr>
          <p:cNvSpPr txBox="1"/>
          <p:nvPr/>
        </p:nvSpPr>
        <p:spPr>
          <a:xfrm>
            <a:off x="19902605" y="17721856"/>
            <a:ext cx="18024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dirty="0">
                <a:solidFill>
                  <a:srgbClr val="2A2A72"/>
                </a:solidFill>
              </a:rPr>
              <a:t>Server </a:t>
            </a:r>
            <a:endParaRPr lang="en-IE" sz="3600" dirty="0"/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2735" y="4133059"/>
            <a:ext cx="17189847" cy="16656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pic>
        <p:nvPicPr>
          <p:cNvPr id="8" name="Graphic 7" descr="Database with solid fill">
            <a:extLst>
              <a:ext uri="{FF2B5EF4-FFF2-40B4-BE49-F238E27FC236}">
                <a16:creationId xmlns:a16="http://schemas.microsoft.com/office/drawing/2014/main" id="{ED8D8A1C-43A2-F999-B330-E1B3A6D456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978694" y="7006230"/>
            <a:ext cx="3893439" cy="34777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57A4EB6-B6C0-EE2C-43D3-54A695091B52}"/>
              </a:ext>
            </a:extLst>
          </p:cNvPr>
          <p:cNvSpPr txBox="1"/>
          <p:nvPr/>
        </p:nvSpPr>
        <p:spPr>
          <a:xfrm>
            <a:off x="13586368" y="10226501"/>
            <a:ext cx="27660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419877"/>
              </p:ext>
            </p:extLst>
          </p:nvPr>
        </p:nvGraphicFramePr>
        <p:xfrm>
          <a:off x="124851" y="5462717"/>
          <a:ext cx="29988439" cy="121577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351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26440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473213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897062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980279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Purpose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82302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agnostic; Standardized data model; Custom data fields;          Workflow-Execution context mapping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Flexible workflow introspection;         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Engine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monitoring.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2688771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 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    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7075" y="3674792"/>
            <a:ext cx="6537343" cy="5813137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F285AACC-9EB5-63E5-DE3D-1984E3D2EA53}"/>
              </a:ext>
            </a:extLst>
          </p:cNvPr>
          <p:cNvGrpSpPr/>
          <p:nvPr/>
        </p:nvGrpSpPr>
        <p:grpSpPr>
          <a:xfrm>
            <a:off x="6253710" y="6773287"/>
            <a:ext cx="17669120" cy="12166530"/>
            <a:chOff x="133892" y="2759406"/>
            <a:chExt cx="17669120" cy="12166530"/>
          </a:xfrm>
        </p:grpSpPr>
        <p:pic>
          <p:nvPicPr>
            <p:cNvPr id="25" name="Picture 24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ABB203D0-3D97-1EDE-DC6D-B67CAA1D37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30" y="11817662"/>
              <a:ext cx="5116008" cy="3108274"/>
            </a:xfrm>
            <a:prstGeom prst="rect">
              <a:avLst/>
            </a:prstGeom>
          </p:spPr>
        </p:pic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6D46A4F6-A6E6-EEDD-9DAA-C85003898CD6}"/>
                </a:ext>
              </a:extLst>
            </p:cNvPr>
            <p:cNvSpPr/>
            <p:nvPr/>
          </p:nvSpPr>
          <p:spPr>
            <a:xfrm>
              <a:off x="3853559" y="2759406"/>
              <a:ext cx="5147728" cy="979113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 Client</a:t>
              </a:r>
            </a:p>
          </p:txBody>
        </p:sp>
        <p:sp>
          <p:nvSpPr>
            <p:cNvPr id="8" name="Flowchart: Alternate Process 7">
              <a:extLst>
                <a:ext uri="{FF2B5EF4-FFF2-40B4-BE49-F238E27FC236}">
                  <a16:creationId xmlns:a16="http://schemas.microsoft.com/office/drawing/2014/main" id="{483EFC43-8D08-EDDA-C48D-B19EF8145547}"/>
                </a:ext>
              </a:extLst>
            </p:cNvPr>
            <p:cNvSpPr/>
            <p:nvPr/>
          </p:nvSpPr>
          <p:spPr>
            <a:xfrm>
              <a:off x="1156998" y="4666373"/>
              <a:ext cx="380688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ManagerClient</a:t>
              </a:r>
              <a:endParaRPr lang="en-IE" sz="3600" b="1" dirty="0"/>
            </a:p>
          </p:txBody>
        </p:sp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BF743EF5-BB08-F701-6DF6-8EA8AAB63398}"/>
                </a:ext>
              </a:extLst>
            </p:cNvPr>
            <p:cNvSpPr/>
            <p:nvPr/>
          </p:nvSpPr>
          <p:spPr>
            <a:xfrm>
              <a:off x="7115966" y="4676460"/>
              <a:ext cx="3612936" cy="103468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EngineClient</a:t>
              </a:r>
            </a:p>
          </p:txBody>
        </p:sp>
        <p:sp>
          <p:nvSpPr>
            <p:cNvPr id="10" name="Flowchart: Alternate Process 9">
              <a:extLst>
                <a:ext uri="{FF2B5EF4-FFF2-40B4-BE49-F238E27FC236}">
                  <a16:creationId xmlns:a16="http://schemas.microsoft.com/office/drawing/2014/main" id="{A60E3390-6BDF-75B0-676A-C81444615F2C}"/>
                </a:ext>
              </a:extLst>
            </p:cNvPr>
            <p:cNvSpPr/>
            <p:nvPr/>
          </p:nvSpPr>
          <p:spPr>
            <a:xfrm>
              <a:off x="3579677" y="6387837"/>
              <a:ext cx="542160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TaskTideService</a:t>
              </a:r>
            </a:p>
          </p:txBody>
        </p:sp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761A1A9A-FBA2-221A-ED5A-8397CBBF7091}"/>
                </a:ext>
              </a:extLst>
            </p:cNvPr>
            <p:cNvSpPr/>
            <p:nvPr/>
          </p:nvSpPr>
          <p:spPr>
            <a:xfrm>
              <a:off x="3579677" y="8049794"/>
              <a:ext cx="5328306" cy="9158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TaskTideRepository</a:t>
              </a:r>
            </a:p>
          </p:txBody>
        </p:sp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6CF3679C-A42B-BB1A-89A6-3779A8CAC4B0}"/>
                </a:ext>
              </a:extLst>
            </p:cNvPr>
            <p:cNvSpPr/>
            <p:nvPr/>
          </p:nvSpPr>
          <p:spPr>
            <a:xfrm>
              <a:off x="133892" y="10280385"/>
              <a:ext cx="5116008" cy="98431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TemplateRepository</a:t>
              </a:r>
              <a:endParaRPr lang="en-IE" sz="3200" b="1" dirty="0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A9DF68DD-9327-AAF2-6D6A-40C7FF82282B}"/>
                </a:ext>
              </a:extLst>
            </p:cNvPr>
            <p:cNvSpPr/>
            <p:nvPr/>
          </p:nvSpPr>
          <p:spPr>
            <a:xfrm>
              <a:off x="10361467" y="10976251"/>
              <a:ext cx="5346042" cy="98418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ItemStoreRepository</a:t>
              </a:r>
            </a:p>
          </p:txBody>
        </p:sp>
        <p:sp>
          <p:nvSpPr>
            <p:cNvPr id="14" name="Flowchart: Alternate Process 13">
              <a:extLst>
                <a:ext uri="{FF2B5EF4-FFF2-40B4-BE49-F238E27FC236}">
                  <a16:creationId xmlns:a16="http://schemas.microsoft.com/office/drawing/2014/main" id="{70F9B6C0-7A11-5126-A2F9-62210095E61E}"/>
                </a:ext>
              </a:extLst>
            </p:cNvPr>
            <p:cNvSpPr/>
            <p:nvPr/>
          </p:nvSpPr>
          <p:spPr>
            <a:xfrm>
              <a:off x="5635002" y="9661714"/>
              <a:ext cx="4010563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JpaRepository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A40A20D-07AA-3C29-B525-8F054EB395CE}"/>
                </a:ext>
              </a:extLst>
            </p:cNvPr>
            <p:cNvGrpSpPr/>
            <p:nvPr/>
          </p:nvGrpSpPr>
          <p:grpSpPr>
            <a:xfrm>
              <a:off x="11185297" y="12607237"/>
              <a:ext cx="4323882" cy="2162882"/>
              <a:chOff x="8508170" y="11395622"/>
              <a:chExt cx="3773483" cy="1545522"/>
            </a:xfrm>
          </p:grpSpPr>
          <p:pic>
            <p:nvPicPr>
              <p:cNvPr id="18" name="Picture 17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A0EBE8F0-852C-9D44-C282-192E019302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08170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22" name="Picture 21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E6A01908-3616-64D6-439C-842D10A4FB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47570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7161502-6450-2C74-3220-821B827C17C8}"/>
                  </a:ext>
                </a:extLst>
              </p:cNvPr>
              <p:cNvCxnSpPr/>
              <p:nvPr/>
            </p:nvCxnSpPr>
            <p:spPr>
              <a:xfrm flipH="1">
                <a:off x="9485965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A954414-47EC-2512-D52F-172903F25B80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3765098"/>
              <a:ext cx="0" cy="835018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B7E84AA-4EFD-742C-FCF6-2A230C4ECCBB}"/>
                </a:ext>
              </a:extLst>
            </p:cNvPr>
            <p:cNvCxnSpPr>
              <a:cxnSpLocks/>
            </p:cNvCxnSpPr>
            <p:nvPr/>
          </p:nvCxnSpPr>
          <p:spPr>
            <a:xfrm>
              <a:off x="7631694" y="9002584"/>
              <a:ext cx="0" cy="624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119E524B-4AAF-85A1-2D4B-FCC8F7BBC7CD}"/>
                </a:ext>
              </a:extLst>
            </p:cNvPr>
            <p:cNvCxnSpPr>
              <a:cxnSpLocks/>
            </p:cNvCxnSpPr>
            <p:nvPr/>
          </p:nvCxnSpPr>
          <p:spPr>
            <a:xfrm>
              <a:off x="12862574" y="12003743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8E134E11-C649-29A8-88F0-663EA7E359EC}"/>
                </a:ext>
              </a:extLst>
            </p:cNvPr>
            <p:cNvSpPr/>
            <p:nvPr/>
          </p:nvSpPr>
          <p:spPr>
            <a:xfrm>
              <a:off x="11539544" y="4648271"/>
              <a:ext cx="3964360" cy="1089170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TaskTideEngine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D7A76D2-A199-24BC-3649-24E384805F0D}"/>
                </a:ext>
              </a:extLst>
            </p:cNvPr>
            <p:cNvCxnSpPr>
              <a:cxnSpLocks/>
            </p:cNvCxnSpPr>
            <p:nvPr/>
          </p:nvCxnSpPr>
          <p:spPr>
            <a:xfrm>
              <a:off x="8932653" y="8603919"/>
              <a:ext cx="53753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0" name="Flowchart: Alternate Process 49">
              <a:extLst>
                <a:ext uri="{FF2B5EF4-FFF2-40B4-BE49-F238E27FC236}">
                  <a16:creationId xmlns:a16="http://schemas.microsoft.com/office/drawing/2014/main" id="{B8214C4E-DB36-C2ED-34D2-EDA3242C2D92}"/>
                </a:ext>
              </a:extLst>
            </p:cNvPr>
            <p:cNvSpPr/>
            <p:nvPr/>
          </p:nvSpPr>
          <p:spPr>
            <a:xfrm>
              <a:off x="9470189" y="8061628"/>
              <a:ext cx="3964369" cy="94441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TaskTideModel</a:t>
              </a:r>
            </a:p>
          </p:txBody>
        </p:sp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8AB1BA33-846B-71CB-C4E6-E037EFA3C024}"/>
                </a:ext>
              </a:extLst>
            </p:cNvPr>
            <p:cNvSpPr/>
            <p:nvPr/>
          </p:nvSpPr>
          <p:spPr>
            <a:xfrm>
              <a:off x="14534290" y="6963896"/>
              <a:ext cx="3268722" cy="89162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Workflow</a:t>
              </a:r>
            </a:p>
          </p:txBody>
        </p:sp>
        <p:sp>
          <p:nvSpPr>
            <p:cNvPr id="52" name="Flowchart: Alternate Process 51">
              <a:extLst>
                <a:ext uri="{FF2B5EF4-FFF2-40B4-BE49-F238E27FC236}">
                  <a16:creationId xmlns:a16="http://schemas.microsoft.com/office/drawing/2014/main" id="{5C067697-A9CE-7092-38B5-DE6CF63938F7}"/>
                </a:ext>
              </a:extLst>
            </p:cNvPr>
            <p:cNvSpPr/>
            <p:nvPr/>
          </p:nvSpPr>
          <p:spPr>
            <a:xfrm>
              <a:off x="14532171" y="8169009"/>
              <a:ext cx="3268722" cy="89162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Step</a:t>
              </a:r>
            </a:p>
          </p:txBody>
        </p:sp>
        <p:sp>
          <p:nvSpPr>
            <p:cNvPr id="53" name="Flowchart: Alternate Process 52">
              <a:extLst>
                <a:ext uri="{FF2B5EF4-FFF2-40B4-BE49-F238E27FC236}">
                  <a16:creationId xmlns:a16="http://schemas.microsoft.com/office/drawing/2014/main" id="{CBAA4AFC-3354-A870-0D27-6D1FA8EB9501}"/>
                </a:ext>
              </a:extLst>
            </p:cNvPr>
            <p:cNvSpPr/>
            <p:nvPr/>
          </p:nvSpPr>
          <p:spPr>
            <a:xfrm>
              <a:off x="14519301" y="9359788"/>
              <a:ext cx="3268722" cy="93446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WorkItem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8DCEE48F-962D-A3C4-8DC4-E8DDC6842978}"/>
                </a:ext>
              </a:extLst>
            </p:cNvPr>
            <p:cNvCxnSpPr>
              <a:cxnSpLocks/>
            </p:cNvCxnSpPr>
            <p:nvPr/>
          </p:nvCxnSpPr>
          <p:spPr>
            <a:xfrm>
              <a:off x="8359074" y="3766950"/>
              <a:ext cx="0" cy="83316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0811605E-2E77-4721-BB6A-D96BCA1BBA30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5744863"/>
              <a:ext cx="0" cy="592437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069DBF85-D0D1-E9E2-C786-B27C86649C59}"/>
                </a:ext>
              </a:extLst>
            </p:cNvPr>
            <p:cNvCxnSpPr>
              <a:cxnSpLocks/>
            </p:cNvCxnSpPr>
            <p:nvPr/>
          </p:nvCxnSpPr>
          <p:spPr>
            <a:xfrm>
              <a:off x="8405177" y="5747725"/>
              <a:ext cx="0" cy="605343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DFB149C-0D70-4CAD-66D8-E7D9869E7E35}"/>
                </a:ext>
              </a:extLst>
            </p:cNvPr>
            <p:cNvCxnSpPr>
              <a:cxnSpLocks/>
            </p:cNvCxnSpPr>
            <p:nvPr/>
          </p:nvCxnSpPr>
          <p:spPr>
            <a:xfrm>
              <a:off x="6240474" y="7467039"/>
              <a:ext cx="0" cy="595273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68585F70-3D6B-A57D-56B6-98A008D06323}"/>
                </a:ext>
              </a:extLst>
            </p:cNvPr>
            <p:cNvCxnSpPr>
              <a:cxnSpLocks/>
            </p:cNvCxnSpPr>
            <p:nvPr/>
          </p:nvCxnSpPr>
          <p:spPr>
            <a:xfrm>
              <a:off x="10750669" y="5222783"/>
              <a:ext cx="74596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D5D7C695-DFC6-67D0-DD12-31F6A0348BA4}"/>
                </a:ext>
              </a:extLst>
            </p:cNvPr>
            <p:cNvCxnSpPr>
              <a:cxnSpLocks/>
            </p:cNvCxnSpPr>
            <p:nvPr/>
          </p:nvCxnSpPr>
          <p:spPr>
            <a:xfrm>
              <a:off x="13518693" y="8622576"/>
              <a:ext cx="933104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5F967A5-B59E-7B7D-5E64-512341FD7A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76946" y="7648584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C5069E0D-C152-2D33-9149-D8FB64B0BEE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3509760" y="8655978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D83134F-275B-B0ED-A2DA-C0BE6509A2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7935" y="9004215"/>
              <a:ext cx="194" cy="1261758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7110645D-7449-3CAF-2FB2-5789C07DA1BC}"/>
                </a:ext>
              </a:extLst>
            </p:cNvPr>
            <p:cNvCxnSpPr>
              <a:cxnSpLocks/>
            </p:cNvCxnSpPr>
            <p:nvPr/>
          </p:nvCxnSpPr>
          <p:spPr>
            <a:xfrm>
              <a:off x="8907983" y="8905416"/>
              <a:ext cx="3759332" cy="200486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B63FC61A-B064-0C71-D47B-6087923E9AA1}"/>
                </a:ext>
              </a:extLst>
            </p:cNvPr>
            <p:cNvCxnSpPr>
              <a:cxnSpLocks/>
            </p:cNvCxnSpPr>
            <p:nvPr/>
          </p:nvCxnSpPr>
          <p:spPr>
            <a:xfrm>
              <a:off x="7616145" y="10553592"/>
              <a:ext cx="0" cy="91213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1788FC1-D1D9-FCA0-8AA7-E335A3FB44E0}"/>
                </a:ext>
              </a:extLst>
            </p:cNvPr>
            <p:cNvGrpSpPr/>
            <p:nvPr/>
          </p:nvGrpSpPr>
          <p:grpSpPr>
            <a:xfrm>
              <a:off x="5930016" y="11455567"/>
              <a:ext cx="3317123" cy="2907635"/>
              <a:chOff x="5892693" y="12674487"/>
              <a:chExt cx="3317123" cy="2907635"/>
            </a:xfrm>
          </p:grpSpPr>
          <p:pic>
            <p:nvPicPr>
              <p:cNvPr id="4" name="Picture 3" descr="A blue circle with white text and a dolphin&#10;&#10;AI-generated content may be incorrect.">
                <a:extLst>
                  <a:ext uri="{FF2B5EF4-FFF2-40B4-BE49-F238E27FC236}">
                    <a16:creationId xmlns:a16="http://schemas.microsoft.com/office/drawing/2014/main" id="{4317112C-5E93-13F6-DEEF-8EAA6FDD08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92693" y="12674487"/>
                <a:ext cx="1409700" cy="1409700"/>
              </a:xfrm>
              <a:prstGeom prst="rect">
                <a:avLst/>
              </a:prstGeom>
            </p:spPr>
          </p:pic>
          <p:pic>
            <p:nvPicPr>
              <p:cNvPr id="15" name="Picture 14" descr="A logo for a company&#10;&#10;AI-generated content may be incorrect.">
                <a:extLst>
                  <a:ext uri="{FF2B5EF4-FFF2-40B4-BE49-F238E27FC236}">
                    <a16:creationId xmlns:a16="http://schemas.microsoft.com/office/drawing/2014/main" id="{B03A0ABC-098B-C812-3DA4-0300D71075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17572" y="14381372"/>
                <a:ext cx="1590182" cy="1200750"/>
              </a:xfrm>
              <a:prstGeom prst="rect">
                <a:avLst/>
              </a:prstGeom>
            </p:spPr>
          </p:pic>
          <p:pic>
            <p:nvPicPr>
              <p:cNvPr id="19" name="Picture 18" descr="A blue elephant logo with white text&#10;&#10;AI-generated content may be incorrect.">
                <a:extLst>
                  <a:ext uri="{FF2B5EF4-FFF2-40B4-BE49-F238E27FC236}">
                    <a16:creationId xmlns:a16="http://schemas.microsoft.com/office/drawing/2014/main" id="{33994AF6-0DEF-2EBD-E76A-01617A7F53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58622" y="12732993"/>
                <a:ext cx="1351194" cy="1351194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9DC3E09-C608-48EF-34B8-A8C2CC14E4C6}"/>
                </a:ext>
              </a:extLst>
            </p:cNvPr>
            <p:cNvCxnSpPr>
              <a:cxnSpLocks/>
            </p:cNvCxnSpPr>
            <p:nvPr/>
          </p:nvCxnSpPr>
          <p:spPr>
            <a:xfrm>
              <a:off x="2499300" y="11304508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F49BD9-B379-F6AE-5540-EB2CBA3B44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3052942"/>
              </p:ext>
            </p:extLst>
          </p:nvPr>
        </p:nvGraphicFramePr>
        <p:xfrm>
          <a:off x="2954252" y="7593398"/>
          <a:ext cx="9834878" cy="9234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4A4E1F-EF89-55FB-2621-5159F4CECD25}"/>
              </a:ext>
            </a:extLst>
          </p:cNvPr>
          <p:cNvCxnSpPr/>
          <p:nvPr/>
        </p:nvCxnSpPr>
        <p:spPr>
          <a:xfrm>
            <a:off x="11625080" y="6429940"/>
            <a:ext cx="0" cy="1198880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7A510191-D70B-0A09-14B7-C12B6C844E8F}"/>
              </a:ext>
            </a:extLst>
          </p:cNvPr>
          <p:cNvSpPr txBox="1"/>
          <p:nvPr/>
        </p:nvSpPr>
        <p:spPr>
          <a:xfrm>
            <a:off x="4546472" y="4412464"/>
            <a:ext cx="1703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b="1" dirty="0"/>
              <a:t>a)											            	b)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52A5DF-C147-1B7B-022B-925131DB8FA0}"/>
              </a:ext>
            </a:extLst>
          </p:cNvPr>
          <p:cNvGrpSpPr/>
          <p:nvPr/>
        </p:nvGrpSpPr>
        <p:grpSpPr>
          <a:xfrm>
            <a:off x="12985072" y="5001739"/>
            <a:ext cx="12115789" cy="13985556"/>
            <a:chOff x="7489828" y="1402082"/>
            <a:chExt cx="12115789" cy="13985556"/>
          </a:xfrm>
        </p:grpSpPr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A947FBCF-D905-0831-86F1-AD448E1C4D75}"/>
                </a:ext>
              </a:extLst>
            </p:cNvPr>
            <p:cNvSpPr/>
            <p:nvPr/>
          </p:nvSpPr>
          <p:spPr>
            <a:xfrm>
              <a:off x="12259953" y="1402082"/>
              <a:ext cx="2153905" cy="2022695"/>
            </a:xfrm>
            <a:prstGeom prst="can">
              <a:avLst/>
            </a:prstGeom>
            <a:ln w="38100">
              <a:solidFill>
                <a:schemeClr val="tx1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TaskTide</a:t>
              </a:r>
            </a:p>
            <a:p>
              <a:pPr algn="ctr"/>
              <a:r>
                <a:rPr lang="en-IE" sz="2800" b="1" dirty="0"/>
                <a:t>Repository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3CEBE93-DE8F-36D6-D818-053F81620ED2}"/>
                </a:ext>
              </a:extLst>
            </p:cNvPr>
            <p:cNvSpPr/>
            <p:nvPr/>
          </p:nvSpPr>
          <p:spPr>
            <a:xfrm>
              <a:off x="7489828" y="4606002"/>
              <a:ext cx="12115789" cy="10781636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13119DE-8929-C472-8586-3BF55CA1FBAD}"/>
                </a:ext>
              </a:extLst>
            </p:cNvPr>
            <p:cNvCxnSpPr>
              <a:cxnSpLocks/>
            </p:cNvCxnSpPr>
            <p:nvPr/>
          </p:nvCxnSpPr>
          <p:spPr>
            <a:xfrm>
              <a:off x="13180410" y="3558775"/>
              <a:ext cx="0" cy="968362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80AF89-8AE7-83F1-4A98-E375BFCB6C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468986" y="3500121"/>
              <a:ext cx="1" cy="954107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ED762018-D3F6-7019-E52D-DF61061EB125}"/>
                </a:ext>
              </a:extLst>
            </p:cNvPr>
            <p:cNvCxnSpPr/>
            <p:nvPr/>
          </p:nvCxnSpPr>
          <p:spPr>
            <a:xfrm>
              <a:off x="9787411" y="7889090"/>
              <a:ext cx="0" cy="1036320"/>
            </a:xfrm>
            <a:prstGeom prst="straightConnector1">
              <a:avLst/>
            </a:prstGeom>
            <a:ln w="76200"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E6D65AD-E43D-3543-0704-6A46F703DC9E}"/>
                </a:ext>
              </a:extLst>
            </p:cNvPr>
            <p:cNvCxnSpPr/>
            <p:nvPr/>
          </p:nvCxnSpPr>
          <p:spPr>
            <a:xfrm>
              <a:off x="9812811" y="11170383"/>
              <a:ext cx="0" cy="1036320"/>
            </a:xfrm>
            <a:prstGeom prst="straightConnector1">
              <a:avLst/>
            </a:prstGeom>
            <a:ln w="76200"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9D4E3FF-3CD6-FEDB-3705-A60718BE9CD1}"/>
                </a:ext>
              </a:extLst>
            </p:cNvPr>
            <p:cNvSpPr/>
            <p:nvPr/>
          </p:nvSpPr>
          <p:spPr>
            <a:xfrm>
              <a:off x="8256421" y="583692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Receives      Tasks</a:t>
              </a:r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8DCAD642-DF61-F4FE-C83B-F5BF13F3DB36}"/>
                </a:ext>
              </a:extLst>
            </p:cNvPr>
            <p:cNvSpPr/>
            <p:nvPr/>
          </p:nvSpPr>
          <p:spPr>
            <a:xfrm>
              <a:off x="8266582" y="905764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Processor distributes over threads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77A340E3-8AD4-6C9B-AF8B-868695C80E00}"/>
                </a:ext>
              </a:extLst>
            </p:cNvPr>
            <p:cNvSpPr/>
            <p:nvPr/>
          </p:nvSpPr>
          <p:spPr>
            <a:xfrm>
              <a:off x="8266582" y="1231900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Executor spawns OS process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DE31B009-805C-03C3-6EF6-2F23BD1282E0}"/>
                </a:ext>
              </a:extLst>
            </p:cNvPr>
            <p:cNvSpPr txBox="1"/>
            <p:nvPr/>
          </p:nvSpPr>
          <p:spPr>
            <a:xfrm>
              <a:off x="9201996" y="4155461"/>
              <a:ext cx="2960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Engine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A83F73D-D09F-B45C-DA3C-EF859F32AFF6}"/>
                </a:ext>
              </a:extLst>
            </p:cNvPr>
            <p:cNvSpPr txBox="1"/>
            <p:nvPr/>
          </p:nvSpPr>
          <p:spPr>
            <a:xfrm>
              <a:off x="13563477" y="3766479"/>
              <a:ext cx="25462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dirty="0">
                  <a:solidFill>
                    <a:schemeClr val="accent5">
                      <a:lumMod val="75000"/>
                    </a:schemeClr>
                  </a:solidFill>
                </a:rPr>
                <a:t>Task Updates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5A324E4-797D-C81C-D94D-9A1161D8568F}"/>
                </a:ext>
              </a:extLst>
            </p:cNvPr>
            <p:cNvSpPr/>
            <p:nvPr/>
          </p:nvSpPr>
          <p:spPr>
            <a:xfrm>
              <a:off x="13768393" y="8367208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Event Subscription</a:t>
              </a: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2060813-E48E-35FE-9699-20F5CFE266C0}"/>
                </a:ext>
              </a:extLst>
            </p:cNvPr>
            <p:cNvSpPr/>
            <p:nvPr/>
          </p:nvSpPr>
          <p:spPr>
            <a:xfrm>
              <a:off x="16652882" y="8367208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Commit Task Updates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414C8E5-F857-D9DC-2E6E-E2A94A962D91}"/>
                </a:ext>
              </a:extLst>
            </p:cNvPr>
            <p:cNvSpPr/>
            <p:nvPr/>
          </p:nvSpPr>
          <p:spPr>
            <a:xfrm>
              <a:off x="15256598" y="10040385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Process Registry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C1FD7A45-07A6-2A0A-0A15-386687226289}"/>
                </a:ext>
              </a:extLst>
            </p:cNvPr>
            <p:cNvSpPr/>
            <p:nvPr/>
          </p:nvSpPr>
          <p:spPr>
            <a:xfrm>
              <a:off x="13545185" y="7963918"/>
              <a:ext cx="5872474" cy="3643883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DCD5EB-E56D-7692-3FCD-FB91F1955FC4}"/>
                </a:ext>
              </a:extLst>
            </p:cNvPr>
            <p:cNvSpPr txBox="1"/>
            <p:nvPr/>
          </p:nvSpPr>
          <p:spPr>
            <a:xfrm>
              <a:off x="14424026" y="7528430"/>
              <a:ext cx="452119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Observer Chain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2314848-3CAF-6E78-7D60-BEA85E354477}"/>
                </a:ext>
              </a:extLst>
            </p:cNvPr>
            <p:cNvSpPr/>
            <p:nvPr/>
          </p:nvSpPr>
          <p:spPr>
            <a:xfrm>
              <a:off x="7912704" y="5562600"/>
              <a:ext cx="3835958" cy="9042400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79C2CD7-F3A6-A2A4-D43D-69A67E73918A}"/>
                </a:ext>
              </a:extLst>
            </p:cNvPr>
            <p:cNvSpPr txBox="1"/>
            <p:nvPr/>
          </p:nvSpPr>
          <p:spPr>
            <a:xfrm>
              <a:off x="8737718" y="14622217"/>
              <a:ext cx="33600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Processor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B90DD8D-EC71-89A9-DA38-FE6DCDD8BE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775691" y="9735585"/>
              <a:ext cx="1693295" cy="0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5D47F-B164-01B3-7D34-6665223CAF89}"/>
                </a:ext>
              </a:extLst>
            </p:cNvPr>
            <p:cNvSpPr txBox="1"/>
            <p:nvPr/>
          </p:nvSpPr>
          <p:spPr>
            <a:xfrm>
              <a:off x="12008864" y="9338995"/>
              <a:ext cx="14952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400" b="1" dirty="0">
                  <a:solidFill>
                    <a:schemeClr val="accent5">
                      <a:lumMod val="75000"/>
                    </a:schemeClr>
                  </a:solidFill>
                </a:rPr>
                <a:t>Validates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257224"/>
              </p:ext>
            </p:extLst>
          </p:nvPr>
        </p:nvGraphicFramePr>
        <p:xfrm>
          <a:off x="2929732" y="6408176"/>
          <a:ext cx="24993600" cy="11457037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379221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4833164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5783775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4998720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4998720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1687282">
                <a:tc gridSpan="5">
                  <a:txBody>
                    <a:bodyPr/>
                    <a:lstStyle/>
                    <a:p>
                      <a:pPr algn="ctr"/>
                      <a:r>
                        <a:rPr lang="en-IE" sz="66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1505925"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272920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398182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398182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3132" y="4228511"/>
            <a:ext cx="20523200" cy="1489831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5155442"/>
              </p:ext>
            </p:extLst>
          </p:nvPr>
        </p:nvGraphicFramePr>
        <p:xfrm>
          <a:off x="6732357" y="6348263"/>
          <a:ext cx="16775589" cy="125784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D0AD-7D60-F80E-532B-CE9F849C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6326" y="522668"/>
            <a:ext cx="26082248" cy="1674936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i="1" dirty="0"/>
              <a:t>Distributed Mutex Workflow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7AF9FA-7438-5E00-C10B-5BDCEAA71E27}"/>
              </a:ext>
            </a:extLst>
          </p:cNvPr>
          <p:cNvSpPr/>
          <p:nvPr/>
        </p:nvSpPr>
        <p:spPr>
          <a:xfrm>
            <a:off x="190500" y="3853678"/>
            <a:ext cx="29851350" cy="6923211"/>
          </a:xfrm>
          <a:prstGeom prst="roundRect">
            <a:avLst/>
          </a:prstGeom>
          <a:solidFill>
            <a:srgbClr val="E6EAED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CDF24C-6E41-99FF-7335-D2539468AD92}"/>
              </a:ext>
            </a:extLst>
          </p:cNvPr>
          <p:cNvSpPr txBox="1"/>
          <p:nvPr/>
        </p:nvSpPr>
        <p:spPr>
          <a:xfrm>
            <a:off x="423801" y="4225755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1). Enqueue Election Ballot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0E05E10-B54C-55AA-F4C5-B5805511BA2C}"/>
              </a:ext>
            </a:extLst>
          </p:cNvPr>
          <p:cNvGrpSpPr/>
          <p:nvPr/>
        </p:nvGrpSpPr>
        <p:grpSpPr>
          <a:xfrm>
            <a:off x="495300" y="5160508"/>
            <a:ext cx="9277350" cy="5044882"/>
            <a:chOff x="609600" y="4232468"/>
            <a:chExt cx="9277350" cy="504488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98F1016-6507-D524-42D1-7AB16F226F63}"/>
                </a:ext>
              </a:extLst>
            </p:cNvPr>
            <p:cNvSpPr/>
            <p:nvPr/>
          </p:nvSpPr>
          <p:spPr>
            <a:xfrm>
              <a:off x="609600" y="4232468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3200" b="1" dirty="0"/>
            </a:p>
            <a:p>
              <a:r>
                <a:rPr lang="en-IE" sz="3200" b="1" dirty="0"/>
                <a:t>  Mutex {</a:t>
              </a:r>
            </a:p>
            <a:p>
              <a:r>
                <a:rPr lang="en-IE" sz="3200" b="1" dirty="0"/>
                <a:t>         Id: &lt;Random UUID&gt;,</a:t>
              </a:r>
            </a:p>
            <a:p>
              <a:r>
                <a:rPr lang="en-IE" sz="3200" b="1" dirty="0"/>
                <a:t>         Time Stamp: &lt; EPOCH Time&gt;,</a:t>
              </a:r>
            </a:p>
            <a:p>
              <a:r>
                <a:rPr lang="en-IE" sz="3200" b="1" dirty="0"/>
                <a:t>         Lock File: &lt;Full File Path&gt;,</a:t>
              </a:r>
            </a:p>
            <a:p>
              <a:r>
                <a:rPr lang="en-IE" sz="3200" b="1" dirty="0"/>
                <a:t>         Election File: &lt;Full File Path&gt;,</a:t>
              </a:r>
            </a:p>
            <a:p>
              <a:r>
                <a:rPr lang="en-IE" sz="3200" b="1" dirty="0"/>
                <a:t>         Mutex State: &lt;INIT | WAIT | LOCKED&gt;</a:t>
              </a:r>
            </a:p>
            <a:p>
              <a:r>
                <a:rPr lang="en-IE" sz="3200" b="1" dirty="0"/>
                <a:t>  }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65AB9DE-E928-5C65-E445-AC34F60D20B4}"/>
                </a:ext>
              </a:extLst>
            </p:cNvPr>
            <p:cNvGrpSpPr/>
            <p:nvPr/>
          </p:nvGrpSpPr>
          <p:grpSpPr>
            <a:xfrm>
              <a:off x="609600" y="4385666"/>
              <a:ext cx="9048750" cy="529234"/>
              <a:chOff x="914400" y="4442816"/>
              <a:chExt cx="9048750" cy="529234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D526A3C-335E-5F13-5100-FB52658BE261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1769689749-HostA-InstanceA.json</a:t>
                </a:r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794C1588-459B-325B-CB2C-AF92EF1C09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4972050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BF690E4-2BAC-371E-4F36-F3BB9D5CB4E8}"/>
              </a:ext>
            </a:extLst>
          </p:cNvPr>
          <p:cNvSpPr txBox="1"/>
          <p:nvPr/>
        </p:nvSpPr>
        <p:spPr>
          <a:xfrm>
            <a:off x="11316463" y="4225755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2). Discover FIFO Position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C6F972B-C4A3-ADE2-9B28-D6F6A4C141B6}"/>
              </a:ext>
            </a:extLst>
          </p:cNvPr>
          <p:cNvSpPr/>
          <p:nvPr/>
        </p:nvSpPr>
        <p:spPr>
          <a:xfrm>
            <a:off x="11887200" y="5528808"/>
            <a:ext cx="7905750" cy="4037241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3200" b="1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4CC6A90-C0EB-A4B6-BC65-86380C1FB3C9}"/>
              </a:ext>
            </a:extLst>
          </p:cNvPr>
          <p:cNvGrpSpPr/>
          <p:nvPr/>
        </p:nvGrpSpPr>
        <p:grpSpPr>
          <a:xfrm>
            <a:off x="12017069" y="5651408"/>
            <a:ext cx="7710947" cy="499728"/>
            <a:chOff x="914400" y="4442816"/>
            <a:chExt cx="9048750" cy="62445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9019241-98B9-86DF-7A70-BAC7C03C6376}"/>
                </a:ext>
              </a:extLst>
            </p:cNvPr>
            <p:cNvSpPr txBox="1"/>
            <p:nvPr/>
          </p:nvSpPr>
          <p:spPr>
            <a:xfrm>
              <a:off x="914400" y="4442816"/>
              <a:ext cx="9048750" cy="5546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800" b="1" dirty="0">
                  <a:solidFill>
                    <a:schemeClr val="bg1"/>
                  </a:solidFill>
                </a:rPr>
                <a:t>Configured Election Directory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DE96AB-CD56-E5FA-7030-6F555209E755}"/>
                </a:ext>
              </a:extLst>
            </p:cNvPr>
            <p:cNvCxnSpPr>
              <a:cxnSpLocks/>
            </p:cNvCxnSpPr>
            <p:nvPr/>
          </p:nvCxnSpPr>
          <p:spPr>
            <a:xfrm>
              <a:off x="1412270" y="5067269"/>
              <a:ext cx="8112730" cy="0"/>
            </a:xfrm>
            <a:prstGeom prst="line">
              <a:avLst/>
            </a:prstGeom>
            <a:ln w="19050" cap="flat" cmpd="sng" algn="ctr">
              <a:solidFill>
                <a:schemeClr val="bg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34B9CB4-2681-327E-1546-41998D4C06E8}"/>
              </a:ext>
            </a:extLst>
          </p:cNvPr>
          <p:cNvSpPr/>
          <p:nvPr/>
        </p:nvSpPr>
        <p:spPr>
          <a:xfrm>
            <a:off x="10063163" y="6819984"/>
            <a:ext cx="1619250" cy="1413703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0A4E8B60-330B-1FB5-0943-17C11E0380CE}"/>
              </a:ext>
            </a:extLst>
          </p:cNvPr>
          <p:cNvSpPr/>
          <p:nvPr/>
        </p:nvSpPr>
        <p:spPr>
          <a:xfrm>
            <a:off x="20059650" y="6793093"/>
            <a:ext cx="1619250" cy="14405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2DD160-6B4C-56D8-D2E7-C83E10664427}"/>
              </a:ext>
            </a:extLst>
          </p:cNvPr>
          <p:cNvSpPr txBox="1"/>
          <p:nvPr/>
        </p:nvSpPr>
        <p:spPr>
          <a:xfrm>
            <a:off x="22412325" y="4244805"/>
            <a:ext cx="66579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3). Wait Until Leader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A6E0309-BA76-2C37-BF97-83DA109EC708}"/>
              </a:ext>
            </a:extLst>
          </p:cNvPr>
          <p:cNvGrpSpPr/>
          <p:nvPr/>
        </p:nvGrpSpPr>
        <p:grpSpPr>
          <a:xfrm>
            <a:off x="21839238" y="5567707"/>
            <a:ext cx="7905750" cy="3770158"/>
            <a:chOff x="12363450" y="4232467"/>
            <a:chExt cx="9277350" cy="5044882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2E450F5-1EAF-54A9-2874-39442B8A056D}"/>
                </a:ext>
              </a:extLst>
            </p:cNvPr>
            <p:cNvSpPr/>
            <p:nvPr/>
          </p:nvSpPr>
          <p:spPr>
            <a:xfrm>
              <a:off x="12363450" y="4232467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E3BF374-E77C-233B-E92F-4758AAD130B1}"/>
                </a:ext>
              </a:extLst>
            </p:cNvPr>
            <p:cNvGrpSpPr/>
            <p:nvPr/>
          </p:nvGrpSpPr>
          <p:grpSpPr>
            <a:xfrm>
              <a:off x="12515850" y="4385666"/>
              <a:ext cx="9048750" cy="665187"/>
              <a:chOff x="914400" y="4442816"/>
              <a:chExt cx="9048750" cy="665187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381B058-26BE-BAB2-79EA-A327C72E9DF2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Wait &amp; Retry</a:t>
                </a:r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69B4F2D9-FA43-58DF-241A-59FC646CE5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108003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pic>
        <p:nvPicPr>
          <p:cNvPr id="39" name="Graphic 38" descr="Alarm Ringing outline">
            <a:extLst>
              <a:ext uri="{FF2B5EF4-FFF2-40B4-BE49-F238E27FC236}">
                <a16:creationId xmlns:a16="http://schemas.microsoft.com/office/drawing/2014/main" id="{A06521CE-5F19-1FCB-0285-A48FE6ADAE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117170" y="6665603"/>
            <a:ext cx="2105025" cy="2105025"/>
          </a:xfrm>
          <a:prstGeom prst="rect">
            <a:avLst/>
          </a:prstGeom>
        </p:spPr>
      </p:pic>
      <p:pic>
        <p:nvPicPr>
          <p:cNvPr id="41" name="Graphic 40" descr="Snooze outline">
            <a:extLst>
              <a:ext uri="{FF2B5EF4-FFF2-40B4-BE49-F238E27FC236}">
                <a16:creationId xmlns:a16="http://schemas.microsoft.com/office/drawing/2014/main" id="{05D21A47-FEE5-33CD-5150-CCD8C98322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468970" y="6417953"/>
            <a:ext cx="2105025" cy="2105025"/>
          </a:xfrm>
          <a:prstGeom prst="rect">
            <a:avLst/>
          </a:prstGeom>
        </p:spPr>
      </p:pic>
      <p:sp>
        <p:nvSpPr>
          <p:cNvPr id="43" name="Arrow: Right 42">
            <a:extLst>
              <a:ext uri="{FF2B5EF4-FFF2-40B4-BE49-F238E27FC236}">
                <a16:creationId xmlns:a16="http://schemas.microsoft.com/office/drawing/2014/main" id="{A2F234AD-9CCE-B2A5-133D-DF97E9659C03}"/>
              </a:ext>
            </a:extLst>
          </p:cNvPr>
          <p:cNvSpPr/>
          <p:nvPr/>
        </p:nvSpPr>
        <p:spPr>
          <a:xfrm>
            <a:off x="24806275" y="7169995"/>
            <a:ext cx="1828800" cy="981939"/>
          </a:xfrm>
          <a:prstGeom prst="rightArrow">
            <a:avLst/>
          </a:prstGeom>
          <a:solidFill>
            <a:schemeClr val="accent2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438DC7B-472C-B3E3-A01D-765CC1D09460}"/>
              </a:ext>
            </a:extLst>
          </p:cNvPr>
          <p:cNvGrpSpPr/>
          <p:nvPr/>
        </p:nvGrpSpPr>
        <p:grpSpPr>
          <a:xfrm>
            <a:off x="5122141" y="2633807"/>
            <a:ext cx="20817737" cy="1143120"/>
            <a:chOff x="4899243" y="2108980"/>
            <a:chExt cx="18821400" cy="1107996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4F17CA91-6386-7A67-939A-4EBB6125772E}"/>
                </a:ext>
              </a:extLst>
            </p:cNvPr>
            <p:cNvCxnSpPr>
              <a:cxnSpLocks/>
            </p:cNvCxnSpPr>
            <p:nvPr/>
          </p:nvCxnSpPr>
          <p:spPr>
            <a:xfrm>
              <a:off x="4953000" y="3108744"/>
              <a:ext cx="18649794" cy="0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14435C2-F2C9-4CB1-DFE2-178BD5F92F20}"/>
                </a:ext>
              </a:extLst>
            </p:cNvPr>
            <p:cNvSpPr txBox="1"/>
            <p:nvPr/>
          </p:nvSpPr>
          <p:spPr>
            <a:xfrm>
              <a:off x="4899243" y="2108980"/>
              <a:ext cx="188214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600" b="1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i). Leader Election Coordinated Across HPC Jobs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415DE28-1A6C-8362-F4F8-741555000F08}"/>
              </a:ext>
            </a:extLst>
          </p:cNvPr>
          <p:cNvGrpSpPr/>
          <p:nvPr/>
        </p:nvGrpSpPr>
        <p:grpSpPr>
          <a:xfrm>
            <a:off x="5280891" y="14525624"/>
            <a:ext cx="18859500" cy="1107996"/>
            <a:chOff x="4953000" y="2082800"/>
            <a:chExt cx="18859500" cy="1107996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A8FEBA9-B1C8-76B3-0138-002F653CAB81}"/>
                </a:ext>
              </a:extLst>
            </p:cNvPr>
            <p:cNvCxnSpPr>
              <a:cxnSpLocks/>
            </p:cNvCxnSpPr>
            <p:nvPr/>
          </p:nvCxnSpPr>
          <p:spPr>
            <a:xfrm>
              <a:off x="4953000" y="3108744"/>
              <a:ext cx="18649794" cy="0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C04D604-5EE5-1D96-7D9A-76504BC438EE}"/>
                </a:ext>
              </a:extLst>
            </p:cNvPr>
            <p:cNvSpPr txBox="1"/>
            <p:nvPr/>
          </p:nvSpPr>
          <p:spPr>
            <a:xfrm>
              <a:off x="4991100" y="2082800"/>
              <a:ext cx="188214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600" b="1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ii). Hosting Node of Leader Owns the OS Lock</a:t>
              </a:r>
            </a:p>
          </p:txBody>
        </p:sp>
      </p:grp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9F6B5165-62F2-45C5-C2B0-48352441AE46}"/>
              </a:ext>
            </a:extLst>
          </p:cNvPr>
          <p:cNvSpPr/>
          <p:nvPr/>
        </p:nvSpPr>
        <p:spPr>
          <a:xfrm>
            <a:off x="188191" y="15722603"/>
            <a:ext cx="29851350" cy="5918192"/>
          </a:xfrm>
          <a:prstGeom prst="roundRect">
            <a:avLst/>
          </a:prstGeom>
          <a:solidFill>
            <a:srgbClr val="E6EAED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A58CC51-694B-6303-6B7E-1DE40BCD20AB}"/>
              </a:ext>
            </a:extLst>
          </p:cNvPr>
          <p:cNvSpPr txBox="1"/>
          <p:nvPr/>
        </p:nvSpPr>
        <p:spPr>
          <a:xfrm>
            <a:off x="-289708" y="15965172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4). Acquire File Lock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304CF6E-B326-E521-B77C-B4D210C04B06}"/>
              </a:ext>
            </a:extLst>
          </p:cNvPr>
          <p:cNvSpPr txBox="1"/>
          <p:nvPr/>
        </p:nvSpPr>
        <p:spPr>
          <a:xfrm>
            <a:off x="10337075" y="15965172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5). Execute Work Under Lock</a:t>
            </a:r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AE345429-4113-2B59-9FBD-F7FEC818DA28}"/>
              </a:ext>
            </a:extLst>
          </p:cNvPr>
          <p:cNvSpPr/>
          <p:nvPr/>
        </p:nvSpPr>
        <p:spPr>
          <a:xfrm>
            <a:off x="8768936" y="18207958"/>
            <a:ext cx="1979305" cy="1413703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3" name="Arrow: Right 92">
            <a:extLst>
              <a:ext uri="{FF2B5EF4-FFF2-40B4-BE49-F238E27FC236}">
                <a16:creationId xmlns:a16="http://schemas.microsoft.com/office/drawing/2014/main" id="{9A92287C-9ADC-C5E8-F927-2ABB19F06159}"/>
              </a:ext>
            </a:extLst>
          </p:cNvPr>
          <p:cNvSpPr/>
          <p:nvPr/>
        </p:nvSpPr>
        <p:spPr>
          <a:xfrm>
            <a:off x="18640529" y="18100710"/>
            <a:ext cx="2242312" cy="14405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C31B3FA-AD41-3E67-4907-5195F0A775AF}"/>
              </a:ext>
            </a:extLst>
          </p:cNvPr>
          <p:cNvSpPr txBox="1"/>
          <p:nvPr/>
        </p:nvSpPr>
        <p:spPr>
          <a:xfrm>
            <a:off x="22365661" y="15965172"/>
            <a:ext cx="66579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6). Dequeue Mutex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BEB964F5-01B5-3919-71C3-72F33580F0AB}"/>
              </a:ext>
            </a:extLst>
          </p:cNvPr>
          <p:cNvGrpSpPr/>
          <p:nvPr/>
        </p:nvGrpSpPr>
        <p:grpSpPr>
          <a:xfrm>
            <a:off x="21325242" y="16779966"/>
            <a:ext cx="8392038" cy="4236049"/>
            <a:chOff x="12363450" y="4232467"/>
            <a:chExt cx="9277350" cy="5044882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D1D4EDCD-A5D1-874D-2060-507433C888D5}"/>
                </a:ext>
              </a:extLst>
            </p:cNvPr>
            <p:cNvSpPr/>
            <p:nvPr/>
          </p:nvSpPr>
          <p:spPr>
            <a:xfrm>
              <a:off x="12363450" y="4232467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C38E234-E7AC-FB28-218C-CCAB9770B5A1}"/>
                </a:ext>
              </a:extLst>
            </p:cNvPr>
            <p:cNvGrpSpPr/>
            <p:nvPr/>
          </p:nvGrpSpPr>
          <p:grpSpPr>
            <a:xfrm>
              <a:off x="12515850" y="4385666"/>
              <a:ext cx="9048750" cy="680484"/>
              <a:chOff x="914400" y="4442816"/>
              <a:chExt cx="9048750" cy="680484"/>
            </a:xfrm>
          </p:grpSpPr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D892C4A-C8B2-E3B3-2102-90A87CEA6E3D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Clear Central then Election Lock</a:t>
                </a:r>
              </a:p>
            </p:txBody>
          </p: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8F177FCE-694E-26FC-3BDF-DA48A7D41C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123300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sp>
        <p:nvSpPr>
          <p:cNvPr id="113" name="Arrow: Right 112">
            <a:extLst>
              <a:ext uri="{FF2B5EF4-FFF2-40B4-BE49-F238E27FC236}">
                <a16:creationId xmlns:a16="http://schemas.microsoft.com/office/drawing/2014/main" id="{5235A552-AB28-96C9-9D25-FE98C601670A}"/>
              </a:ext>
            </a:extLst>
          </p:cNvPr>
          <p:cNvSpPr/>
          <p:nvPr/>
        </p:nvSpPr>
        <p:spPr>
          <a:xfrm rot="5400000">
            <a:off x="13797988" y="12011264"/>
            <a:ext cx="2656859" cy="161925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824AFED-603D-7D8E-5651-3778581935FE}"/>
              </a:ext>
            </a:extLst>
          </p:cNvPr>
          <p:cNvGrpSpPr/>
          <p:nvPr/>
        </p:nvGrpSpPr>
        <p:grpSpPr>
          <a:xfrm>
            <a:off x="734291" y="16906275"/>
            <a:ext cx="7521575" cy="3842943"/>
            <a:chOff x="609600" y="4232468"/>
            <a:chExt cx="9277350" cy="5044882"/>
          </a:xfrm>
        </p:grpSpPr>
        <p:sp>
          <p:nvSpPr>
            <p:cNvPr id="108" name="Rectangle: Rounded Corners 107">
              <a:extLst>
                <a:ext uri="{FF2B5EF4-FFF2-40B4-BE49-F238E27FC236}">
                  <a16:creationId xmlns:a16="http://schemas.microsoft.com/office/drawing/2014/main" id="{63642D35-62E7-4F25-2914-F20F10C76A8C}"/>
                </a:ext>
              </a:extLst>
            </p:cNvPr>
            <p:cNvSpPr/>
            <p:nvPr/>
          </p:nvSpPr>
          <p:spPr>
            <a:xfrm>
              <a:off x="609600" y="4232468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3200" b="1" dirty="0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4C706FEC-6D43-6EF3-8962-CE9C89EDB1A5}"/>
                </a:ext>
              </a:extLst>
            </p:cNvPr>
            <p:cNvGrpSpPr/>
            <p:nvPr/>
          </p:nvGrpSpPr>
          <p:grpSpPr>
            <a:xfrm>
              <a:off x="609600" y="4385666"/>
              <a:ext cx="9048750" cy="689940"/>
              <a:chOff x="914400" y="4442816"/>
              <a:chExt cx="9048750" cy="689940"/>
            </a:xfrm>
          </p:grpSpPr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5FB26764-FE71-E2BA-81BD-1A41BC916065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FileChannel Lock on Central LockFile</a:t>
                </a:r>
              </a:p>
            </p:txBody>
          </p: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D438D6CE-796E-F0D7-2297-DD9F25BC03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97160" y="5132756"/>
                <a:ext cx="8032762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E5359AA-2A23-D204-F4FF-03D4CC2A86B1}"/>
              </a:ext>
            </a:extLst>
          </p:cNvPr>
          <p:cNvGrpSpPr/>
          <p:nvPr/>
        </p:nvGrpSpPr>
        <p:grpSpPr>
          <a:xfrm>
            <a:off x="2801215" y="17754707"/>
            <a:ext cx="3140911" cy="2301407"/>
            <a:chOff x="1939924" y="18109350"/>
            <a:chExt cx="3573819" cy="2536825"/>
          </a:xfrm>
        </p:grpSpPr>
        <p:pic>
          <p:nvPicPr>
            <p:cNvPr id="120" name="Graphic 119" descr="Lock outline">
              <a:extLst>
                <a:ext uri="{FF2B5EF4-FFF2-40B4-BE49-F238E27FC236}">
                  <a16:creationId xmlns:a16="http://schemas.microsoft.com/office/drawing/2014/main" id="{7B630FEC-92E0-4756-D730-8992B2121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836986" y="18584802"/>
              <a:ext cx="1676757" cy="1676757"/>
            </a:xfrm>
            <a:prstGeom prst="rect">
              <a:avLst/>
            </a:prstGeom>
          </p:spPr>
        </p:pic>
        <p:pic>
          <p:nvPicPr>
            <p:cNvPr id="121" name="Graphic 120" descr="Document with solid fill">
              <a:extLst>
                <a:ext uri="{FF2B5EF4-FFF2-40B4-BE49-F238E27FC236}">
                  <a16:creationId xmlns:a16="http://schemas.microsoft.com/office/drawing/2014/main" id="{9A7FF259-FA79-C04A-27C7-5666BA552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939924" y="18109350"/>
              <a:ext cx="2536825" cy="2536825"/>
            </a:xfrm>
            <a:prstGeom prst="rect">
              <a:avLst/>
            </a:prstGeom>
          </p:spPr>
        </p:pic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58AADD96-942D-E95B-B1E7-25F4E2905E02}"/>
              </a:ext>
            </a:extLst>
          </p:cNvPr>
          <p:cNvGrpSpPr/>
          <p:nvPr/>
        </p:nvGrpSpPr>
        <p:grpSpPr>
          <a:xfrm>
            <a:off x="11122891" y="16906275"/>
            <a:ext cx="7023100" cy="3919143"/>
            <a:chOff x="12363450" y="4232467"/>
            <a:chExt cx="9277350" cy="5044882"/>
          </a:xfrm>
        </p:grpSpPr>
        <p:sp>
          <p:nvSpPr>
            <p:cNvPr id="104" name="Rectangle: Rounded Corners 103">
              <a:extLst>
                <a:ext uri="{FF2B5EF4-FFF2-40B4-BE49-F238E27FC236}">
                  <a16:creationId xmlns:a16="http://schemas.microsoft.com/office/drawing/2014/main" id="{8CE5F9D7-906C-B109-E9C5-E0D38401E58F}"/>
                </a:ext>
              </a:extLst>
            </p:cNvPr>
            <p:cNvSpPr/>
            <p:nvPr/>
          </p:nvSpPr>
          <p:spPr>
            <a:xfrm>
              <a:off x="12363450" y="4232467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EFB25828-2711-D2B1-17B2-15EC5A261F83}"/>
                </a:ext>
              </a:extLst>
            </p:cNvPr>
            <p:cNvGrpSpPr/>
            <p:nvPr/>
          </p:nvGrpSpPr>
          <p:grpSpPr>
            <a:xfrm>
              <a:off x="12515850" y="4385666"/>
              <a:ext cx="9048750" cy="692714"/>
              <a:chOff x="914400" y="4442816"/>
              <a:chExt cx="9048750" cy="692714"/>
            </a:xfrm>
          </p:grpSpPr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401BD3F1-B161-5045-06D8-A48535812444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Run Job</a:t>
                </a:r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F6133D7E-94E1-7137-40DE-0C6131EF11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69" y="5135530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D7E449F-558E-2A82-83D0-0DD18C718BCB}"/>
              </a:ext>
            </a:extLst>
          </p:cNvPr>
          <p:cNvGrpSpPr/>
          <p:nvPr/>
        </p:nvGrpSpPr>
        <p:grpSpPr>
          <a:xfrm>
            <a:off x="12985467" y="17592118"/>
            <a:ext cx="4074674" cy="2638970"/>
            <a:chOff x="15089626" y="18117665"/>
            <a:chExt cx="2911547" cy="2214581"/>
          </a:xfrm>
        </p:grpSpPr>
        <p:pic>
          <p:nvPicPr>
            <p:cNvPr id="130" name="Graphic 129" descr="Database outline">
              <a:extLst>
                <a:ext uri="{FF2B5EF4-FFF2-40B4-BE49-F238E27FC236}">
                  <a16:creationId xmlns:a16="http://schemas.microsoft.com/office/drawing/2014/main" id="{A1B2ADF8-6F5C-75F1-C094-9E6AE9F71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5089626" y="18117665"/>
              <a:ext cx="2214581" cy="2214581"/>
            </a:xfrm>
            <a:prstGeom prst="rect">
              <a:avLst/>
            </a:prstGeom>
          </p:spPr>
        </p:pic>
        <p:pic>
          <p:nvPicPr>
            <p:cNvPr id="131" name="Graphic 130" descr="Gears outline">
              <a:extLst>
                <a:ext uri="{FF2B5EF4-FFF2-40B4-BE49-F238E27FC236}">
                  <a16:creationId xmlns:a16="http://schemas.microsoft.com/office/drawing/2014/main" id="{728D8DAC-7377-4510-7121-8CD0C52F692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6511777" y="18356709"/>
              <a:ext cx="1489396" cy="1489396"/>
            </a:xfrm>
            <a:prstGeom prst="rect">
              <a:avLst/>
            </a:prstGeom>
          </p:spPr>
        </p:pic>
      </p:grpSp>
      <p:sp>
        <p:nvSpPr>
          <p:cNvPr id="138" name="Minus Sign 137">
            <a:extLst>
              <a:ext uri="{FF2B5EF4-FFF2-40B4-BE49-F238E27FC236}">
                <a16:creationId xmlns:a16="http://schemas.microsoft.com/office/drawing/2014/main" id="{C48D16BE-8A2E-3ACD-419B-BB62C0A67363}"/>
              </a:ext>
            </a:extLst>
          </p:cNvPr>
          <p:cNvSpPr/>
          <p:nvPr/>
        </p:nvSpPr>
        <p:spPr>
          <a:xfrm rot="2461338">
            <a:off x="25800995" y="18645329"/>
            <a:ext cx="4601827" cy="763631"/>
          </a:xfrm>
          <a:prstGeom prst="mathMin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E2729AB-7D31-09EC-B6D4-DD02446E99F7}"/>
              </a:ext>
            </a:extLst>
          </p:cNvPr>
          <p:cNvGrpSpPr/>
          <p:nvPr/>
        </p:nvGrpSpPr>
        <p:grpSpPr>
          <a:xfrm>
            <a:off x="20892445" y="18037170"/>
            <a:ext cx="8251657" cy="2105025"/>
            <a:chOff x="20920154" y="17681571"/>
            <a:chExt cx="8251657" cy="2105025"/>
          </a:xfrm>
        </p:grpSpPr>
        <p:sp>
          <p:nvSpPr>
            <p:cNvPr id="99" name="Arrow: Right 98">
              <a:extLst>
                <a:ext uri="{FF2B5EF4-FFF2-40B4-BE49-F238E27FC236}">
                  <a16:creationId xmlns:a16="http://schemas.microsoft.com/office/drawing/2014/main" id="{9BFB6834-0C7D-E9A4-ED0F-4C588162AC49}"/>
                </a:ext>
              </a:extLst>
            </p:cNvPr>
            <p:cNvSpPr/>
            <p:nvPr/>
          </p:nvSpPr>
          <p:spPr>
            <a:xfrm>
              <a:off x="24851915" y="18210209"/>
              <a:ext cx="1828800" cy="981939"/>
            </a:xfrm>
            <a:prstGeom prst="rightArrow">
              <a:avLst/>
            </a:prstGeom>
            <a:solidFill>
              <a:schemeClr val="accent2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8D3338D0-9143-5ED2-2FAA-962AD88F8957}"/>
                </a:ext>
              </a:extLst>
            </p:cNvPr>
            <p:cNvGrpSpPr/>
            <p:nvPr/>
          </p:nvGrpSpPr>
          <p:grpSpPr>
            <a:xfrm>
              <a:off x="21995031" y="17702978"/>
              <a:ext cx="2427822" cy="1996402"/>
              <a:chOff x="26375777" y="17930059"/>
              <a:chExt cx="3573819" cy="2536825"/>
            </a:xfrm>
          </p:grpSpPr>
          <p:pic>
            <p:nvPicPr>
              <p:cNvPr id="133" name="Graphic 132" descr="Lock outline">
                <a:extLst>
                  <a:ext uri="{FF2B5EF4-FFF2-40B4-BE49-F238E27FC236}">
                    <a16:creationId xmlns:a16="http://schemas.microsoft.com/office/drawing/2014/main" id="{A193D7A6-EA2C-4556-C775-0E301B7079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8272839" y="18405511"/>
                <a:ext cx="1676757" cy="1676757"/>
              </a:xfrm>
              <a:prstGeom prst="rect">
                <a:avLst/>
              </a:prstGeom>
            </p:spPr>
          </p:pic>
          <p:pic>
            <p:nvPicPr>
              <p:cNvPr id="134" name="Graphic 133" descr="Document with solid fill">
                <a:extLst>
                  <a:ext uri="{FF2B5EF4-FFF2-40B4-BE49-F238E27FC236}">
                    <a16:creationId xmlns:a16="http://schemas.microsoft.com/office/drawing/2014/main" id="{45B2C3B3-84ED-56A1-57A4-39CBF959ED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26375777" y="17930059"/>
                <a:ext cx="2536825" cy="2536825"/>
              </a:xfrm>
              <a:prstGeom prst="rect">
                <a:avLst/>
              </a:prstGeom>
            </p:spPr>
          </p:pic>
        </p:grpSp>
        <p:pic>
          <p:nvPicPr>
            <p:cNvPr id="97" name="Graphic 96" descr="Alarm Ringing outline">
              <a:extLst>
                <a:ext uri="{FF2B5EF4-FFF2-40B4-BE49-F238E27FC236}">
                  <a16:creationId xmlns:a16="http://schemas.microsoft.com/office/drawing/2014/main" id="{7DD1699D-8A5C-2C89-E485-D1DE7EA63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27066786" y="17681571"/>
              <a:ext cx="2105025" cy="2105025"/>
            </a:xfrm>
            <a:prstGeom prst="rect">
              <a:avLst/>
            </a:prstGeom>
          </p:spPr>
        </p:pic>
        <p:sp>
          <p:nvSpPr>
            <p:cNvPr id="141" name="Minus Sign 140">
              <a:extLst>
                <a:ext uri="{FF2B5EF4-FFF2-40B4-BE49-F238E27FC236}">
                  <a16:creationId xmlns:a16="http://schemas.microsoft.com/office/drawing/2014/main" id="{D1BB6AE0-ED32-E388-CB7C-69E78586C5B7}"/>
                </a:ext>
              </a:extLst>
            </p:cNvPr>
            <p:cNvSpPr/>
            <p:nvPr/>
          </p:nvSpPr>
          <p:spPr>
            <a:xfrm rot="2461338">
              <a:off x="20920154" y="18264330"/>
              <a:ext cx="4601827" cy="763631"/>
            </a:xfrm>
            <a:prstGeom prst="mathMinus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779D6EF5-6E71-750C-C968-275F246CB369}"/>
              </a:ext>
            </a:extLst>
          </p:cNvPr>
          <p:cNvSpPr txBox="1"/>
          <p:nvPr/>
        </p:nvSpPr>
        <p:spPr>
          <a:xfrm>
            <a:off x="13082300" y="20255632"/>
            <a:ext cx="30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Read/Write ItemStore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0163D558-D9CF-EB15-A543-67E9B490F9E6}"/>
              </a:ext>
            </a:extLst>
          </p:cNvPr>
          <p:cNvSpPr txBox="1"/>
          <p:nvPr/>
        </p:nvSpPr>
        <p:spPr>
          <a:xfrm>
            <a:off x="24093343" y="8745858"/>
            <a:ext cx="30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Commits HostLock File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88BA0E4-2698-AA4F-33BC-437205A939A7}"/>
              </a:ext>
            </a:extLst>
          </p:cNvPr>
          <p:cNvSpPr txBox="1"/>
          <p:nvPr/>
        </p:nvSpPr>
        <p:spPr>
          <a:xfrm>
            <a:off x="22975262" y="20443592"/>
            <a:ext cx="55263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Clears lock files for the next elected leader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B8E43E1-7436-194E-48AB-E1CA8307367E}"/>
              </a:ext>
            </a:extLst>
          </p:cNvPr>
          <p:cNvSpPr txBox="1"/>
          <p:nvPr/>
        </p:nvSpPr>
        <p:spPr>
          <a:xfrm>
            <a:off x="2527706" y="20119124"/>
            <a:ext cx="30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Host holds OS lock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D60B3236-5E5F-740E-7BF1-6307428B9C13}"/>
              </a:ext>
            </a:extLst>
          </p:cNvPr>
          <p:cNvSpPr txBox="1"/>
          <p:nvPr/>
        </p:nvSpPr>
        <p:spPr>
          <a:xfrm>
            <a:off x="12017069" y="6417953"/>
            <a:ext cx="7519788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1769689749.HostA-InstanceA.json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1769689809.HostA-InstanceB.json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1769689869.HostB-InstanceZ.json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1769689929.HostR-InstanceG.json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1769689989.HostA-InstanceF.json</a:t>
            </a:r>
          </a:p>
        </p:txBody>
      </p:sp>
    </p:spTree>
    <p:extLst>
      <p:ext uri="{BB962C8B-B14F-4D97-AF65-F5344CB8AC3E}">
        <p14:creationId xmlns:p14="http://schemas.microsoft.com/office/powerpoint/2010/main" val="4175615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2535" y="4336577"/>
            <a:ext cx="19521399" cy="237851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      to Pilot Job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3B5530-C2C5-432B-8650-01D5F92A1DA7}"/>
              </a:ext>
            </a:extLst>
          </p:cNvPr>
          <p:cNvSpPr/>
          <p:nvPr/>
        </p:nvSpPr>
        <p:spPr>
          <a:xfrm>
            <a:off x="6404293" y="7562056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Pilot Manager</a:t>
            </a:r>
          </a:p>
          <a:p>
            <a:pPr algn="ctr"/>
            <a:r>
              <a:rPr lang="en-IE" sz="3600" b="1" i="1" dirty="0"/>
              <a:t>(Provisioning)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C7CA26-DC3F-D8BF-1823-0FC5B1F42429}"/>
              </a:ext>
            </a:extLst>
          </p:cNvPr>
          <p:cNvSpPr/>
          <p:nvPr/>
        </p:nvSpPr>
        <p:spPr>
          <a:xfrm>
            <a:off x="6404293" y="14846776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Delegate to Schedulers</a:t>
            </a:r>
          </a:p>
          <a:p>
            <a:pPr algn="ctr"/>
            <a:r>
              <a:rPr lang="en-IE" sz="3600" b="1" i="1" dirty="0"/>
              <a:t>(SLURM, K8s etc)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1EACF5-381B-A801-9C56-2B9AA25037CB}"/>
              </a:ext>
            </a:extLst>
          </p:cNvPr>
          <p:cNvSpPr/>
          <p:nvPr/>
        </p:nvSpPr>
        <p:spPr>
          <a:xfrm>
            <a:off x="12449493" y="7551896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Workload Manager</a:t>
            </a:r>
          </a:p>
          <a:p>
            <a:pPr algn="ctr"/>
            <a:r>
              <a:rPr lang="en-IE" sz="3600" b="1" i="1" dirty="0"/>
              <a:t>(Dispatching)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E2FC9-AA1E-2152-1294-D9B20D8F0939}"/>
              </a:ext>
            </a:extLst>
          </p:cNvPr>
          <p:cNvSpPr/>
          <p:nvPr/>
        </p:nvSpPr>
        <p:spPr>
          <a:xfrm>
            <a:off x="12449493" y="14836616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Manager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Repository</a:t>
            </a:r>
            <a:endParaRPr lang="en-IE" sz="3600" b="1" i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59B431-D851-B80B-F782-CD4578C86502}"/>
              </a:ext>
            </a:extLst>
          </p:cNvPr>
          <p:cNvSpPr/>
          <p:nvPr/>
        </p:nvSpPr>
        <p:spPr>
          <a:xfrm>
            <a:off x="18515013" y="7562056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 Manager</a:t>
            </a:r>
          </a:p>
          <a:p>
            <a:pPr algn="ctr"/>
            <a:r>
              <a:rPr lang="en-IE" sz="3600" b="1" i="1" dirty="0"/>
              <a:t>(Execution)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5B73F-21AD-3A0B-09DF-443A8870625A}"/>
              </a:ext>
            </a:extLst>
          </p:cNvPr>
          <p:cNvSpPr/>
          <p:nvPr/>
        </p:nvSpPr>
        <p:spPr>
          <a:xfrm>
            <a:off x="18515013" y="14846776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Client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Engine</a:t>
            </a:r>
            <a:endParaRPr lang="en-IE" sz="3600" b="1" i="1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E8F5C0A-A32A-C17F-9A9A-2B3977313AA9}"/>
              </a:ext>
            </a:extLst>
          </p:cNvPr>
          <p:cNvSpPr/>
          <p:nvPr/>
        </p:nvSpPr>
        <p:spPr>
          <a:xfrm>
            <a:off x="8395653" y="11525909"/>
            <a:ext cx="1178560" cy="389128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27699BF-8C58-A803-0A60-513BDDC3A7C0}"/>
              </a:ext>
            </a:extLst>
          </p:cNvPr>
          <p:cNvSpPr/>
          <p:nvPr/>
        </p:nvSpPr>
        <p:spPr>
          <a:xfrm>
            <a:off x="14420534" y="11537012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8DFD7E-825B-38AA-50A1-48C819D883EB}"/>
              </a:ext>
            </a:extLst>
          </p:cNvPr>
          <p:cNvSpPr/>
          <p:nvPr/>
        </p:nvSpPr>
        <p:spPr>
          <a:xfrm>
            <a:off x="20526694" y="11525907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7461" y="3629119"/>
            <a:ext cx="5368986" cy="47742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2559AEC-E5C8-6D5D-F208-A00EF8296838}"/>
              </a:ext>
            </a:extLst>
          </p:cNvPr>
          <p:cNvGrpSpPr/>
          <p:nvPr/>
        </p:nvGrpSpPr>
        <p:grpSpPr>
          <a:xfrm>
            <a:off x="6405851" y="6764933"/>
            <a:ext cx="17369977" cy="11751267"/>
            <a:chOff x="286030" y="2947559"/>
            <a:chExt cx="17369977" cy="11751267"/>
          </a:xfrm>
        </p:grpSpPr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A0D5D681-EC19-52DB-E992-0E57F0AEFD3A}"/>
                </a:ext>
              </a:extLst>
            </p:cNvPr>
            <p:cNvSpPr/>
            <p:nvPr/>
          </p:nvSpPr>
          <p:spPr>
            <a:xfrm>
              <a:off x="3853559" y="2947559"/>
              <a:ext cx="5147728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600" b="1" dirty="0"/>
                <a:t>TaskTide Client</a:t>
              </a:r>
            </a:p>
          </p:txBody>
        </p:sp>
        <p:sp>
          <p:nvSpPr>
            <p:cNvPr id="8" name="Flowchart: Alternate Process 7">
              <a:extLst>
                <a:ext uri="{FF2B5EF4-FFF2-40B4-BE49-F238E27FC236}">
                  <a16:creationId xmlns:a16="http://schemas.microsoft.com/office/drawing/2014/main" id="{C9B222C9-BBBA-0888-EF26-AA904B46F6C6}"/>
                </a:ext>
              </a:extLst>
            </p:cNvPr>
            <p:cNvSpPr/>
            <p:nvPr/>
          </p:nvSpPr>
          <p:spPr>
            <a:xfrm>
              <a:off x="1156998" y="4722080"/>
              <a:ext cx="380688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ManagerClient</a:t>
              </a:r>
              <a:endParaRPr lang="en-IE" sz="3600" b="1" dirty="0"/>
            </a:p>
          </p:txBody>
        </p:sp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0088A710-20B0-2142-B5AA-A176FCC79125}"/>
                </a:ext>
              </a:extLst>
            </p:cNvPr>
            <p:cNvSpPr/>
            <p:nvPr/>
          </p:nvSpPr>
          <p:spPr>
            <a:xfrm>
              <a:off x="7274334" y="4732167"/>
              <a:ext cx="3454567" cy="103468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EngineClient</a:t>
              </a:r>
            </a:p>
          </p:txBody>
        </p:sp>
        <p:sp>
          <p:nvSpPr>
            <p:cNvPr id="10" name="Flowchart: Alternate Process 9">
              <a:extLst>
                <a:ext uri="{FF2B5EF4-FFF2-40B4-BE49-F238E27FC236}">
                  <a16:creationId xmlns:a16="http://schemas.microsoft.com/office/drawing/2014/main" id="{C175F32A-56DF-9F7C-9A94-1E7802433A90}"/>
                </a:ext>
              </a:extLst>
            </p:cNvPr>
            <p:cNvSpPr/>
            <p:nvPr/>
          </p:nvSpPr>
          <p:spPr>
            <a:xfrm>
              <a:off x="3579677" y="6443544"/>
              <a:ext cx="542160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TaskTideService</a:t>
              </a:r>
            </a:p>
          </p:txBody>
        </p:sp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BB1892BD-1701-A0BD-82BF-2DE970D0462F}"/>
                </a:ext>
              </a:extLst>
            </p:cNvPr>
            <p:cNvSpPr/>
            <p:nvPr/>
          </p:nvSpPr>
          <p:spPr>
            <a:xfrm>
              <a:off x="3760249" y="8174651"/>
              <a:ext cx="5147734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TaskTideRepository</a:t>
              </a:r>
            </a:p>
          </p:txBody>
        </p:sp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96FC22DE-6644-4604-5F43-438B9F4B6E59}"/>
                </a:ext>
              </a:extLst>
            </p:cNvPr>
            <p:cNvSpPr/>
            <p:nvPr/>
          </p:nvSpPr>
          <p:spPr>
            <a:xfrm>
              <a:off x="286030" y="11070896"/>
              <a:ext cx="496445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TemplateRepository</a:t>
              </a:r>
              <a:endParaRPr lang="en-IE" sz="3200" b="1" dirty="0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D8992BE9-744B-1CD2-6A96-DB2DD3646F8C}"/>
                </a:ext>
              </a:extLst>
            </p:cNvPr>
            <p:cNvSpPr/>
            <p:nvPr/>
          </p:nvSpPr>
          <p:spPr>
            <a:xfrm>
              <a:off x="9595925" y="11031958"/>
              <a:ext cx="514773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ItemStoreRepository</a:t>
              </a:r>
            </a:p>
          </p:txBody>
        </p:sp>
        <p:sp>
          <p:nvSpPr>
            <p:cNvPr id="14" name="Flowchart: Alternate Process 13">
              <a:extLst>
                <a:ext uri="{FF2B5EF4-FFF2-40B4-BE49-F238E27FC236}">
                  <a16:creationId xmlns:a16="http://schemas.microsoft.com/office/drawing/2014/main" id="{8CC51A4A-40B6-E63F-1196-E1FC3D71AF33}"/>
                </a:ext>
              </a:extLst>
            </p:cNvPr>
            <p:cNvSpPr/>
            <p:nvPr/>
          </p:nvSpPr>
          <p:spPr>
            <a:xfrm>
              <a:off x="5446221" y="10407884"/>
              <a:ext cx="4010563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JpaRepository</a:t>
              </a:r>
            </a:p>
          </p:txBody>
        </p:sp>
        <p:pic>
          <p:nvPicPr>
            <p:cNvPr id="16" name="Picture 15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E1FE6B74-6CAE-A5DB-C447-6DF730DC7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5575" y="12691507"/>
              <a:ext cx="2990162" cy="1880368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64A8C982-B01F-7D8D-B23D-07252774B370}"/>
                </a:ext>
              </a:extLst>
            </p:cNvPr>
            <p:cNvGrpSpPr/>
            <p:nvPr/>
          </p:nvGrpSpPr>
          <p:grpSpPr>
            <a:xfrm>
              <a:off x="10419762" y="12535944"/>
              <a:ext cx="4323877" cy="2162882"/>
              <a:chOff x="7840081" y="11304872"/>
              <a:chExt cx="3773478" cy="1545522"/>
            </a:xfrm>
          </p:grpSpPr>
          <p:pic>
            <p:nvPicPr>
              <p:cNvPr id="18" name="Picture 17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D166C88F-651A-24E5-32CC-193FBA75BD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40081" y="1130487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22" name="Picture 21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51A207A8-6E9F-F4A9-834A-7B02AE0759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79476" y="1193335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9F910E2-88BD-CE09-B520-B2E23EE50AB1}"/>
                  </a:ext>
                </a:extLst>
              </p:cNvPr>
              <p:cNvCxnSpPr/>
              <p:nvPr/>
            </p:nvCxnSpPr>
            <p:spPr>
              <a:xfrm flipH="1">
                <a:off x="8817871" y="1132531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3D0CB47-95C9-9287-B513-23AE7CF501B2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3805565"/>
              <a:ext cx="0" cy="90951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3503602-132C-5126-AC48-8B5C00F51FA5}"/>
                </a:ext>
              </a:extLst>
            </p:cNvPr>
            <p:cNvCxnSpPr>
              <a:cxnSpLocks/>
            </p:cNvCxnSpPr>
            <p:nvPr/>
          </p:nvCxnSpPr>
          <p:spPr>
            <a:xfrm>
              <a:off x="7371381" y="9031982"/>
              <a:ext cx="0" cy="131058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7D1C97E-F6A7-6691-F346-63827B0E733B}"/>
                </a:ext>
              </a:extLst>
            </p:cNvPr>
            <p:cNvCxnSpPr>
              <a:cxnSpLocks/>
            </p:cNvCxnSpPr>
            <p:nvPr/>
          </p:nvCxnSpPr>
          <p:spPr>
            <a:xfrm>
              <a:off x="2891186" y="11923170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027E634-66C4-03B1-4E47-DE591C9A779D}"/>
                </a:ext>
              </a:extLst>
            </p:cNvPr>
            <p:cNvCxnSpPr>
              <a:cxnSpLocks/>
            </p:cNvCxnSpPr>
            <p:nvPr/>
          </p:nvCxnSpPr>
          <p:spPr>
            <a:xfrm>
              <a:off x="12097033" y="11917562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48609721-8B1B-69B1-984D-5BB20FDBBDEE}"/>
                </a:ext>
              </a:extLst>
            </p:cNvPr>
            <p:cNvSpPr/>
            <p:nvPr/>
          </p:nvSpPr>
          <p:spPr>
            <a:xfrm>
              <a:off x="11503719" y="4865338"/>
              <a:ext cx="3904789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TaskTideEngine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291F7EB-C9AA-46EE-6925-A606E5C11666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212164" y="8400611"/>
              <a:ext cx="0" cy="51803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0" name="Flowchart: Alternate Process 49">
              <a:extLst>
                <a:ext uri="{FF2B5EF4-FFF2-40B4-BE49-F238E27FC236}">
                  <a16:creationId xmlns:a16="http://schemas.microsoft.com/office/drawing/2014/main" id="{8B86FAB3-9839-C40F-481E-72C28CB9B5B7}"/>
                </a:ext>
              </a:extLst>
            </p:cNvPr>
            <p:cNvSpPr/>
            <p:nvPr/>
          </p:nvSpPr>
          <p:spPr>
            <a:xfrm>
              <a:off x="9508504" y="8200927"/>
              <a:ext cx="3904789" cy="86082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TaskTideModel</a:t>
              </a:r>
            </a:p>
          </p:txBody>
        </p:sp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93C3476F-BECE-5A31-EBB9-99B1E6D1940C}"/>
                </a:ext>
              </a:extLst>
            </p:cNvPr>
            <p:cNvSpPr/>
            <p:nvPr/>
          </p:nvSpPr>
          <p:spPr>
            <a:xfrm>
              <a:off x="14534290" y="7159815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Workflow</a:t>
              </a:r>
            </a:p>
          </p:txBody>
        </p:sp>
        <p:sp>
          <p:nvSpPr>
            <p:cNvPr id="52" name="Flowchart: Alternate Process 51">
              <a:extLst>
                <a:ext uri="{FF2B5EF4-FFF2-40B4-BE49-F238E27FC236}">
                  <a16:creationId xmlns:a16="http://schemas.microsoft.com/office/drawing/2014/main" id="{6D5BD79C-6023-5DD8-A46C-0D202E17ADC3}"/>
                </a:ext>
              </a:extLst>
            </p:cNvPr>
            <p:cNvSpPr/>
            <p:nvPr/>
          </p:nvSpPr>
          <p:spPr>
            <a:xfrm>
              <a:off x="14532171" y="8250628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Step</a:t>
              </a:r>
            </a:p>
          </p:txBody>
        </p:sp>
        <p:sp>
          <p:nvSpPr>
            <p:cNvPr id="53" name="Flowchart: Alternate Process 52">
              <a:extLst>
                <a:ext uri="{FF2B5EF4-FFF2-40B4-BE49-F238E27FC236}">
                  <a16:creationId xmlns:a16="http://schemas.microsoft.com/office/drawing/2014/main" id="{B0AF4BAB-8A23-C95C-6BC3-FB64F87E4C32}"/>
                </a:ext>
              </a:extLst>
            </p:cNvPr>
            <p:cNvSpPr/>
            <p:nvPr/>
          </p:nvSpPr>
          <p:spPr>
            <a:xfrm>
              <a:off x="14519301" y="9320245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WorkItem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4076E49-55B1-A2B0-BEFA-D6A05A2329E8}"/>
                </a:ext>
              </a:extLst>
            </p:cNvPr>
            <p:cNvCxnSpPr>
              <a:cxnSpLocks/>
            </p:cNvCxnSpPr>
            <p:nvPr/>
          </p:nvCxnSpPr>
          <p:spPr>
            <a:xfrm>
              <a:off x="8359074" y="3822657"/>
              <a:ext cx="0" cy="90951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B5D0FB4-8766-54ED-E1E9-22B3DD32B981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5762646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EBCAA57-D7A6-1D1B-285B-726ADA57EB72}"/>
                </a:ext>
              </a:extLst>
            </p:cNvPr>
            <p:cNvCxnSpPr>
              <a:cxnSpLocks/>
            </p:cNvCxnSpPr>
            <p:nvPr/>
          </p:nvCxnSpPr>
          <p:spPr>
            <a:xfrm>
              <a:off x="8405177" y="5803080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0F58DA43-F38B-0B4A-C3B4-BB4B0A4E9EE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474" y="7520030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F4A330A-7534-79EC-F357-B91BEED4D649}"/>
                </a:ext>
              </a:extLst>
            </p:cNvPr>
            <p:cNvCxnSpPr>
              <a:cxnSpLocks/>
            </p:cNvCxnSpPr>
            <p:nvPr/>
          </p:nvCxnSpPr>
          <p:spPr>
            <a:xfrm>
              <a:off x="10758389" y="5306500"/>
              <a:ext cx="63647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85DEC262-1AE3-204D-EB04-7473F4578BE5}"/>
                </a:ext>
              </a:extLst>
            </p:cNvPr>
            <p:cNvCxnSpPr>
              <a:cxnSpLocks/>
            </p:cNvCxnSpPr>
            <p:nvPr/>
          </p:nvCxnSpPr>
          <p:spPr>
            <a:xfrm>
              <a:off x="13492023" y="8678283"/>
              <a:ext cx="933104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732FD0A3-1DCF-0EEE-3198-2E002B0C1C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12176" y="7719531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ABBF4229-DE4C-521E-83D4-B150C1247918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3452610" y="8711685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C0456FA-F655-8574-5ED7-E378122881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7936" y="9031982"/>
              <a:ext cx="194" cy="197360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CD1BE198-26FE-5274-F102-FE3EBDC0655C}"/>
                </a:ext>
              </a:extLst>
            </p:cNvPr>
            <p:cNvCxnSpPr>
              <a:cxnSpLocks/>
            </p:cNvCxnSpPr>
            <p:nvPr/>
          </p:nvCxnSpPr>
          <p:spPr>
            <a:xfrm>
              <a:off x="8886407" y="8999546"/>
              <a:ext cx="3261614" cy="201064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DD7FEEE1-2571-A927-F403-D3F4FACDFA4F}"/>
                </a:ext>
              </a:extLst>
            </p:cNvPr>
            <p:cNvCxnSpPr>
              <a:cxnSpLocks/>
            </p:cNvCxnSpPr>
            <p:nvPr/>
          </p:nvCxnSpPr>
          <p:spPr>
            <a:xfrm>
              <a:off x="7390042" y="11268425"/>
              <a:ext cx="0" cy="1093607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06C3043E-52E1-11EF-906B-59D487C07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37175" y="12547234"/>
              <a:ext cx="2876550" cy="15906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3670</TotalTime>
  <Words>599</Words>
  <Application>Microsoft Office PowerPoint</Application>
  <PresentationFormat>Custom</PresentationFormat>
  <Paragraphs>182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Distributed Mutex Workflow</vt:lpstr>
      <vt:lpstr>Mapping of TaskTide Components     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256</cp:revision>
  <dcterms:created xsi:type="dcterms:W3CDTF">2025-07-22T15:08:42Z</dcterms:created>
  <dcterms:modified xsi:type="dcterms:W3CDTF">2026-01-30T15:30:51Z</dcterms:modified>
</cp:coreProperties>
</file>