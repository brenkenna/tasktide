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9" r:id="rId2"/>
    <p:sldId id="262" r:id="rId3"/>
    <p:sldId id="260" r:id="rId4"/>
    <p:sldId id="261" r:id="rId5"/>
    <p:sldId id="263" r:id="rId6"/>
    <p:sldId id="258" r:id="rId7"/>
    <p:sldId id="256" r:id="rId8"/>
  </p:sldIdLst>
  <p:sldSz cx="18000663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3B98"/>
    <a:srgbClr val="800020"/>
    <a:srgbClr val="2A2A72"/>
    <a:srgbClr val="4A6FA5"/>
    <a:srgbClr val="6B5B95"/>
    <a:srgbClr val="4A4E69"/>
    <a:srgbClr val="B56576"/>
    <a:srgbClr val="006400"/>
    <a:srgbClr val="4B0082"/>
    <a:srgbClr val="8B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2" autoAdjust="0"/>
    <p:restoredTop sz="95706" autoAdjust="0"/>
  </p:normalViewPr>
  <p:slideViewPr>
    <p:cSldViewPr snapToGrid="0">
      <p:cViewPr varScale="1">
        <p:scale>
          <a:sx n="41" d="100"/>
          <a:sy n="41" d="100"/>
        </p:scale>
        <p:origin x="149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600" b="1" dirty="0" err="1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600" b="1" dirty="0"/>
            <a:t>Locked</a:t>
          </a:r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600" b="1" dirty="0"/>
            <a:t>Done / 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/>
      <dgm:t>
        <a:bodyPr/>
        <a:lstStyle/>
        <a:p>
          <a:r>
            <a:rPr lang="en-IE" sz="4800" b="1" dirty="0"/>
            <a:t>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Bioinformatic workflow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Validates workflow orchestration across generic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Task Binding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Deployment</a:t>
          </a:r>
          <a:endParaRPr lang="en-IE" sz="40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Job environment attached            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>
          <a:solidFill>
            <a:schemeClr val="tx1"/>
          </a:solidFill>
        </a:ln>
      </dgm:spPr>
      <dgm:t>
        <a:bodyPr/>
        <a:lstStyle/>
        <a:p>
          <a:r>
            <a:rPr lang="en-IE" sz="2800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364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4503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364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3312283" y="0"/>
          <a:ext cx="4444852" cy="44455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4294742" y="1604970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 err="1"/>
            <a:t>ToDo</a:t>
          </a:r>
          <a:endParaRPr lang="en-IE" sz="3600" b="1" kern="1200" dirty="0"/>
        </a:p>
      </dsp:txBody>
      <dsp:txXfrm>
        <a:off x="4294742" y="1604970"/>
        <a:ext cx="2469919" cy="1234664"/>
      </dsp:txXfrm>
    </dsp:sp>
    <dsp:sp modelId="{668DC389-6720-4236-8011-BFAB07D2AE6E}">
      <dsp:nvSpPr>
        <dsp:cNvPr id="0" name=""/>
        <dsp:cNvSpPr/>
      </dsp:nvSpPr>
      <dsp:spPr>
        <a:xfrm>
          <a:off x="2077741" y="2554286"/>
          <a:ext cx="4444852" cy="4445529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065208" y="4174032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/>
            <a:t>Locked</a:t>
          </a:r>
        </a:p>
      </dsp:txBody>
      <dsp:txXfrm>
        <a:off x="3065208" y="4174032"/>
        <a:ext cx="2469919" cy="1234664"/>
      </dsp:txXfrm>
    </dsp:sp>
    <dsp:sp modelId="{19D1F821-3860-4F77-A074-BB6401E6326E}">
      <dsp:nvSpPr>
        <dsp:cNvPr id="0" name=""/>
        <dsp:cNvSpPr/>
      </dsp:nvSpPr>
      <dsp:spPr>
        <a:xfrm>
          <a:off x="3628640" y="5414237"/>
          <a:ext cx="3818817" cy="3820347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4300585" y="6746787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/>
            <a:t>Done / Error</a:t>
          </a:r>
        </a:p>
      </dsp:txBody>
      <dsp:txXfrm>
        <a:off x="4300585" y="6746787"/>
        <a:ext cx="2469919" cy="1234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8791101"/>
          <a:ext cx="16775589" cy="2885435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Deployment</a:t>
          </a:r>
          <a:endParaRPr lang="en-IE" sz="4000" b="1" kern="1200" dirty="0"/>
        </a:p>
      </dsp:txBody>
      <dsp:txXfrm>
        <a:off x="0" y="8791101"/>
        <a:ext cx="16775589" cy="1558135"/>
      </dsp:txXfrm>
    </dsp:sp>
    <dsp:sp modelId="{2147C4C3-E4ED-44EA-8A74-5AB07B9224C6}">
      <dsp:nvSpPr>
        <dsp:cNvPr id="0" name=""/>
        <dsp:cNvSpPr/>
      </dsp:nvSpPr>
      <dsp:spPr>
        <a:xfrm>
          <a:off x="0" y="10351295"/>
          <a:ext cx="5586402" cy="13273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AI play time optimizer</a:t>
          </a:r>
        </a:p>
      </dsp:txBody>
      <dsp:txXfrm>
        <a:off x="0" y="10351295"/>
        <a:ext cx="5586402" cy="1327300"/>
      </dsp:txXfrm>
    </dsp:sp>
    <dsp:sp modelId="{EF0D8E2E-611F-48CE-B1FC-FF5FEBAA646D}">
      <dsp:nvSpPr>
        <dsp:cNvPr id="0" name=""/>
        <dsp:cNvSpPr/>
      </dsp:nvSpPr>
      <dsp:spPr>
        <a:xfrm>
          <a:off x="5574258" y="10351295"/>
          <a:ext cx="5586402" cy="13273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Validate containerized workloads</a:t>
          </a:r>
        </a:p>
      </dsp:txBody>
      <dsp:txXfrm>
        <a:off x="5574258" y="10351295"/>
        <a:ext cx="5586402" cy="1327300"/>
      </dsp:txXfrm>
    </dsp:sp>
    <dsp:sp modelId="{A26E17A3-6ADC-4207-BAA9-6F37A7025026}">
      <dsp:nvSpPr>
        <dsp:cNvPr id="0" name=""/>
        <dsp:cNvSpPr/>
      </dsp:nvSpPr>
      <dsp:spPr>
        <a:xfrm>
          <a:off x="11180995" y="10351295"/>
          <a:ext cx="5586402" cy="13273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Node label constraints</a:t>
          </a:r>
        </a:p>
      </dsp:txBody>
      <dsp:txXfrm>
        <a:off x="11180995" y="10351295"/>
        <a:ext cx="5586402" cy="1327300"/>
      </dsp:txXfrm>
    </dsp:sp>
    <dsp:sp modelId="{B5901160-2EED-4BC1-9CD9-CBC7C725C48E}">
      <dsp:nvSpPr>
        <dsp:cNvPr id="0" name=""/>
        <dsp:cNvSpPr/>
      </dsp:nvSpPr>
      <dsp:spPr>
        <a:xfrm rot="10800000">
          <a:off x="0" y="4396582"/>
          <a:ext cx="16775589" cy="4437799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Task Binding</a:t>
          </a:r>
        </a:p>
      </dsp:txBody>
      <dsp:txXfrm rot="-10800000">
        <a:off x="0" y="4396582"/>
        <a:ext cx="16775589" cy="1557667"/>
      </dsp:txXfrm>
    </dsp:sp>
    <dsp:sp modelId="{9CE9A027-D096-4DBA-9F41-ACB337DEDCA0}">
      <dsp:nvSpPr>
        <dsp:cNvPr id="0" name=""/>
        <dsp:cNvSpPr/>
      </dsp:nvSpPr>
      <dsp:spPr>
        <a:xfrm>
          <a:off x="8191" y="5954250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Serialized function runner</a:t>
          </a:r>
        </a:p>
      </dsp:txBody>
      <dsp:txXfrm>
        <a:off x="8191" y="5954250"/>
        <a:ext cx="5586402" cy="1326902"/>
      </dsp:txXfrm>
    </dsp:sp>
    <dsp:sp modelId="{87C3872B-7E02-4085-B647-9CD9B06A0313}">
      <dsp:nvSpPr>
        <dsp:cNvPr id="0" name=""/>
        <dsp:cNvSpPr/>
      </dsp:nvSpPr>
      <dsp:spPr>
        <a:xfrm>
          <a:off x="5594593" y="5954250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Validates explicit binding semantics (early vs late)</a:t>
          </a:r>
        </a:p>
      </dsp:txBody>
      <dsp:txXfrm>
        <a:off x="5594593" y="5954250"/>
        <a:ext cx="5586402" cy="1326902"/>
      </dsp:txXfrm>
    </dsp:sp>
    <dsp:sp modelId="{6A9F14BE-80C0-4B02-B21C-6C233AACAF51}">
      <dsp:nvSpPr>
        <dsp:cNvPr id="0" name=""/>
        <dsp:cNvSpPr/>
      </dsp:nvSpPr>
      <dsp:spPr>
        <a:xfrm>
          <a:off x="11180995" y="5954250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Job environment attached             to tasks</a:t>
          </a:r>
        </a:p>
      </dsp:txBody>
      <dsp:txXfrm>
        <a:off x="11180995" y="5954250"/>
        <a:ext cx="5586402" cy="1326902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16775589" cy="4437799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Workflow Orchestration</a:t>
          </a:r>
        </a:p>
      </dsp:txBody>
      <dsp:txXfrm rot="-10800000">
        <a:off x="0" y="0"/>
        <a:ext cx="16775589" cy="1557667"/>
      </dsp:txXfrm>
    </dsp:sp>
    <dsp:sp modelId="{07763EBB-4274-4F86-A670-BA07EE7CCAD5}">
      <dsp:nvSpPr>
        <dsp:cNvPr id="0" name=""/>
        <dsp:cNvSpPr/>
      </dsp:nvSpPr>
      <dsp:spPr>
        <a:xfrm>
          <a:off x="28525" y="1559732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Bioinformatic workflow</a:t>
          </a:r>
        </a:p>
      </dsp:txBody>
      <dsp:txXfrm>
        <a:off x="28525" y="1559732"/>
        <a:ext cx="5586402" cy="1326902"/>
      </dsp:txXfrm>
    </dsp:sp>
    <dsp:sp modelId="{A5384461-3C55-409F-A76C-DC6C5CADCFE8}">
      <dsp:nvSpPr>
        <dsp:cNvPr id="0" name=""/>
        <dsp:cNvSpPr/>
      </dsp:nvSpPr>
      <dsp:spPr>
        <a:xfrm>
          <a:off x="5594593" y="1559732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Validates workflow orchestration across generic pilots</a:t>
          </a:r>
        </a:p>
      </dsp:txBody>
      <dsp:txXfrm>
        <a:off x="5594593" y="1559732"/>
        <a:ext cx="5586402" cy="1326902"/>
      </dsp:txXfrm>
    </dsp:sp>
    <dsp:sp modelId="{1CEB22B1-9A7E-4A91-AF0C-26B893E69FA6}">
      <dsp:nvSpPr>
        <dsp:cNvPr id="0" name=""/>
        <dsp:cNvSpPr/>
      </dsp:nvSpPr>
      <dsp:spPr>
        <a:xfrm>
          <a:off x="11180995" y="1559732"/>
          <a:ext cx="5586402" cy="13269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Operational across relational        &amp; non-relational databases</a:t>
          </a:r>
        </a:p>
      </dsp:txBody>
      <dsp:txXfrm>
        <a:off x="11180995" y="1559732"/>
        <a:ext cx="5586402" cy="13269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651323"/>
            <a:ext cx="15300564" cy="5640152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8508981"/>
            <a:ext cx="13500497" cy="3911355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266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160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038864"/>
            <a:ext cx="15525572" cy="6738931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0841548"/>
            <a:ext cx="15525572" cy="3543845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374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1085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862527"/>
            <a:ext cx="15525572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971359"/>
            <a:ext cx="7615123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917660"/>
            <a:ext cx="7615123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971359"/>
            <a:ext cx="7652626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917660"/>
            <a:ext cx="7652626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0061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733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3606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332567"/>
            <a:ext cx="9112836" cy="11512811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2723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332567"/>
            <a:ext cx="9112836" cy="11512811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515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17295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862524"/>
            <a:ext cx="3881393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862524"/>
            <a:ext cx="11419171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2549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862527"/>
            <a:ext cx="15525572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312617"/>
            <a:ext cx="15525572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14/10/2025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5015410"/>
            <a:ext cx="6075224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267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jpeg"/><Relationship Id="rId7" Type="http://schemas.openxmlformats.org/officeDocument/2006/relationships/image" Target="../media/image16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8A3C1-2870-92B1-5CC6-E638ED553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1313307"/>
            <a:ext cx="15525572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1C6F3C-673D-4567-143B-2DE6272FFD6C}"/>
              </a:ext>
            </a:extLst>
          </p:cNvPr>
          <p:cNvSpPr/>
          <p:nvPr/>
        </p:nvSpPr>
        <p:spPr>
          <a:xfrm>
            <a:off x="2113281" y="7593261"/>
            <a:ext cx="13370560" cy="2316480"/>
          </a:xfrm>
          <a:prstGeom prst="roundRect">
            <a:avLst/>
          </a:prstGeom>
          <a:solidFill>
            <a:srgbClr val="800020"/>
          </a:soli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TaskTide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B15261D-C021-2C0A-C8D9-E644EBC71F8F}"/>
              </a:ext>
            </a:extLst>
          </p:cNvPr>
          <p:cNvSpPr/>
          <p:nvPr/>
        </p:nvSpPr>
        <p:spPr>
          <a:xfrm>
            <a:off x="2103120" y="11403261"/>
            <a:ext cx="13370560" cy="2316480"/>
          </a:xfrm>
          <a:prstGeom prst="roundRect">
            <a:avLst/>
          </a:prstGeom>
          <a:solidFill>
            <a:srgbClr val="3B3B98"/>
          </a:soli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Kubernetes, Cloud)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B1E6658-9A50-53B7-522A-B91C6DE4A836}"/>
              </a:ext>
            </a:extLst>
          </p:cNvPr>
          <p:cNvSpPr/>
          <p:nvPr/>
        </p:nvSpPr>
        <p:spPr>
          <a:xfrm>
            <a:off x="2113281" y="3691820"/>
            <a:ext cx="13370560" cy="2316480"/>
          </a:xfrm>
          <a:prstGeom prst="roundRect">
            <a:avLst/>
          </a:prstGeom>
          <a:solidFill>
            <a:srgbClr val="2A2A72"/>
          </a:soli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3E130C7-F43E-218E-CFA0-2E472A988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0843" y="5771452"/>
            <a:ext cx="3585819" cy="2254948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3B2EDDBA-81FB-2174-1909-4135281C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7139" y="6145315"/>
            <a:ext cx="3585454" cy="198268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DAD23B-55A5-E907-1F02-B4E40AB99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4101" y="2325720"/>
            <a:ext cx="4115234" cy="2139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536A531-ACB6-9D4D-412A-8B43D777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1200" y="542940"/>
            <a:ext cx="2435749" cy="156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lurm Workload Manager - Wikipedia">
            <a:extLst>
              <a:ext uri="{FF2B5EF4-FFF2-40B4-BE49-F238E27FC236}">
                <a16:creationId xmlns:a16="http://schemas.microsoft.com/office/drawing/2014/main" id="{B310FE77-77EC-EC3C-705C-C79EAD29B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4852" y="11067701"/>
            <a:ext cx="3908804" cy="35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doop Consulting and Support Services 🐘">
            <a:extLst>
              <a:ext uri="{FF2B5EF4-FFF2-40B4-BE49-F238E27FC236}">
                <a16:creationId xmlns:a16="http://schemas.microsoft.com/office/drawing/2014/main" id="{CF53062D-BC41-1A84-6CCE-94958EE1D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6021" y="12792478"/>
            <a:ext cx="4872885" cy="278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Kubernetes Logo and Wordmark Sticker ...">
            <a:extLst>
              <a:ext uri="{FF2B5EF4-FFF2-40B4-BE49-F238E27FC236}">
                <a16:creationId xmlns:a16="http://schemas.microsoft.com/office/drawing/2014/main" id="{15AB4257-9B6F-5A87-7CEA-CC7E2C014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71688" y="11093020"/>
            <a:ext cx="3371614" cy="337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ython Logo PNG Vector (SVG) Free Download">
            <a:extLst>
              <a:ext uri="{FF2B5EF4-FFF2-40B4-BE49-F238E27FC236}">
                <a16:creationId xmlns:a16="http://schemas.microsoft.com/office/drawing/2014/main" id="{62B89B67-4639-4806-8F38-BF34A5277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9214" y="825415"/>
            <a:ext cx="3227499" cy="3227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815DD6-CF85-CA76-C8C9-BE2CB88C0BC0}"/>
              </a:ext>
            </a:extLst>
          </p:cNvPr>
          <p:cNvSpPr/>
          <p:nvPr/>
        </p:nvSpPr>
        <p:spPr>
          <a:xfrm>
            <a:off x="2052320" y="243840"/>
            <a:ext cx="15544800" cy="4470400"/>
          </a:xfrm>
          <a:prstGeom prst="roundRect">
            <a:avLst/>
          </a:prstGeom>
          <a:noFill/>
          <a:ln w="76200">
            <a:solidFill>
              <a:srgbClr val="2A2A7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361AE9-7B9B-9BA8-B967-A09704AB0BCC}"/>
              </a:ext>
            </a:extLst>
          </p:cNvPr>
          <p:cNvSpPr/>
          <p:nvPr/>
        </p:nvSpPr>
        <p:spPr>
          <a:xfrm>
            <a:off x="2082800" y="5207856"/>
            <a:ext cx="15544800" cy="4909804"/>
          </a:xfrm>
          <a:prstGeom prst="roundRect">
            <a:avLst/>
          </a:prstGeom>
          <a:noFill/>
          <a:ln w="76200">
            <a:solidFill>
              <a:srgbClr val="80002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4D2371-C54A-9C5B-B216-E076192FB328}"/>
              </a:ext>
            </a:extLst>
          </p:cNvPr>
          <p:cNvSpPr/>
          <p:nvPr/>
        </p:nvSpPr>
        <p:spPr>
          <a:xfrm>
            <a:off x="2113280" y="10586720"/>
            <a:ext cx="15544800" cy="5332300"/>
          </a:xfrm>
          <a:prstGeom prst="roundRect">
            <a:avLst/>
          </a:prstGeom>
          <a:noFill/>
          <a:ln w="76200">
            <a:solidFill>
              <a:srgbClr val="3B3B9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46" name="Picture 22" descr="R Meets Hardware | R-bloggers">
            <a:extLst>
              <a:ext uri="{FF2B5EF4-FFF2-40B4-BE49-F238E27FC236}">
                <a16:creationId xmlns:a16="http://schemas.microsoft.com/office/drawing/2014/main" id="{A71FA59A-7421-FA14-8B69-A08ECC946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8408" y="679142"/>
            <a:ext cx="3478254" cy="347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2E426D-90DF-9E70-8E8B-8220C5D9CE9B}"/>
              </a:ext>
            </a:extLst>
          </p:cNvPr>
          <p:cNvSpPr txBox="1"/>
          <p:nvPr/>
        </p:nvSpPr>
        <p:spPr>
          <a:xfrm rot="16200000">
            <a:off x="-732238" y="168918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2A2A72"/>
                </a:solidFill>
              </a:rPr>
              <a:t>Data Application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024C1-7776-2129-C309-C8FF5AE68EEE}"/>
              </a:ext>
            </a:extLst>
          </p:cNvPr>
          <p:cNvSpPr txBox="1"/>
          <p:nvPr/>
        </p:nvSpPr>
        <p:spPr>
          <a:xfrm rot="16200000">
            <a:off x="-722078" y="696222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800020"/>
                </a:solidFill>
              </a:rPr>
              <a:t>Orchestration   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2966-5C09-8D5B-777A-DC9B15E129F1}"/>
              </a:ext>
            </a:extLst>
          </p:cNvPr>
          <p:cNvSpPr txBox="1"/>
          <p:nvPr/>
        </p:nvSpPr>
        <p:spPr>
          <a:xfrm rot="16200000">
            <a:off x="-610318" y="1262134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3B3B98"/>
                </a:solidFill>
              </a:rPr>
              <a:t>Infrastructure   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CB8691-6939-E709-3301-C6197E8637E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63180" y="5501394"/>
            <a:ext cx="4877076" cy="435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284480" y="3962400"/>
            <a:ext cx="5303520" cy="3962400"/>
          </a:xfrm>
          <a:prstGeom prst="roundRect">
            <a:avLst/>
          </a:prstGeom>
          <a:solidFill>
            <a:srgbClr val="B56576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284480" y="11247120"/>
            <a:ext cx="5303520" cy="3962400"/>
          </a:xfrm>
          <a:prstGeom prst="roundRect">
            <a:avLst/>
          </a:prstGeom>
          <a:solidFill>
            <a:srgbClr val="B56576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6329680" y="3952240"/>
            <a:ext cx="5303520" cy="3962400"/>
          </a:xfrm>
          <a:prstGeom prst="roundRect">
            <a:avLst/>
          </a:prstGeom>
          <a:solidFill>
            <a:srgbClr val="4A4E69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6329680" y="11236960"/>
            <a:ext cx="5303520" cy="3962400"/>
          </a:xfrm>
          <a:prstGeom prst="roundRect">
            <a:avLst/>
          </a:prstGeom>
          <a:solidFill>
            <a:srgbClr val="4A4E69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2395200" y="3962400"/>
            <a:ext cx="5303520" cy="3962400"/>
          </a:xfrm>
          <a:prstGeom prst="roundRect">
            <a:avLst/>
          </a:prstGeom>
          <a:solidFill>
            <a:srgbClr val="6B5B95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2395200" y="11247120"/>
            <a:ext cx="5303520" cy="3962400"/>
          </a:xfrm>
          <a:prstGeom prst="roundRect">
            <a:avLst/>
          </a:prstGeom>
          <a:solidFill>
            <a:srgbClr val="6B5B95"/>
          </a:solidFill>
          <a:ln w="381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2275840" y="7904481"/>
            <a:ext cx="1178560" cy="389128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8300720" y="7894320"/>
            <a:ext cx="1178560" cy="390144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14406880" y="7904480"/>
            <a:ext cx="1178560" cy="390144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40689850"/>
              </p:ext>
            </p:extLst>
          </p:nvPr>
        </p:nvGraphicFramePr>
        <p:xfrm>
          <a:off x="-2113278" y="3993735"/>
          <a:ext cx="9834878" cy="9234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5831840" y="2743200"/>
            <a:ext cx="0" cy="11988800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ylinder 5">
            <a:extLst>
              <a:ext uri="{FF2B5EF4-FFF2-40B4-BE49-F238E27FC236}">
                <a16:creationId xmlns:a16="http://schemas.microsoft.com/office/drawing/2014/main" id="{A947FBCF-D905-0831-86F1-AD448E1C4D75}"/>
              </a:ext>
            </a:extLst>
          </p:cNvPr>
          <p:cNvSpPr/>
          <p:nvPr/>
        </p:nvSpPr>
        <p:spPr>
          <a:xfrm>
            <a:off x="10789927" y="2113281"/>
            <a:ext cx="2153905" cy="2022695"/>
          </a:xfrm>
          <a:prstGeom prst="can">
            <a:avLst/>
          </a:prstGeom>
          <a:ln w="38100">
            <a:solidFill>
              <a:schemeClr val="tx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TaskTide</a:t>
            </a:r>
          </a:p>
          <a:p>
            <a:pPr algn="ctr"/>
            <a:r>
              <a:rPr lang="en-IE" sz="2800" b="1" dirty="0"/>
              <a:t>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CEBE93-DE8F-36D6-D818-053F81620ED2}"/>
              </a:ext>
            </a:extLst>
          </p:cNvPr>
          <p:cNvSpPr/>
          <p:nvPr/>
        </p:nvSpPr>
        <p:spPr>
          <a:xfrm>
            <a:off x="6461767" y="5425441"/>
            <a:ext cx="11155674" cy="9384150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13119DE-8929-C472-8586-3BF55CA1FBAD}"/>
              </a:ext>
            </a:extLst>
          </p:cNvPr>
          <p:cNvCxnSpPr>
            <a:cxnSpLocks/>
          </p:cNvCxnSpPr>
          <p:nvPr/>
        </p:nvCxnSpPr>
        <p:spPr>
          <a:xfrm>
            <a:off x="11532585" y="4346175"/>
            <a:ext cx="0" cy="96836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80AF89-8AE7-83F1-4A98-E375BFCB6C49}"/>
              </a:ext>
            </a:extLst>
          </p:cNvPr>
          <p:cNvCxnSpPr>
            <a:cxnSpLocks/>
          </p:cNvCxnSpPr>
          <p:nvPr/>
        </p:nvCxnSpPr>
        <p:spPr>
          <a:xfrm flipH="1" flipV="1">
            <a:off x="11998960" y="4287520"/>
            <a:ext cx="1" cy="954107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ight Brace 24">
            <a:extLst>
              <a:ext uri="{FF2B5EF4-FFF2-40B4-BE49-F238E27FC236}">
                <a16:creationId xmlns:a16="http://schemas.microsoft.com/office/drawing/2014/main" id="{D824E922-C84C-7CA7-48D4-0D4C189A40F0}"/>
              </a:ext>
            </a:extLst>
          </p:cNvPr>
          <p:cNvSpPr/>
          <p:nvPr/>
        </p:nvSpPr>
        <p:spPr>
          <a:xfrm>
            <a:off x="10830560" y="6674266"/>
            <a:ext cx="1767841" cy="6797894"/>
          </a:xfrm>
          <a:prstGeom prst="rightBrace">
            <a:avLst/>
          </a:prstGeom>
          <a:ln w="38100">
            <a:solidFill>
              <a:srgbClr val="8B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D762018-D3F6-7019-E52D-DF61061EB125}"/>
              </a:ext>
            </a:extLst>
          </p:cNvPr>
          <p:cNvCxnSpPr/>
          <p:nvPr/>
        </p:nvCxnSpPr>
        <p:spPr>
          <a:xfrm>
            <a:off x="8869680" y="8090917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E6D65AD-E43D-3543-0704-6A46F703DC9E}"/>
              </a:ext>
            </a:extLst>
          </p:cNvPr>
          <p:cNvCxnSpPr/>
          <p:nvPr/>
        </p:nvCxnSpPr>
        <p:spPr>
          <a:xfrm>
            <a:off x="8891426" y="11273886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69D4E3FF-3CD6-FEDB-3705-A60718BE9CD1}"/>
              </a:ext>
            </a:extLst>
          </p:cNvPr>
          <p:cNvSpPr/>
          <p:nvPr/>
        </p:nvSpPr>
        <p:spPr>
          <a:xfrm>
            <a:off x="7370596" y="611632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Fetch Tasks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8DCAD642-DF61-F4FE-C83B-F5BF13F3DB36}"/>
              </a:ext>
            </a:extLst>
          </p:cNvPr>
          <p:cNvSpPr/>
          <p:nvPr/>
        </p:nvSpPr>
        <p:spPr>
          <a:xfrm>
            <a:off x="7380757" y="923544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Processor distributes over threads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77A340E3-8AD4-6C9B-AF8B-868695C80E00}"/>
              </a:ext>
            </a:extLst>
          </p:cNvPr>
          <p:cNvSpPr/>
          <p:nvPr/>
        </p:nvSpPr>
        <p:spPr>
          <a:xfrm>
            <a:off x="7380757" y="1244600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Executor spawns OS process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E0071F6-BA5F-3FEC-E3DE-D2CC750CF257}"/>
              </a:ext>
            </a:extLst>
          </p:cNvPr>
          <p:cNvSpPr/>
          <p:nvPr/>
        </p:nvSpPr>
        <p:spPr>
          <a:xfrm>
            <a:off x="13228327" y="7793068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Observer Chain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386080" y="812800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	b)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E31B009-805C-03C3-6EF6-2F23BD1282E0}"/>
              </a:ext>
            </a:extLst>
          </p:cNvPr>
          <p:cNvSpPr txBox="1"/>
          <p:nvPr/>
        </p:nvSpPr>
        <p:spPr>
          <a:xfrm>
            <a:off x="7604971" y="4942861"/>
            <a:ext cx="2960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/>
              <a:t>TaskTide Engine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3F73D-D09F-B45C-DA3C-EF859F32AFF6}"/>
              </a:ext>
            </a:extLst>
          </p:cNvPr>
          <p:cNvSpPr txBox="1"/>
          <p:nvPr/>
        </p:nvSpPr>
        <p:spPr>
          <a:xfrm>
            <a:off x="12296651" y="4630079"/>
            <a:ext cx="2546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/>
              <a:t>Task Updates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5A324E4-797D-C81C-D94D-9A1161D8568F}"/>
              </a:ext>
            </a:extLst>
          </p:cNvPr>
          <p:cNvSpPr/>
          <p:nvPr/>
        </p:nvSpPr>
        <p:spPr>
          <a:xfrm>
            <a:off x="11993568" y="10323008"/>
            <a:ext cx="2543966" cy="1222090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Event Subscription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2060813-E48E-35FE-9699-20F5CFE266C0}"/>
              </a:ext>
            </a:extLst>
          </p:cNvPr>
          <p:cNvSpPr/>
          <p:nvPr/>
        </p:nvSpPr>
        <p:spPr>
          <a:xfrm>
            <a:off x="14878057" y="10323008"/>
            <a:ext cx="2543966" cy="1222090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Commit Task Updates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414C8E5-F857-D9DC-2E6E-E2A94A962D91}"/>
              </a:ext>
            </a:extLst>
          </p:cNvPr>
          <p:cNvSpPr/>
          <p:nvPr/>
        </p:nvSpPr>
        <p:spPr>
          <a:xfrm>
            <a:off x="13532573" y="11996185"/>
            <a:ext cx="2543966" cy="1222090"/>
          </a:xfrm>
          <a:prstGeom prst="roundRect">
            <a:avLst/>
          </a:prstGeom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Process Registry</a:t>
            </a:r>
          </a:p>
        </p:txBody>
      </p: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1489831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4874910"/>
              </p:ext>
            </p:extLst>
          </p:nvPr>
        </p:nvGraphicFramePr>
        <p:xfrm>
          <a:off x="612536" y="2748599"/>
          <a:ext cx="16775589" cy="116786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A0D5D681-EC19-52DB-E992-0E57F0AEFD3A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C9B222C9-BBBA-0888-EF26-AA904B46F6C6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0088A710-20B0-2142-B5AA-A176FCC79125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C175F32A-56DF-9F7C-9A94-1E7802433A90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BB1892BD-1701-A0BD-82BF-2DE970D0462F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96FC22DE-6644-4604-5F43-438B9F4B6E59}"/>
              </a:ext>
            </a:extLst>
          </p:cNvPr>
          <p:cNvSpPr/>
          <p:nvPr/>
        </p:nvSpPr>
        <p:spPr>
          <a:xfrm>
            <a:off x="286030" y="1229009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D8992BE9-744B-1CD2-6A96-DB2DD3646F8C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8CC51A4A-40B6-E63F-1196-E1FC3D71AF33}"/>
              </a:ext>
            </a:extLst>
          </p:cNvPr>
          <p:cNvSpPr/>
          <p:nvPr/>
        </p:nvSpPr>
        <p:spPr>
          <a:xfrm>
            <a:off x="5446221" y="11627081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64A8C982-B01F-7D8D-B23D-07252774B370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166C88F-651A-24E5-32CC-193FBA75B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51A207A8-6E9F-F4A9-834A-7B02AE075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9F910E2-88BD-CE09-B520-B2E23EE50AB1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3D0CB47-95C9-9287-B513-23AE7CF501B2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503602-132C-5126-AC48-8B5C00F51FA5}"/>
              </a:ext>
            </a:extLst>
          </p:cNvPr>
          <p:cNvCxnSpPr>
            <a:cxnSpLocks/>
          </p:cNvCxnSpPr>
          <p:nvPr/>
        </p:nvCxnSpPr>
        <p:spPr>
          <a:xfrm>
            <a:off x="7371381" y="10316492"/>
            <a:ext cx="0" cy="131058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7D1C97E-F6A7-6691-F346-63827B0E733B}"/>
              </a:ext>
            </a:extLst>
          </p:cNvPr>
          <p:cNvCxnSpPr>
            <a:cxnSpLocks/>
          </p:cNvCxnSpPr>
          <p:nvPr/>
        </p:nvCxnSpPr>
        <p:spPr>
          <a:xfrm>
            <a:off x="2891186" y="13207680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027E634-66C4-03B1-4E47-DE591C9A779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48609721-8B1B-69B1-984D-5BB20FDBBDEE}"/>
              </a:ext>
            </a:extLst>
          </p:cNvPr>
          <p:cNvSpPr/>
          <p:nvPr/>
        </p:nvSpPr>
        <p:spPr>
          <a:xfrm>
            <a:off x="11198925" y="608453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91F7EB-C9AA-46EE-6925-A606E5C11666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8B86FAB3-9839-C40F-481E-72C28CB9B5B7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93C3476F-BECE-5A31-EBB9-99B1E6D1940C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6D5BD79C-6023-5DD8-A46C-0D202E17ADC3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B0AF4BAB-8A23-C95C-6BC3-FB64F87E4C32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4076E49-55B1-A2B0-BEFA-D6A05A2329E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B5D0FB4-8766-54ED-E1E9-22B3DD32B981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EBCAA57-D7A6-1D1B-285B-726ADA57EB72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F58DA43-F38B-0B4A-C3B4-BB4B0A4E9EE2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F4A330A-7534-79EC-F357-B91BEED4D649}"/>
              </a:ext>
            </a:extLst>
          </p:cNvPr>
          <p:cNvCxnSpPr>
            <a:cxnSpLocks/>
          </p:cNvCxnSpPr>
          <p:nvPr/>
        </p:nvCxnSpPr>
        <p:spPr>
          <a:xfrm rot="16200000">
            <a:off x="10973862" y="626668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5DEC262-1AE3-204D-EB04-7473F4578BE5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32FD0A3-1DCF-0EEE-3198-2E002B0C1CF2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BBF4229-DE4C-521E-83D4-B150C124791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C0456FA-F655-8574-5ED7-E37812288102}"/>
              </a:ext>
            </a:extLst>
          </p:cNvPr>
          <p:cNvCxnSpPr>
            <a:cxnSpLocks/>
          </p:cNvCxnSpPr>
          <p:nvPr/>
        </p:nvCxnSpPr>
        <p:spPr>
          <a:xfrm flipH="1">
            <a:off x="4277936" y="10316492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D1BE198-26FE-5274-F102-FE3EBDC0655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8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D7FEEE1-2571-A927-F403-D3F4FACDFA4F}"/>
              </a:ext>
            </a:extLst>
          </p:cNvPr>
          <p:cNvCxnSpPr>
            <a:cxnSpLocks/>
          </p:cNvCxnSpPr>
          <p:nvPr/>
        </p:nvCxnSpPr>
        <p:spPr>
          <a:xfrm>
            <a:off x="7390042" y="12574706"/>
            <a:ext cx="0" cy="109360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7175" y="13766431"/>
            <a:ext cx="2876550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6D46A4F6-A6E6-EEDD-9DAA-C85003898CD6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483EFC43-8D08-EDDA-C48D-B19EF8145547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F743EF5-BB08-F701-6DF6-8EA8AAB63398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A60E3390-6BDF-75B0-676A-C81444615F2C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761A1A9A-FBA2-221A-ED5A-8397CBBF7091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6CF3679C-A42B-BB1A-89A6-3779A8CAC4B0}"/>
              </a:ext>
            </a:extLst>
          </p:cNvPr>
          <p:cNvSpPr/>
          <p:nvPr/>
        </p:nvSpPr>
        <p:spPr>
          <a:xfrm>
            <a:off x="286030" y="1169293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A9DF68DD-9327-AAF2-6D6A-40C7FF82282B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70F9B6C0-7A11-5126-A2F9-62210095E61E}"/>
              </a:ext>
            </a:extLst>
          </p:cNvPr>
          <p:cNvSpPr/>
          <p:nvPr/>
        </p:nvSpPr>
        <p:spPr>
          <a:xfrm>
            <a:off x="5464882" y="10936618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A40A20D-07AA-3C29-B525-8F054EB395CE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A0EBE8F0-852C-9D44-C282-192E019302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E6A01908-3616-64D6-439C-842D10A4F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7161502-6450-2C74-3220-821B827C17C8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954414-47EC-2512-D52F-172903F25B80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7E84AA-4EFD-742C-FCF6-2A230C4ECCBB}"/>
              </a:ext>
            </a:extLst>
          </p:cNvPr>
          <p:cNvCxnSpPr>
            <a:cxnSpLocks/>
          </p:cNvCxnSpPr>
          <p:nvPr/>
        </p:nvCxnSpPr>
        <p:spPr>
          <a:xfrm>
            <a:off x="7461574" y="10340988"/>
            <a:ext cx="0" cy="5511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9E524B-4AAF-85A1-2D4B-FCC8F7BBC7C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8E134E11-C649-29A8-88F0-663EA7E359EC}"/>
              </a:ext>
            </a:extLst>
          </p:cNvPr>
          <p:cNvSpPr/>
          <p:nvPr/>
        </p:nvSpPr>
        <p:spPr>
          <a:xfrm>
            <a:off x="11278285" y="605652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7A76D2-A199-24BC-3649-24E384805F0D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B8214C4E-DB36-C2ED-34D2-EDA3242C2D92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8AB1BA33-846B-71CB-C4E6-E037EFA3C024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5C067697-A9CE-7092-38B5-DE6CF63938F7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CBAA4AFC-3354-A870-0D27-6D1FA8EB9501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DCEE48F-962D-A3C4-8DC4-E8DDC684297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11605E-2E77-4721-BB6A-D96BCA1BBA30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69DBF85-D0D1-E9E2-C786-B27C86649C59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DFB149C-0D70-4CAD-66D8-E7D9869E7E35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8585F70-3D6B-A57D-56B6-98A008D06323}"/>
              </a:ext>
            </a:extLst>
          </p:cNvPr>
          <p:cNvCxnSpPr>
            <a:cxnSpLocks/>
          </p:cNvCxnSpPr>
          <p:nvPr/>
        </p:nvCxnSpPr>
        <p:spPr>
          <a:xfrm rot="16200000">
            <a:off x="11053222" y="623867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D7C695-DFC6-67D0-DD12-31F6A0348BA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E5F967A5-B59E-7B7D-5E64-512341FD7AD1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5069E0D-C152-2D33-9149-D8FB64B0BEE0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D83134F-275B-B0ED-A2DA-C0BE6509A268}"/>
              </a:ext>
            </a:extLst>
          </p:cNvPr>
          <p:cNvCxnSpPr>
            <a:cxnSpLocks/>
          </p:cNvCxnSpPr>
          <p:nvPr/>
        </p:nvCxnSpPr>
        <p:spPr>
          <a:xfrm>
            <a:off x="4278129" y="10316492"/>
            <a:ext cx="0" cy="142246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10645D-7449-3CAF-2FB2-5789C07DA1B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8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63FC61A-B064-0C71-D47B-6087923E9AA1}"/>
              </a:ext>
            </a:extLst>
          </p:cNvPr>
          <p:cNvCxnSpPr>
            <a:cxnSpLocks/>
          </p:cNvCxnSpPr>
          <p:nvPr/>
        </p:nvCxnSpPr>
        <p:spPr>
          <a:xfrm>
            <a:off x="7446025" y="11818336"/>
            <a:ext cx="0" cy="9121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788FC1-D1D9-FCA0-8AA7-E335A3FB44E0}"/>
              </a:ext>
            </a:extLst>
          </p:cNvPr>
          <p:cNvGrpSpPr/>
          <p:nvPr/>
        </p:nvGrpSpPr>
        <p:grpSpPr>
          <a:xfrm>
            <a:off x="5759896" y="12730471"/>
            <a:ext cx="3317123" cy="2907635"/>
            <a:chOff x="5722573" y="12674487"/>
            <a:chExt cx="3317123" cy="2907635"/>
          </a:xfrm>
        </p:grpSpPr>
        <p:pic>
          <p:nvPicPr>
            <p:cNvPr id="4" name="Picture 3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4317112C-5E93-13F6-DEEF-8EAA6FDD0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22573" y="12674487"/>
              <a:ext cx="1409700" cy="1409700"/>
            </a:xfrm>
            <a:prstGeom prst="rect">
              <a:avLst/>
            </a:prstGeom>
          </p:spPr>
        </p:pic>
        <p:pic>
          <p:nvPicPr>
            <p:cNvPr id="15" name="Picture 14" descr="A logo for a company&#10;&#10;AI-generated content may be incorrect.">
              <a:extLst>
                <a:ext uri="{FF2B5EF4-FFF2-40B4-BE49-F238E27FC236}">
                  <a16:creationId xmlns:a16="http://schemas.microsoft.com/office/drawing/2014/main" id="{B03A0ABC-098B-C812-3DA4-0300D7107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7452" y="14381372"/>
              <a:ext cx="1590182" cy="1200750"/>
            </a:xfrm>
            <a:prstGeom prst="rect">
              <a:avLst/>
            </a:prstGeom>
          </p:spPr>
        </p:pic>
        <p:pic>
          <p:nvPicPr>
            <p:cNvPr id="19" name="Picture 1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33994AF6-0DEF-2EBD-E76A-01617A7F5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8502" y="12732993"/>
              <a:ext cx="1351194" cy="1351194"/>
            </a:xfrm>
            <a:prstGeom prst="rect">
              <a:avLst/>
            </a:prstGeom>
          </p:spPr>
        </p:pic>
      </p:grpSp>
      <p:pic>
        <p:nvPicPr>
          <p:cNvPr id="25" name="Picture 24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ABB203D0-3D97-1EDE-DC6D-B67CAA1D37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30" y="13097822"/>
            <a:ext cx="5116008" cy="3108274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9DC3E09-C608-48EF-34B8-A8C2CC14E4C6}"/>
              </a:ext>
            </a:extLst>
          </p:cNvPr>
          <p:cNvCxnSpPr>
            <a:cxnSpLocks/>
          </p:cNvCxnSpPr>
          <p:nvPr/>
        </p:nvCxnSpPr>
        <p:spPr>
          <a:xfrm>
            <a:off x="2499300" y="12726732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537</TotalTime>
  <Words>218</Words>
  <Application>Microsoft Office PowerPoint</Application>
  <PresentationFormat>Custom</PresentationFormat>
  <Paragraphs>82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Mapping of TaskTide Components to Pilot Job Model</vt:lpstr>
      <vt:lpstr>PowerPoint Presentation</vt:lpstr>
      <vt:lpstr>High Level Development Approach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72</cp:revision>
  <dcterms:created xsi:type="dcterms:W3CDTF">2025-07-22T15:08:42Z</dcterms:created>
  <dcterms:modified xsi:type="dcterms:W3CDTF">2025-10-14T16:49:54Z</dcterms:modified>
</cp:coreProperties>
</file>