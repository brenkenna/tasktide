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13"/>
  </p:notesMasterIdLst>
  <p:sldIdLst>
    <p:sldId id="264" r:id="rId2"/>
    <p:sldId id="262" r:id="rId3"/>
    <p:sldId id="259" r:id="rId4"/>
    <p:sldId id="266" r:id="rId5"/>
    <p:sldId id="256" r:id="rId6"/>
    <p:sldId id="261" r:id="rId7"/>
    <p:sldId id="265" r:id="rId8"/>
    <p:sldId id="263" r:id="rId9"/>
    <p:sldId id="267" r:id="rId10"/>
    <p:sldId id="260" r:id="rId11"/>
    <p:sldId id="258" r:id="rId12"/>
  </p:sldIdLst>
  <p:sldSz cx="30240288" cy="233997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D2D8"/>
    <a:srgbClr val="E6EAED"/>
    <a:srgbClr val="CCD2D8"/>
    <a:srgbClr val="400020"/>
    <a:srgbClr val="800020"/>
    <a:srgbClr val="984A5B"/>
    <a:srgbClr val="4E262F"/>
    <a:srgbClr val="B56576"/>
    <a:srgbClr val="A55163"/>
    <a:srgbClr val="5228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322" autoAdjust="0"/>
    <p:restoredTop sz="95706" autoAdjust="0"/>
  </p:normalViewPr>
  <p:slideViewPr>
    <p:cSldViewPr snapToGrid="0">
      <p:cViewPr varScale="1">
        <p:scale>
          <a:sx n="26" d="100"/>
          <a:sy n="26" d="100"/>
        </p:scale>
        <p:origin x="244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4000" b="1" dirty="0"/>
            <a:t>ToDo</a:t>
          </a:r>
          <a:endParaRPr lang="en-IE" sz="44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4000" b="1" dirty="0"/>
            <a:t>Locked</a:t>
          </a:r>
          <a:endParaRPr lang="en-IE" sz="44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40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Bioinformatic workflows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iii). Containerized Deployment</a:t>
          </a:r>
          <a:endParaRPr lang="en-IE" sz="66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4267901" y="0"/>
          <a:ext cx="5798015" cy="5798897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5549453" y="2093577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ToDo</a:t>
          </a:r>
          <a:endParaRPr lang="en-IE" sz="4400" b="1" kern="1200" dirty="0"/>
        </a:p>
      </dsp:txBody>
      <dsp:txXfrm>
        <a:off x="5549453" y="2093577"/>
        <a:ext cx="3221845" cy="1610537"/>
      </dsp:txXfrm>
    </dsp:sp>
    <dsp:sp modelId="{668DC389-6720-4236-8011-BFAB07D2AE6E}">
      <dsp:nvSpPr>
        <dsp:cNvPr id="0" name=""/>
        <dsp:cNvSpPr/>
      </dsp:nvSpPr>
      <dsp:spPr>
        <a:xfrm>
          <a:off x="2657523" y="3331896"/>
          <a:ext cx="5798015" cy="5798897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945608" y="5444748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Locked</a:t>
          </a:r>
          <a:endParaRPr lang="en-IE" sz="4400" b="1" kern="1200" dirty="0"/>
        </a:p>
      </dsp:txBody>
      <dsp:txXfrm>
        <a:off x="3945608" y="5444748"/>
        <a:ext cx="3221845" cy="1610537"/>
      </dsp:txXfrm>
    </dsp:sp>
    <dsp:sp modelId="{19D1F821-3860-4F77-A074-BB6401E6326E}">
      <dsp:nvSpPr>
        <dsp:cNvPr id="0" name=""/>
        <dsp:cNvSpPr/>
      </dsp:nvSpPr>
      <dsp:spPr>
        <a:xfrm>
          <a:off x="4680567" y="7062512"/>
          <a:ext cx="4981393" cy="4983390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5557075" y="8800736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Done/Error</a:t>
          </a:r>
        </a:p>
      </dsp:txBody>
      <dsp:txXfrm>
        <a:off x="5557075" y="8800736"/>
        <a:ext cx="3221845" cy="16105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12308823"/>
          <a:ext cx="24841200" cy="4039082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iii). Containerized Deployment</a:t>
          </a:r>
          <a:endParaRPr lang="en-IE" sz="6600" b="1" kern="1200" dirty="0"/>
        </a:p>
      </dsp:txBody>
      <dsp:txXfrm>
        <a:off x="0" y="12308823"/>
        <a:ext cx="24841200" cy="2181104"/>
      </dsp:txXfrm>
    </dsp:sp>
    <dsp:sp modelId="{2147C4C3-E4ED-44EA-8A74-5AB07B9224C6}">
      <dsp:nvSpPr>
        <dsp:cNvPr id="0" name=""/>
        <dsp:cNvSpPr/>
      </dsp:nvSpPr>
      <dsp:spPr>
        <a:xfrm>
          <a:off x="0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AI play time optimizer</a:t>
          </a:r>
        </a:p>
      </dsp:txBody>
      <dsp:txXfrm>
        <a:off x="0" y="14489921"/>
        <a:ext cx="8272313" cy="1857977"/>
      </dsp:txXfrm>
    </dsp:sp>
    <dsp:sp modelId="{EF0D8E2E-611F-48CE-B1FC-FF5FEBAA646D}">
      <dsp:nvSpPr>
        <dsp:cNvPr id="0" name=""/>
        <dsp:cNvSpPr/>
      </dsp:nvSpPr>
      <dsp:spPr>
        <a:xfrm>
          <a:off x="8254331" y="14489928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 containerized workloads</a:t>
          </a:r>
        </a:p>
      </dsp:txBody>
      <dsp:txXfrm>
        <a:off x="8254331" y="14489928"/>
        <a:ext cx="8272313" cy="1857977"/>
      </dsp:txXfrm>
    </dsp:sp>
    <dsp:sp modelId="{A26E17A3-6ADC-4207-BAA9-6F37A7025026}">
      <dsp:nvSpPr>
        <dsp:cNvPr id="0" name=""/>
        <dsp:cNvSpPr/>
      </dsp:nvSpPr>
      <dsp:spPr>
        <a:xfrm>
          <a:off x="16556756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Node label constraints</a:t>
          </a:r>
        </a:p>
      </dsp:txBody>
      <dsp:txXfrm>
        <a:off x="16556756" y="14489921"/>
        <a:ext cx="8272313" cy="1857977"/>
      </dsp:txXfrm>
    </dsp:sp>
    <dsp:sp modelId="{B5901160-2EED-4BC1-9CD9-CBC7C725C48E}">
      <dsp:nvSpPr>
        <dsp:cNvPr id="0" name=""/>
        <dsp:cNvSpPr/>
      </dsp:nvSpPr>
      <dsp:spPr>
        <a:xfrm rot="10800000">
          <a:off x="0" y="6154411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ii). Task Binding Semantics</a:t>
          </a:r>
        </a:p>
      </dsp:txBody>
      <dsp:txXfrm rot="-10800000">
        <a:off x="0" y="6154411"/>
        <a:ext cx="24841200" cy="2180450"/>
      </dsp:txXfrm>
    </dsp:sp>
    <dsp:sp modelId="{9CE9A027-D096-4DBA-9F41-ACB337DEDCA0}">
      <dsp:nvSpPr>
        <dsp:cNvPr id="0" name=""/>
        <dsp:cNvSpPr/>
      </dsp:nvSpPr>
      <dsp:spPr>
        <a:xfrm>
          <a:off x="1750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Serialized function runner</a:t>
          </a:r>
        </a:p>
      </dsp:txBody>
      <dsp:txXfrm>
        <a:off x="17506" y="8370412"/>
        <a:ext cx="8272313" cy="1857420"/>
      </dsp:txXfrm>
    </dsp:sp>
    <dsp:sp modelId="{87C3872B-7E02-4085-B647-9CD9B06A0313}">
      <dsp:nvSpPr>
        <dsp:cNvPr id="0" name=""/>
        <dsp:cNvSpPr/>
      </dsp:nvSpPr>
      <dsp:spPr>
        <a:xfrm>
          <a:off x="8284443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explicit binding semantics (early vs late)</a:t>
          </a:r>
        </a:p>
      </dsp:txBody>
      <dsp:txXfrm>
        <a:off x="8284443" y="8370412"/>
        <a:ext cx="8272313" cy="1857420"/>
      </dsp:txXfrm>
    </dsp:sp>
    <dsp:sp modelId="{6A9F14BE-80C0-4B02-B21C-6C233AACAF51}">
      <dsp:nvSpPr>
        <dsp:cNvPr id="0" name=""/>
        <dsp:cNvSpPr/>
      </dsp:nvSpPr>
      <dsp:spPr>
        <a:xfrm>
          <a:off x="1656888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Job environment               attached to tasks</a:t>
          </a:r>
        </a:p>
      </dsp:txBody>
      <dsp:txXfrm>
        <a:off x="16568886" y="8370412"/>
        <a:ext cx="8272313" cy="1857420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i). Workflow Orchestration</a:t>
          </a:r>
        </a:p>
      </dsp:txBody>
      <dsp:txXfrm rot="-10800000">
        <a:off x="0" y="0"/>
        <a:ext cx="24841200" cy="2180450"/>
      </dsp:txXfrm>
    </dsp:sp>
    <dsp:sp modelId="{07763EBB-4274-4F86-A670-BA07EE7CCAD5}">
      <dsp:nvSpPr>
        <dsp:cNvPr id="0" name=""/>
        <dsp:cNvSpPr/>
      </dsp:nvSpPr>
      <dsp:spPr>
        <a:xfrm>
          <a:off x="534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Bioinformatic workflows</a:t>
          </a:r>
        </a:p>
      </dsp:txBody>
      <dsp:txXfrm>
        <a:off x="5346" y="2211628"/>
        <a:ext cx="8272313" cy="1857420"/>
      </dsp:txXfrm>
    </dsp:sp>
    <dsp:sp modelId="{A5384461-3C55-409F-A76C-DC6C5CADCFE8}">
      <dsp:nvSpPr>
        <dsp:cNvPr id="0" name=""/>
        <dsp:cNvSpPr/>
      </dsp:nvSpPr>
      <dsp:spPr>
        <a:xfrm>
          <a:off x="8284443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workflow orchestration across pilots</a:t>
          </a:r>
        </a:p>
      </dsp:txBody>
      <dsp:txXfrm>
        <a:off x="8284443" y="2211628"/>
        <a:ext cx="8272313" cy="1857420"/>
      </dsp:txXfrm>
    </dsp:sp>
    <dsp:sp modelId="{1CEB22B1-9A7E-4A91-AF0C-26B893E69FA6}">
      <dsp:nvSpPr>
        <dsp:cNvPr id="0" name=""/>
        <dsp:cNvSpPr/>
      </dsp:nvSpPr>
      <dsp:spPr>
        <a:xfrm>
          <a:off x="1656888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Operational across relational        &amp; non-relational databases</a:t>
          </a:r>
        </a:p>
      </dsp:txBody>
      <dsp:txXfrm>
        <a:off x="16568886" y="2211628"/>
        <a:ext cx="8272313" cy="1857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8BCE7-0017-4B0C-A2FB-E6F7885367AC}" type="datetimeFigureOut">
              <a:rPr lang="en-IE" smtClean="0"/>
              <a:t>27/04/2026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5100" y="1143000"/>
            <a:ext cx="3987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F6FBF-C1CE-4F54-B4F6-DD96A3A7064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9364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35100" y="1143000"/>
            <a:ext cx="3987800" cy="3086100"/>
          </a:xfrm>
        </p:spPr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#e6eaed</a:t>
            </a:r>
          </a:p>
          <a:p>
            <a:r>
              <a:rPr lang="en-IE" dirty="0"/>
              <a:t>#cdd2d8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4F6FBF-C1CE-4F54-B4F6-DD96A3A70649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401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8022" y="3829544"/>
            <a:ext cx="25704245" cy="8146580"/>
          </a:xfrm>
        </p:spPr>
        <p:txBody>
          <a:bodyPr anchor="b"/>
          <a:lstStyle>
            <a:lvl1pPr algn="ctr"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036" y="12290287"/>
            <a:ext cx="22680216" cy="5649521"/>
          </a:xfrm>
        </p:spPr>
        <p:txBody>
          <a:bodyPr/>
          <a:lstStyle>
            <a:lvl1pPr marL="0" indent="0" algn="ctr">
              <a:buNone/>
              <a:defRPr sz="7937"/>
            </a:lvl1pPr>
            <a:lvl2pPr marL="1512006" indent="0" algn="ctr">
              <a:buNone/>
              <a:defRPr sz="6614"/>
            </a:lvl2pPr>
            <a:lvl3pPr marL="3024012" indent="0" algn="ctr">
              <a:buNone/>
              <a:defRPr sz="5953"/>
            </a:lvl3pPr>
            <a:lvl4pPr marL="4536018" indent="0" algn="ctr">
              <a:buNone/>
              <a:defRPr sz="5291"/>
            </a:lvl4pPr>
            <a:lvl5pPr marL="6048024" indent="0" algn="ctr">
              <a:buNone/>
              <a:defRPr sz="5291"/>
            </a:lvl5pPr>
            <a:lvl6pPr marL="7560031" indent="0" algn="ctr">
              <a:buNone/>
              <a:defRPr sz="5291"/>
            </a:lvl6pPr>
            <a:lvl7pPr marL="9072037" indent="0" algn="ctr">
              <a:buNone/>
              <a:defRPr sz="5291"/>
            </a:lvl7pPr>
            <a:lvl8pPr marL="10584043" indent="0" algn="ctr">
              <a:buNone/>
              <a:defRPr sz="5291"/>
            </a:lvl8pPr>
            <a:lvl9pPr marL="12096049" indent="0" algn="ctr">
              <a:buNone/>
              <a:defRPr sz="529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27/04/2026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31198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27/04/2026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25453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3272" y="5833695"/>
            <a:ext cx="26082248" cy="9733644"/>
          </a:xfrm>
        </p:spPr>
        <p:txBody>
          <a:bodyPr anchor="b"/>
          <a:lstStyle>
            <a:lvl1pPr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3272" y="15659423"/>
            <a:ext cx="26082248" cy="5118694"/>
          </a:xfrm>
        </p:spPr>
        <p:txBody>
          <a:bodyPr/>
          <a:lstStyle>
            <a:lvl1pPr marL="0" indent="0">
              <a:buNone/>
              <a:defRPr sz="7937">
                <a:solidFill>
                  <a:schemeClr val="tx1">
                    <a:tint val="82000"/>
                  </a:schemeClr>
                </a:solidFill>
              </a:defRPr>
            </a:lvl1pPr>
            <a:lvl2pPr marL="1512006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2pPr>
            <a:lvl3pPr marL="3024012" indent="0">
              <a:buNone/>
              <a:defRPr sz="5953">
                <a:solidFill>
                  <a:schemeClr val="tx1">
                    <a:tint val="82000"/>
                  </a:schemeClr>
                </a:solidFill>
              </a:defRPr>
            </a:lvl3pPr>
            <a:lvl4pPr marL="4536018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4pPr>
            <a:lvl5pPr marL="6048024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5pPr>
            <a:lvl6pPr marL="7560031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6pPr>
            <a:lvl7pPr marL="9072037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7pPr>
            <a:lvl8pPr marL="10584043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8pPr>
            <a:lvl9pPr marL="12096049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27/04/2026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63403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9020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9146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27/04/2026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55347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245825"/>
            <a:ext cx="26082248" cy="45228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2962" y="5736191"/>
            <a:ext cx="12793057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2962" y="8547409"/>
            <a:ext cx="12793057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09148" y="5736191"/>
            <a:ext cx="12856061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09148" y="8547409"/>
            <a:ext cx="12856061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27/04/2026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89652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27/04/2026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4400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27/04/2026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2556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6061" y="3369136"/>
            <a:ext cx="15309146" cy="16628989"/>
          </a:xfrm>
        </p:spPr>
        <p:txBody>
          <a:bodyPr/>
          <a:lstStyle>
            <a:lvl1pPr>
              <a:defRPr sz="10583"/>
            </a:lvl1pPr>
            <a:lvl2pPr>
              <a:defRPr sz="9260"/>
            </a:lvl2pPr>
            <a:lvl3pPr>
              <a:defRPr sz="7937"/>
            </a:lvl3pPr>
            <a:lvl4pPr>
              <a:defRPr sz="6614"/>
            </a:lvl4pPr>
            <a:lvl5pPr>
              <a:defRPr sz="6614"/>
            </a:lvl5pPr>
            <a:lvl6pPr>
              <a:defRPr sz="6614"/>
            </a:lvl6pPr>
            <a:lvl7pPr>
              <a:defRPr sz="6614"/>
            </a:lvl7pPr>
            <a:lvl8pPr>
              <a:defRPr sz="6614"/>
            </a:lvl8pPr>
            <a:lvl9pPr>
              <a:defRPr sz="66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27/04/2026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24624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56061" y="3369136"/>
            <a:ext cx="15309146" cy="16628989"/>
          </a:xfrm>
        </p:spPr>
        <p:txBody>
          <a:bodyPr anchor="t"/>
          <a:lstStyle>
            <a:lvl1pPr marL="0" indent="0">
              <a:buNone/>
              <a:defRPr sz="10583"/>
            </a:lvl1pPr>
            <a:lvl2pPr marL="1512006" indent="0">
              <a:buNone/>
              <a:defRPr sz="9260"/>
            </a:lvl2pPr>
            <a:lvl3pPr marL="3024012" indent="0">
              <a:buNone/>
              <a:defRPr sz="7937"/>
            </a:lvl3pPr>
            <a:lvl4pPr marL="4536018" indent="0">
              <a:buNone/>
              <a:defRPr sz="6614"/>
            </a:lvl4pPr>
            <a:lvl5pPr marL="6048024" indent="0">
              <a:buNone/>
              <a:defRPr sz="6614"/>
            </a:lvl5pPr>
            <a:lvl6pPr marL="7560031" indent="0">
              <a:buNone/>
              <a:defRPr sz="6614"/>
            </a:lvl6pPr>
            <a:lvl7pPr marL="9072037" indent="0">
              <a:buNone/>
              <a:defRPr sz="6614"/>
            </a:lvl7pPr>
            <a:lvl8pPr marL="10584043" indent="0">
              <a:buNone/>
              <a:defRPr sz="6614"/>
            </a:lvl8pPr>
            <a:lvl9pPr marL="12096049" indent="0">
              <a:buNone/>
              <a:defRPr sz="661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27/04/2026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11520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27/04/2026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3804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40708" y="1245820"/>
            <a:ext cx="6520562" cy="198302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9021" y="1245820"/>
            <a:ext cx="19183683" cy="198302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27/04/2026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6672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9020" y="1245825"/>
            <a:ext cx="26082248" cy="4522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020" y="6229100"/>
            <a:ext cx="26082248" cy="14846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9020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27/04/2026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17096" y="21688107"/>
            <a:ext cx="10206097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57203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2102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3024012" rtl="0" eaLnBrk="1" latinLnBrk="0" hangingPunct="1">
        <a:lnSpc>
          <a:spcPct val="90000"/>
        </a:lnSpc>
        <a:spcBef>
          <a:spcPct val="0"/>
        </a:spcBef>
        <a:buNone/>
        <a:defRPr sz="145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003" indent="-756003" algn="l" defTabSz="3024012" rtl="0" eaLnBrk="1" latinLnBrk="0" hangingPunct="1">
        <a:lnSpc>
          <a:spcPct val="90000"/>
        </a:lnSpc>
        <a:spcBef>
          <a:spcPts val="3307"/>
        </a:spcBef>
        <a:buFont typeface="Arial" panose="020B0604020202020204" pitchFamily="34" charset="0"/>
        <a:buChar char="•"/>
        <a:defRPr sz="9260" kern="1200">
          <a:solidFill>
            <a:schemeClr val="tx1"/>
          </a:solidFill>
          <a:latin typeface="+mn-lt"/>
          <a:ea typeface="+mn-ea"/>
          <a:cs typeface="+mn-cs"/>
        </a:defRPr>
      </a:lvl1pPr>
      <a:lvl2pPr marL="2268009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7937" kern="1200">
          <a:solidFill>
            <a:schemeClr val="tx1"/>
          </a:solidFill>
          <a:latin typeface="+mn-lt"/>
          <a:ea typeface="+mn-ea"/>
          <a:cs typeface="+mn-cs"/>
        </a:defRPr>
      </a:lvl2pPr>
      <a:lvl3pPr marL="3780015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3pPr>
      <a:lvl4pPr marL="5292021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804028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8316034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828040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1340046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852052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1pPr>
      <a:lvl2pPr marL="1512006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2pPr>
      <a:lvl3pPr marL="3024012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3pPr>
      <a:lvl4pPr marL="4536018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048024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7560031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072037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0584043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096049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jpe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7900" y="928256"/>
            <a:ext cx="25641300" cy="4670205"/>
          </a:xfrm>
        </p:spPr>
        <p:txBody>
          <a:bodyPr>
            <a:noAutofit/>
          </a:bodyPr>
          <a:lstStyle/>
          <a:p>
            <a:pPr algn="ctr"/>
            <a:r>
              <a:rPr lang="en-IE" sz="16900" b="1" dirty="0"/>
              <a:t>High-Level Layered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E16935D-5F14-537E-1162-66BA030B76D0}"/>
              </a:ext>
            </a:extLst>
          </p:cNvPr>
          <p:cNvGrpSpPr/>
          <p:nvPr/>
        </p:nvGrpSpPr>
        <p:grpSpPr>
          <a:xfrm>
            <a:off x="5689601" y="7520075"/>
            <a:ext cx="19380200" cy="13771473"/>
            <a:chOff x="8222933" y="7291476"/>
            <a:chExt cx="13380721" cy="1002792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8AD5DC9-A2B0-E248-2339-42B3ED605801}"/>
                </a:ext>
              </a:extLst>
            </p:cNvPr>
            <p:cNvSpPr/>
            <p:nvPr/>
          </p:nvSpPr>
          <p:spPr>
            <a:xfrm>
              <a:off x="8233094" y="11192917"/>
              <a:ext cx="13370560" cy="2316480"/>
            </a:xfrm>
            <a:prstGeom prst="roundRect">
              <a:avLst/>
            </a:prstGeom>
            <a:solidFill>
              <a:srgbClr val="800020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Orchestration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TaskTide DB Coordinated Clients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Monitoring, Workflow Deployment, Binding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0D624A0-53B8-21B1-C12C-899AF45DC6E2}"/>
                </a:ext>
              </a:extLst>
            </p:cNvPr>
            <p:cNvSpPr/>
            <p:nvPr/>
          </p:nvSpPr>
          <p:spPr>
            <a:xfrm>
              <a:off x="8222933" y="15002917"/>
              <a:ext cx="13370560" cy="2316480"/>
            </a:xfrm>
            <a:prstGeom prst="roundRect">
              <a:avLst/>
            </a:prstGeom>
            <a:solidFill>
              <a:srgbClr val="3B3B98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Infrastructure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Schedulers &amp; Provisioners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(SLURM, Hadoop, </a:t>
              </a:r>
              <a:r>
                <a:rPr lang="en-IE" sz="4400" b="1" i="1" dirty="0" err="1">
                  <a:solidFill>
                    <a:schemeClr val="bg1"/>
                  </a:solidFill>
                </a:rPr>
                <a:t>gLite</a:t>
              </a:r>
              <a:r>
                <a:rPr lang="en-IE" sz="4400" b="1" i="1" dirty="0">
                  <a:solidFill>
                    <a:schemeClr val="bg1"/>
                  </a:solidFill>
                </a:rPr>
                <a:t>, Kubernetes)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7F0153C-F87B-D4B9-028C-456E925B336A}"/>
                </a:ext>
              </a:extLst>
            </p:cNvPr>
            <p:cNvSpPr/>
            <p:nvPr/>
          </p:nvSpPr>
          <p:spPr>
            <a:xfrm>
              <a:off x="8233094" y="7291476"/>
              <a:ext cx="13370560" cy="2316480"/>
            </a:xfrm>
            <a:prstGeom prst="roundRect">
              <a:avLst/>
            </a:prstGeom>
            <a:solidFill>
              <a:srgbClr val="2A2A72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Data Application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Domain Specific Workflow Development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(ETL, AI, Spark)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2F25226-8FE0-FB9E-6CF9-5C52BAB1CD28}"/>
              </a:ext>
            </a:extLst>
          </p:cNvPr>
          <p:cNvGrpSpPr/>
          <p:nvPr/>
        </p:nvGrpSpPr>
        <p:grpSpPr>
          <a:xfrm>
            <a:off x="1201154" y="922334"/>
            <a:ext cx="26992846" cy="21480466"/>
            <a:chOff x="6855210" y="3843496"/>
            <a:chExt cx="16922683" cy="15675181"/>
          </a:xfrm>
        </p:grpSpPr>
        <p:pic>
          <p:nvPicPr>
            <p:cNvPr id="5" name="Picture 4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73E130C7-F43E-218E-CFA0-2E472A988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17742" y="9388777"/>
              <a:ext cx="4075591" cy="2827219"/>
            </a:xfrm>
            <a:prstGeom prst="rect">
              <a:avLst/>
            </a:prstGeom>
          </p:spPr>
        </p:pic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3B2EDDBA-81FB-2174-1909-4135281C0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26952" y="9744979"/>
              <a:ext cx="4112481" cy="2274120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CCDAD23B-55A5-E907-1F02-B4E40AB999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63915" y="5925376"/>
              <a:ext cx="4115234" cy="21399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F536A531-ACB6-9D4D-412A-8B43D77767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51020" y="4142596"/>
              <a:ext cx="2435749" cy="15673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Slurm Workload Manager - Wikipedia">
              <a:extLst>
                <a:ext uri="{FF2B5EF4-FFF2-40B4-BE49-F238E27FC236}">
                  <a16:creationId xmlns:a16="http://schemas.microsoft.com/office/drawing/2014/main" id="{B310FE77-77EC-EC3C-705C-C79EAD29B8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4665" y="14667365"/>
              <a:ext cx="3908804" cy="35798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Hadoop Consulting and Support Services 🐘">
              <a:extLst>
                <a:ext uri="{FF2B5EF4-FFF2-40B4-BE49-F238E27FC236}">
                  <a16:creationId xmlns:a16="http://schemas.microsoft.com/office/drawing/2014/main" id="{CF53062D-BC41-1A84-6CCE-94958EE1D6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85842" y="16392134"/>
              <a:ext cx="4872885" cy="27891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Kubernetes Logo and Wordmark Sticker ...">
              <a:extLst>
                <a:ext uri="{FF2B5EF4-FFF2-40B4-BE49-F238E27FC236}">
                  <a16:creationId xmlns:a16="http://schemas.microsoft.com/office/drawing/2014/main" id="{15AB4257-9B6F-5A87-7CEA-CC7E2C0145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717253" y="14692676"/>
              <a:ext cx="3645862" cy="36458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Python Logo PNG Vector (SVG) Free Download">
              <a:extLst>
                <a:ext uri="{FF2B5EF4-FFF2-40B4-BE49-F238E27FC236}">
                  <a16:creationId xmlns:a16="http://schemas.microsoft.com/office/drawing/2014/main" id="{62B89B67-4639-4806-8F38-BF34A52773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29035" y="4425079"/>
              <a:ext cx="3227499" cy="3227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A815DD6-CF85-CA76-C8C9-BE2CB88C0BC0}"/>
                </a:ext>
              </a:extLst>
            </p:cNvPr>
            <p:cNvSpPr/>
            <p:nvPr/>
          </p:nvSpPr>
          <p:spPr>
            <a:xfrm>
              <a:off x="8172133" y="3843496"/>
              <a:ext cx="15544800" cy="4470400"/>
            </a:xfrm>
            <a:prstGeom prst="roundRect">
              <a:avLst/>
            </a:prstGeom>
            <a:noFill/>
            <a:ln w="76200">
              <a:solidFill>
                <a:srgbClr val="2A2A7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3361AE9-7B9B-9BA8-B967-A09704AB0BCC}"/>
                </a:ext>
              </a:extLst>
            </p:cNvPr>
            <p:cNvSpPr/>
            <p:nvPr/>
          </p:nvSpPr>
          <p:spPr>
            <a:xfrm>
              <a:off x="8202614" y="8807512"/>
              <a:ext cx="15544800" cy="4909804"/>
            </a:xfrm>
            <a:prstGeom prst="roundRect">
              <a:avLst/>
            </a:prstGeom>
            <a:noFill/>
            <a:ln w="76200">
              <a:solidFill>
                <a:srgbClr val="80002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E4D2371-C54A-9C5B-B216-E076192FB328}"/>
                </a:ext>
              </a:extLst>
            </p:cNvPr>
            <p:cNvSpPr/>
            <p:nvPr/>
          </p:nvSpPr>
          <p:spPr>
            <a:xfrm>
              <a:off x="8233093" y="14186377"/>
              <a:ext cx="15544800" cy="5332300"/>
            </a:xfrm>
            <a:prstGeom prst="roundRect">
              <a:avLst/>
            </a:prstGeom>
            <a:noFill/>
            <a:ln w="76200">
              <a:solidFill>
                <a:srgbClr val="3B3B98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pic>
          <p:nvPicPr>
            <p:cNvPr id="1046" name="Picture 22" descr="R Meets Hardware | R-bloggers">
              <a:extLst>
                <a:ext uri="{FF2B5EF4-FFF2-40B4-BE49-F238E27FC236}">
                  <a16:creationId xmlns:a16="http://schemas.microsoft.com/office/drawing/2014/main" id="{A71FA59A-7421-FA14-8B69-A08ECC9461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35076" y="4175653"/>
              <a:ext cx="3581399" cy="3581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2E426D-90DF-9E70-8E8B-8220C5D9CE9B}"/>
                </a:ext>
              </a:extLst>
            </p:cNvPr>
            <p:cNvSpPr txBox="1"/>
            <p:nvPr/>
          </p:nvSpPr>
          <p:spPr>
            <a:xfrm rot="16200000">
              <a:off x="5387583" y="5583363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2A2A72"/>
                  </a:solidFill>
                </a:rPr>
                <a:t>Data Application Layer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A1024C1-7776-2129-C309-C8FF5AE68EEE}"/>
                </a:ext>
              </a:extLst>
            </p:cNvPr>
            <p:cNvSpPr txBox="1"/>
            <p:nvPr/>
          </p:nvSpPr>
          <p:spPr>
            <a:xfrm rot="16200000">
              <a:off x="5397742" y="10856405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800020"/>
                  </a:solidFill>
                </a:rPr>
                <a:t>Orchestration    Layer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B442966-5C09-8D5B-777A-DC9B15E129F1}"/>
                </a:ext>
              </a:extLst>
            </p:cNvPr>
            <p:cNvSpPr txBox="1"/>
            <p:nvPr/>
          </p:nvSpPr>
          <p:spPr>
            <a:xfrm rot="16200000">
              <a:off x="5509502" y="16376509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3B3B98"/>
                  </a:solidFill>
                </a:rPr>
                <a:t>Infrastructure    Layer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0CB8691-6939-E709-3301-C6197E863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3893513" y="9101050"/>
              <a:ext cx="4127826" cy="40785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183" y="787897"/>
            <a:ext cx="25184099" cy="2688090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TaskTide Operating Principle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6A874B3-EC93-DDA4-DD78-3262565EF4E4}"/>
              </a:ext>
            </a:extLst>
          </p:cNvPr>
          <p:cNvGrpSpPr/>
          <p:nvPr/>
        </p:nvGrpSpPr>
        <p:grpSpPr>
          <a:xfrm>
            <a:off x="3030683" y="4562598"/>
            <a:ext cx="23964900" cy="17603804"/>
            <a:chOff x="6181099" y="6093585"/>
            <a:chExt cx="17621480" cy="13327077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5C593204-5C51-61CB-9B93-20CA3CC9130B}"/>
                </a:ext>
              </a:extLst>
            </p:cNvPr>
            <p:cNvSpPr/>
            <p:nvPr/>
          </p:nvSpPr>
          <p:spPr>
            <a:xfrm>
              <a:off x="12795661" y="6847712"/>
              <a:ext cx="4303049" cy="4136823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A483FD1-2ED0-F4AB-A3F3-2BA1245E818F}"/>
                </a:ext>
              </a:extLst>
            </p:cNvPr>
            <p:cNvGrpSpPr/>
            <p:nvPr/>
          </p:nvGrpSpPr>
          <p:grpSpPr>
            <a:xfrm>
              <a:off x="6181099" y="14489723"/>
              <a:ext cx="6601490" cy="4923378"/>
              <a:chOff x="42560" y="9141619"/>
              <a:chExt cx="6145249" cy="4390864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8B1E6658-9A50-53B7-522A-B91C6DE4A836}"/>
                  </a:ext>
                </a:extLst>
              </p:cNvPr>
              <p:cNvSpPr/>
              <p:nvPr/>
            </p:nvSpPr>
            <p:spPr>
              <a:xfrm>
                <a:off x="990600" y="9141619"/>
                <a:ext cx="4114801" cy="3578116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3DC12C-8069-DABB-86FA-74E7D28D8B99}"/>
                  </a:ext>
                </a:extLst>
              </p:cNvPr>
              <p:cNvSpPr txBox="1"/>
              <p:nvPr/>
            </p:nvSpPr>
            <p:spPr>
              <a:xfrm>
                <a:off x="42560" y="12846735"/>
                <a:ext cx="6145249" cy="685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4A4A69"/>
                    </a:solidFill>
                  </a:rPr>
                  <a:t>TaskTide Manager Client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1669E7-28FA-74AB-AAF2-D15F49FDBFDA}"/>
                </a:ext>
              </a:extLst>
            </p:cNvPr>
            <p:cNvSpPr txBox="1"/>
            <p:nvPr/>
          </p:nvSpPr>
          <p:spPr>
            <a:xfrm>
              <a:off x="12123300" y="6093585"/>
              <a:ext cx="5730786" cy="76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000" b="1" dirty="0">
                  <a:solidFill>
                    <a:srgbClr val="400020"/>
                  </a:solidFill>
                </a:rPr>
                <a:t>TaskTide Repository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C64E6B9-19FD-0A28-C46A-500411995680}"/>
                </a:ext>
              </a:extLst>
            </p:cNvPr>
            <p:cNvGrpSpPr/>
            <p:nvPr/>
          </p:nvGrpSpPr>
          <p:grpSpPr>
            <a:xfrm>
              <a:off x="17646323" y="14416596"/>
              <a:ext cx="6156256" cy="5004066"/>
              <a:chOff x="11591831" y="9246292"/>
              <a:chExt cx="6156256" cy="5004065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5B4C2370-9AAF-48EF-E4FD-131500998CB2}"/>
                  </a:ext>
                </a:extLst>
              </p:cNvPr>
              <p:cNvGrpSpPr/>
              <p:nvPr/>
            </p:nvGrpSpPr>
            <p:grpSpPr>
              <a:xfrm>
                <a:off x="12475012" y="9246292"/>
                <a:ext cx="4432254" cy="4040981"/>
                <a:chOff x="11866610" y="9319419"/>
                <a:chExt cx="4432254" cy="4040981"/>
              </a:xfrm>
            </p:grpSpPr>
            <p:sp>
              <p:nvSpPr>
                <p:cNvPr id="7" name="Rectangle: Rounded Corners 6">
                  <a:extLst>
                    <a:ext uri="{FF2B5EF4-FFF2-40B4-BE49-F238E27FC236}">
                      <a16:creationId xmlns:a16="http://schemas.microsoft.com/office/drawing/2014/main" id="{208A7A84-1774-C912-AB85-F801B08D27F6}"/>
                    </a:ext>
                  </a:extLst>
                </p:cNvPr>
                <p:cNvSpPr/>
                <p:nvPr/>
              </p:nvSpPr>
              <p:spPr>
                <a:xfrm>
                  <a:off x="11866610" y="9319419"/>
                  <a:ext cx="4432254" cy="4040981"/>
                </a:xfrm>
                <a:prstGeom prst="roundRect">
                  <a:avLst/>
                </a:prstGeom>
                <a:solidFill>
                  <a:schemeClr val="bg1"/>
                </a:solidFill>
                <a:ln w="76200">
                  <a:solidFill>
                    <a:schemeClr val="tx1"/>
                  </a:solidFill>
                </a:ln>
                <a:effectLst>
                  <a:outerShdw blurRad="190500" dist="228600" dir="2700000" algn="ctr">
                    <a:srgbClr val="000000">
                      <a:alpha val="30000"/>
                    </a:srgbClr>
                  </a:outerShdw>
                </a:effectLst>
                <a:scene3d>
                  <a:camera prst="orthographicFront">
                    <a:rot lat="0" lon="0" rev="0"/>
                  </a:camera>
                  <a:lightRig rig="glow" dir="t">
                    <a:rot lat="0" lon="0" rev="4800000"/>
                  </a:lightRig>
                </a:scene3d>
                <a:sp3d prstMaterial="matte">
                  <a:bevelT w="127000"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E" sz="4000" b="1" i="1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29" name="Graphic 28" descr="Server with solid fill">
                  <a:extLst>
                    <a:ext uri="{FF2B5EF4-FFF2-40B4-BE49-F238E27FC236}">
                      <a16:creationId xmlns:a16="http://schemas.microsoft.com/office/drawing/2014/main" id="{8316283D-7B25-8065-9774-0C00AB121A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372602" y="9457606"/>
                  <a:ext cx="3420270" cy="3420270"/>
                </a:xfrm>
                <a:prstGeom prst="rect">
                  <a:avLst/>
                </a:prstGeom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</p:pic>
          </p:grp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C0BC1BF-385F-CF2F-0C38-6F357B388D21}"/>
                  </a:ext>
                </a:extLst>
              </p:cNvPr>
              <p:cNvSpPr txBox="1"/>
              <p:nvPr/>
            </p:nvSpPr>
            <p:spPr>
              <a:xfrm>
                <a:off x="11591831" y="13481443"/>
                <a:ext cx="6156256" cy="7689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2A2A72"/>
                    </a:solidFill>
                  </a:rPr>
                  <a:t>TaskTide Engine Client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6F9FCBA-4E1C-7234-C161-8A6523B5DD34}"/>
                </a:ext>
              </a:extLst>
            </p:cNvPr>
            <p:cNvGrpSpPr/>
            <p:nvPr/>
          </p:nvGrpSpPr>
          <p:grpSpPr>
            <a:xfrm>
              <a:off x="7816677" y="14797111"/>
              <a:ext cx="3161011" cy="3266573"/>
              <a:chOff x="1594225" y="9626813"/>
              <a:chExt cx="3161011" cy="3266573"/>
            </a:xfrm>
            <a:effectLst/>
          </p:grpSpPr>
          <p:pic>
            <p:nvPicPr>
              <p:cNvPr id="27" name="Graphic 26" descr="Users with solid fill">
                <a:extLst>
                  <a:ext uri="{FF2B5EF4-FFF2-40B4-BE49-F238E27FC236}">
                    <a16:creationId xmlns:a16="http://schemas.microsoft.com/office/drawing/2014/main" id="{C595667A-372A-C4AB-5F8D-E34128647C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225" y="9626813"/>
                <a:ext cx="3161011" cy="3161011"/>
              </a:xfrm>
              <a:prstGeom prst="rect">
                <a:avLst/>
              </a:prstGeom>
              <a:ln>
                <a:noFill/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82D307F-6BEB-7D2A-6BA7-2370D2763BDE}"/>
                  </a:ext>
                </a:extLst>
              </p:cNvPr>
              <p:cNvSpPr txBox="1"/>
              <p:nvPr/>
            </p:nvSpPr>
            <p:spPr>
              <a:xfrm>
                <a:off x="2044096" y="12310876"/>
                <a:ext cx="2229323" cy="5825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4400" b="1" dirty="0">
                    <a:solidFill>
                      <a:srgbClr val="4A4A69"/>
                    </a:solidFill>
                  </a:rPr>
                  <a:t>Users</a:t>
                </a:r>
              </a:p>
            </p:txBody>
          </p:sp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7CFD93B-E941-33F7-5042-967656AE31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19232" y="11029928"/>
              <a:ext cx="2997323" cy="313977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101EE2E-D242-5A1D-0B22-F09ED2102B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8714" y="11235207"/>
              <a:ext cx="2960525" cy="311211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A64FC3B-2231-AB00-0114-7D3B3E4D57AC}"/>
                </a:ext>
              </a:extLst>
            </p:cNvPr>
            <p:cNvSpPr txBox="1"/>
            <p:nvPr/>
          </p:nvSpPr>
          <p:spPr>
            <a:xfrm rot="18828662">
              <a:off x="9451300" y="12205950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Register Tasks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2CC0E93-2FC7-E32C-8A01-598038EDD30E}"/>
                </a:ext>
              </a:extLst>
            </p:cNvPr>
            <p:cNvSpPr txBox="1"/>
            <p:nvPr/>
          </p:nvSpPr>
          <p:spPr>
            <a:xfrm rot="18828662">
              <a:off x="10099243" y="1262887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Query Tasks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870012A-93A9-A141-B3C1-9A921F3801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913599" y="11197878"/>
              <a:ext cx="2719222" cy="307746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BA893D8-ADC2-1C69-849B-ACBFE36CE7F6}"/>
                </a:ext>
              </a:extLst>
            </p:cNvPr>
            <p:cNvSpPr txBox="1"/>
            <p:nvPr/>
          </p:nvSpPr>
          <p:spPr>
            <a:xfrm rot="2935289">
              <a:off x="17059217" y="1214342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Consume Tasks</a:t>
              </a: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F9934AA2-464E-7C46-F454-9C4F19C44E45}"/>
                </a:ext>
              </a:extLst>
            </p:cNvPr>
            <p:cNvCxnSpPr>
              <a:cxnSpLocks/>
            </p:cNvCxnSpPr>
            <p:nvPr/>
          </p:nvCxnSpPr>
          <p:spPr>
            <a:xfrm>
              <a:off x="17173353" y="11141902"/>
              <a:ext cx="2772793" cy="313899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D550E53-A724-EDEC-286E-FCB879197398}"/>
                </a:ext>
              </a:extLst>
            </p:cNvPr>
            <p:cNvSpPr txBox="1"/>
            <p:nvPr/>
          </p:nvSpPr>
          <p:spPr>
            <a:xfrm rot="2912262">
              <a:off x="16379015" y="12685600"/>
              <a:ext cx="3423398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Update Task States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962488A-2419-8503-18D0-7ACC535DDBA1}"/>
                </a:ext>
              </a:extLst>
            </p:cNvPr>
            <p:cNvSpPr txBox="1"/>
            <p:nvPr/>
          </p:nvSpPr>
          <p:spPr>
            <a:xfrm>
              <a:off x="19902605" y="17721856"/>
              <a:ext cx="1802445" cy="582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2A2A72"/>
                  </a:solidFill>
                </a:rPr>
                <a:t>Server </a:t>
              </a:r>
              <a:endParaRPr lang="en-IE" sz="4400" dirty="0"/>
            </a:p>
          </p:txBody>
        </p:sp>
        <p:pic>
          <p:nvPicPr>
            <p:cNvPr id="8" name="Graphic 7" descr="Database with solid fill">
              <a:extLst>
                <a:ext uri="{FF2B5EF4-FFF2-40B4-BE49-F238E27FC236}">
                  <a16:creationId xmlns:a16="http://schemas.microsoft.com/office/drawing/2014/main" id="{ED8D8A1C-43A2-F999-B330-E1B3A6D456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978694" y="7006230"/>
              <a:ext cx="3893439" cy="34777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7A4EB6-B6C0-EE2C-43D3-54A695091B52}"/>
                </a:ext>
              </a:extLst>
            </p:cNvPr>
            <p:cNvSpPr txBox="1"/>
            <p:nvPr/>
          </p:nvSpPr>
          <p:spPr>
            <a:xfrm>
              <a:off x="13586368" y="10226501"/>
              <a:ext cx="2766018" cy="5825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400020"/>
                  </a:solidFill>
                </a:rPr>
                <a:t>Database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E12E96-8C5E-A419-F945-40DB3DCD2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9151026"/>
              </p:ext>
            </p:extLst>
          </p:nvPr>
        </p:nvGraphicFramePr>
        <p:xfrm>
          <a:off x="125924" y="3740727"/>
          <a:ext cx="29988439" cy="15722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351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7264400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  <a:gridCol w="8473213">
                  <a:extLst>
                    <a:ext uri="{9D8B030D-6E8A-4147-A177-3AD203B41FA5}">
                      <a16:colId xmlns:a16="http://schemas.microsoft.com/office/drawing/2014/main" val="3426773098"/>
                    </a:ext>
                  </a:extLst>
                </a:gridCol>
                <a:gridCol w="8584475">
                  <a:extLst>
                    <a:ext uri="{9D8B030D-6E8A-4147-A177-3AD203B41FA5}">
                      <a16:colId xmlns:a16="http://schemas.microsoft.com/office/drawing/2014/main" val="2953560966"/>
                    </a:ext>
                  </a:extLst>
                </a:gridCol>
              </a:tblGrid>
              <a:tr h="1967346">
                <a:tc gridSpan="4">
                  <a:txBody>
                    <a:bodyPr/>
                    <a:lstStyle/>
                    <a:p>
                      <a:pPr algn="ctr"/>
                      <a:r>
                        <a:rPr lang="en-IE" sz="8000" dirty="0"/>
                        <a:t>TaskTide Feature Summary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980279"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Component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Purpose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Contributions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Operational Value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282302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Core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 Defines data model,</a:t>
                      </a:r>
                    </a:p>
                    <a:p>
                      <a:pPr lvl="0" algn="ctr"/>
                      <a:r>
                        <a:rPr lang="en-IE" sz="3600" dirty="0"/>
                        <a:t>and CRUD operations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Backend agnostic; Standardized data model; Custom data fields;          Workflow-Execution context mapping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Workflow reproducibility &amp; portability; Flexible workflow introspection;          Heterogenous deployment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2768600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Engine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modularized components for consuming registered tasks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Producer-consumer execution;</a:t>
                      </a:r>
                    </a:p>
                    <a:p>
                      <a:pPr lvl="0" algn="ctr"/>
                      <a:r>
                        <a:rPr lang="en-IE" sz="3600" dirty="0"/>
                        <a:t>Pilot-Job semantics; Multi-Level parallelism; Real-time monitoring.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Scalable ETL deployment; Late &amp; early task binding semantics; Adaptive workflows; Fault tolerance.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349485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Web API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RESTful &amp; GraphQL interfaces for interacting with TaskTide services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access layer for workflow management; Supports programmatic task registration, querying, and monitoring; Enables integration with external systems &amp; services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Enables deployment as a service within distributed architectures; Supports web-based dashboarding and multi-user access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735797"/>
                  </a:ext>
                </a:extLst>
              </a:tr>
              <a:tr h="2688771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Client  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Exposes Manager, and Engine functionality through a single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client; Configurable; Extensible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Low-friction adoption; Automation;      Multi disciplinary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7654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442C53B-82B7-2AD8-D924-9DF52C633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0666" y="1106687"/>
            <a:ext cx="7968078" cy="715267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56C33F0F-4EC8-6417-475A-ADE518857DA8}"/>
              </a:ext>
            </a:extLst>
          </p:cNvPr>
          <p:cNvGrpSpPr/>
          <p:nvPr/>
        </p:nvGrpSpPr>
        <p:grpSpPr>
          <a:xfrm>
            <a:off x="190500" y="4509414"/>
            <a:ext cx="29664648" cy="15863243"/>
            <a:chOff x="304800" y="3633114"/>
            <a:chExt cx="29664648" cy="15863243"/>
          </a:xfrm>
        </p:grpSpPr>
        <p:sp>
          <p:nvSpPr>
            <p:cNvPr id="121" name="Flowchart: Alternate Process 120">
              <a:extLst>
                <a:ext uri="{FF2B5EF4-FFF2-40B4-BE49-F238E27FC236}">
                  <a16:creationId xmlns:a16="http://schemas.microsoft.com/office/drawing/2014/main" id="{C4AB3B5F-5649-035E-E24A-02D3222804EB}"/>
                </a:ext>
              </a:extLst>
            </p:cNvPr>
            <p:cNvSpPr/>
            <p:nvPr/>
          </p:nvSpPr>
          <p:spPr>
            <a:xfrm>
              <a:off x="4785717" y="3674793"/>
              <a:ext cx="6201238" cy="126390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 Client</a:t>
              </a:r>
            </a:p>
          </p:txBody>
        </p:sp>
        <p:sp>
          <p:nvSpPr>
            <p:cNvPr id="122" name="Flowchart: Alternate Process 121">
              <a:extLst>
                <a:ext uri="{FF2B5EF4-FFF2-40B4-BE49-F238E27FC236}">
                  <a16:creationId xmlns:a16="http://schemas.microsoft.com/office/drawing/2014/main" id="{05A3D55B-44F3-C334-1AB1-EC5DE97704AE}"/>
                </a:ext>
              </a:extLst>
            </p:cNvPr>
            <p:cNvSpPr/>
            <p:nvPr/>
          </p:nvSpPr>
          <p:spPr>
            <a:xfrm>
              <a:off x="1537290" y="6136439"/>
              <a:ext cx="4585982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ManagerClient</a:t>
              </a:r>
            </a:p>
          </p:txBody>
        </p:sp>
        <p:sp>
          <p:nvSpPr>
            <p:cNvPr id="123" name="Flowchart: Alternate Process 122">
              <a:extLst>
                <a:ext uri="{FF2B5EF4-FFF2-40B4-BE49-F238E27FC236}">
                  <a16:creationId xmlns:a16="http://schemas.microsoft.com/office/drawing/2014/main" id="{51AC3899-C790-C0C8-8C21-3455834773B5}"/>
                </a:ext>
              </a:extLst>
            </p:cNvPr>
            <p:cNvSpPr/>
            <p:nvPr/>
          </p:nvSpPr>
          <p:spPr>
            <a:xfrm>
              <a:off x="8715793" y="6149460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EngineClient</a:t>
              </a:r>
            </a:p>
          </p:txBody>
        </p:sp>
        <p:sp>
          <p:nvSpPr>
            <p:cNvPr id="124" name="Flowchart: Alternate Process 123">
              <a:extLst>
                <a:ext uri="{FF2B5EF4-FFF2-40B4-BE49-F238E27FC236}">
                  <a16:creationId xmlns:a16="http://schemas.microsoft.com/office/drawing/2014/main" id="{E8605B90-0007-1D27-0A82-35D08158F1AE}"/>
                </a:ext>
              </a:extLst>
            </p:cNvPr>
            <p:cNvSpPr/>
            <p:nvPr/>
          </p:nvSpPr>
          <p:spPr>
            <a:xfrm>
              <a:off x="4455783" y="8358626"/>
              <a:ext cx="6531163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TaskTideService</a:t>
              </a:r>
            </a:p>
          </p:txBody>
        </p:sp>
        <p:sp>
          <p:nvSpPr>
            <p:cNvPr id="125" name="Flowchart: Alternate Process 124">
              <a:extLst>
                <a:ext uri="{FF2B5EF4-FFF2-40B4-BE49-F238E27FC236}">
                  <a16:creationId xmlns:a16="http://schemas.microsoft.com/office/drawing/2014/main" id="{C148D234-19F8-E294-8C39-26FB55AE9D80}"/>
                </a:ext>
              </a:extLst>
            </p:cNvPr>
            <p:cNvSpPr/>
            <p:nvPr/>
          </p:nvSpPr>
          <p:spPr>
            <a:xfrm>
              <a:off x="4455783" y="10503996"/>
              <a:ext cx="6418772" cy="118220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TaskTideRepository</a:t>
              </a:r>
            </a:p>
          </p:txBody>
        </p:sp>
        <p:sp>
          <p:nvSpPr>
            <p:cNvPr id="126" name="Flowchart: Alternate Process 125">
              <a:extLst>
                <a:ext uri="{FF2B5EF4-FFF2-40B4-BE49-F238E27FC236}">
                  <a16:creationId xmlns:a16="http://schemas.microsoft.com/office/drawing/2014/main" id="{2B8ABB09-7837-B8F4-9FC2-D25D8EEE5280}"/>
                </a:ext>
              </a:extLst>
            </p:cNvPr>
            <p:cNvSpPr/>
            <p:nvPr/>
          </p:nvSpPr>
          <p:spPr>
            <a:xfrm>
              <a:off x="304800" y="13383399"/>
              <a:ext cx="6163026" cy="12706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TemplateRepository</a:t>
              </a:r>
            </a:p>
          </p:txBody>
        </p:sp>
        <p:sp>
          <p:nvSpPr>
            <p:cNvPr id="127" name="Flowchart: Alternate Process 126">
              <a:extLst>
                <a:ext uri="{FF2B5EF4-FFF2-40B4-BE49-F238E27FC236}">
                  <a16:creationId xmlns:a16="http://schemas.microsoft.com/office/drawing/2014/main" id="{8E44FD73-847B-BCB6-3247-5D5FABB24684}"/>
                </a:ext>
              </a:extLst>
            </p:cNvPr>
            <p:cNvSpPr/>
            <p:nvPr/>
          </p:nvSpPr>
          <p:spPr>
            <a:xfrm>
              <a:off x="12574703" y="14281671"/>
              <a:ext cx="6440138" cy="127045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ItemStoreRepository</a:t>
              </a:r>
            </a:p>
          </p:txBody>
        </p:sp>
        <p:sp>
          <p:nvSpPr>
            <p:cNvPr id="128" name="Flowchart: Alternate Process 127">
              <a:extLst>
                <a:ext uri="{FF2B5EF4-FFF2-40B4-BE49-F238E27FC236}">
                  <a16:creationId xmlns:a16="http://schemas.microsoft.com/office/drawing/2014/main" id="{BF8AA563-9219-5353-8624-7C2C2791D0A6}"/>
                </a:ext>
              </a:extLst>
            </p:cNvPr>
            <p:cNvSpPr/>
            <p:nvPr/>
          </p:nvSpPr>
          <p:spPr>
            <a:xfrm>
              <a:off x="6931742" y="12584775"/>
              <a:ext cx="4831346" cy="109293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JpaRepository</a:t>
              </a:r>
            </a:p>
          </p:txBody>
        </p: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7376E7B2-CF0F-C825-3629-A6AB0BF55619}"/>
                </a:ext>
              </a:extLst>
            </p:cNvPr>
            <p:cNvGrpSpPr/>
            <p:nvPr/>
          </p:nvGrpSpPr>
          <p:grpSpPr>
            <a:xfrm>
              <a:off x="13567134" y="16387062"/>
              <a:ext cx="5208788" cy="2791999"/>
              <a:chOff x="8471368" y="11395622"/>
              <a:chExt cx="3773483" cy="1545522"/>
            </a:xfrm>
          </p:grpSpPr>
          <p:pic>
            <p:nvPicPr>
              <p:cNvPr id="159" name="Picture 158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23BBEB00-26E7-3664-7398-38D77F642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1368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160" name="Picture 159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B4692DE6-A140-D5A7-3017-EC8303E11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10768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A5D113B4-0E61-40DE-E3D1-61657300E43E}"/>
                  </a:ext>
                </a:extLst>
              </p:cNvPr>
              <p:cNvCxnSpPr/>
              <p:nvPr/>
            </p:nvCxnSpPr>
            <p:spPr>
              <a:xfrm flipH="1">
                <a:off x="9449163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7D9ED151-4EFB-8C78-4B46-F89DDFAE73ED}"/>
                </a:ext>
              </a:extLst>
            </p:cNvPr>
            <p:cNvCxnSpPr>
              <a:cxnSpLocks/>
            </p:cNvCxnSpPr>
            <p:nvPr/>
          </p:nvCxnSpPr>
          <p:spPr>
            <a:xfrm>
              <a:off x="5296944" y="4973011"/>
              <a:ext cx="0" cy="107790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80F8DFAD-96D9-3B9D-FF14-44241861BE34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67" y="11733924"/>
              <a:ext cx="0" cy="80609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8C831ADC-088E-2080-06FF-663ECA46DAC3}"/>
                </a:ext>
              </a:extLst>
            </p:cNvPr>
            <p:cNvCxnSpPr>
              <a:cxnSpLocks/>
            </p:cNvCxnSpPr>
            <p:nvPr/>
          </p:nvCxnSpPr>
          <p:spPr>
            <a:xfrm>
              <a:off x="15587675" y="15608030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3" name="Flowchart: Alternate Process 132">
              <a:extLst>
                <a:ext uri="{FF2B5EF4-FFF2-40B4-BE49-F238E27FC236}">
                  <a16:creationId xmlns:a16="http://schemas.microsoft.com/office/drawing/2014/main" id="{B78E1A68-BF35-1733-7BD2-7B9035FC3B37}"/>
                </a:ext>
              </a:extLst>
            </p:cNvPr>
            <p:cNvSpPr/>
            <p:nvPr/>
          </p:nvSpPr>
          <p:spPr>
            <a:xfrm>
              <a:off x="14044680" y="6113072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TaskTideEngine</a:t>
              </a:r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D5CD03CA-48FC-AB14-5CD9-F61F5E695817}"/>
                </a:ext>
              </a:extLst>
            </p:cNvPr>
            <p:cNvCxnSpPr>
              <a:cxnSpLocks/>
            </p:cNvCxnSpPr>
            <p:nvPr/>
          </p:nvCxnSpPr>
          <p:spPr>
            <a:xfrm>
              <a:off x="10904275" y="11219299"/>
              <a:ext cx="64754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5" name="Flowchart: Alternate Process 134">
              <a:extLst>
                <a:ext uri="{FF2B5EF4-FFF2-40B4-BE49-F238E27FC236}">
                  <a16:creationId xmlns:a16="http://schemas.microsoft.com/office/drawing/2014/main" id="{F7074CD0-E54F-0DC6-C39C-C1A79C268484}"/>
                </a:ext>
              </a:extLst>
            </p:cNvPr>
            <p:cNvSpPr/>
            <p:nvPr/>
          </p:nvSpPr>
          <p:spPr>
            <a:xfrm>
              <a:off x="11551820" y="10519272"/>
              <a:ext cx="4775698" cy="121912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TaskTideModel</a:t>
              </a:r>
            </a:p>
          </p:txBody>
        </p:sp>
        <p:sp>
          <p:nvSpPr>
            <p:cNvPr id="136" name="Flowchart: Alternate Process 135">
              <a:extLst>
                <a:ext uri="{FF2B5EF4-FFF2-40B4-BE49-F238E27FC236}">
                  <a16:creationId xmlns:a16="http://schemas.microsoft.com/office/drawing/2014/main" id="{48593431-C06D-5ECE-A3AD-26C12DBEACF8}"/>
                </a:ext>
              </a:extLst>
            </p:cNvPr>
            <p:cNvSpPr/>
            <p:nvPr/>
          </p:nvSpPr>
          <p:spPr>
            <a:xfrm>
              <a:off x="17652317" y="9102243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Workflow</a:t>
              </a:r>
            </a:p>
          </p:txBody>
        </p:sp>
        <p:sp>
          <p:nvSpPr>
            <p:cNvPr id="137" name="Flowchart: Alternate Process 136">
              <a:extLst>
                <a:ext uri="{FF2B5EF4-FFF2-40B4-BE49-F238E27FC236}">
                  <a16:creationId xmlns:a16="http://schemas.microsoft.com/office/drawing/2014/main" id="{486E743F-B777-DC17-824E-7CE98452D03A}"/>
                </a:ext>
              </a:extLst>
            </p:cNvPr>
            <p:cNvSpPr/>
            <p:nvPr/>
          </p:nvSpPr>
          <p:spPr>
            <a:xfrm>
              <a:off x="17649764" y="106578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Step</a:t>
              </a:r>
            </a:p>
          </p:txBody>
        </p:sp>
        <p:sp>
          <p:nvSpPr>
            <p:cNvPr id="138" name="Flowchart: Alternate Process 137">
              <a:extLst>
                <a:ext uri="{FF2B5EF4-FFF2-40B4-BE49-F238E27FC236}">
                  <a16:creationId xmlns:a16="http://schemas.microsoft.com/office/drawing/2014/main" id="{E507452D-13E3-C9A4-F18C-4F89C0F7DDAF}"/>
                </a:ext>
              </a:extLst>
            </p:cNvPr>
            <p:cNvSpPr/>
            <p:nvPr/>
          </p:nvSpPr>
          <p:spPr>
            <a:xfrm>
              <a:off x="17634260" y="121950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WorkItem</a:t>
              </a:r>
            </a:p>
          </p:txBody>
        </p: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4678B9C-2FF1-2E49-17AF-B76B2540B854}"/>
                </a:ext>
              </a:extLst>
            </p:cNvPr>
            <p:cNvCxnSpPr>
              <a:cxnSpLocks/>
            </p:cNvCxnSpPr>
            <p:nvPr/>
          </p:nvCxnSpPr>
          <p:spPr>
            <a:xfrm>
              <a:off x="10213310" y="4975401"/>
              <a:ext cx="0" cy="107550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C9B83FA1-24D7-2FCE-546C-B1BA61B90829}"/>
                </a:ext>
              </a:extLst>
            </p:cNvPr>
            <p:cNvCxnSpPr>
              <a:cxnSpLocks/>
            </p:cNvCxnSpPr>
            <p:nvPr/>
          </p:nvCxnSpPr>
          <p:spPr>
            <a:xfrm>
              <a:off x="5296944" y="7528630"/>
              <a:ext cx="0" cy="76475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C3470BDE-9CD7-24D7-6625-9F4A5907C552}"/>
                </a:ext>
              </a:extLst>
            </p:cNvPr>
            <p:cNvCxnSpPr>
              <a:cxnSpLocks/>
            </p:cNvCxnSpPr>
            <p:nvPr/>
          </p:nvCxnSpPr>
          <p:spPr>
            <a:xfrm>
              <a:off x="10268848" y="7532324"/>
              <a:ext cx="0" cy="78141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A5B1DEA3-4FFE-EF8D-0EAE-143863A5E9EF}"/>
                </a:ext>
              </a:extLst>
            </p:cNvPr>
            <p:cNvCxnSpPr>
              <a:cxnSpLocks/>
            </p:cNvCxnSpPr>
            <p:nvPr/>
          </p:nvCxnSpPr>
          <p:spPr>
            <a:xfrm>
              <a:off x="7661127" y="9751735"/>
              <a:ext cx="0" cy="76842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41A52DE4-0E3C-C994-D5C8-D39594976F72}"/>
                </a:ext>
              </a:extLst>
            </p:cNvPr>
            <p:cNvCxnSpPr>
              <a:cxnSpLocks/>
            </p:cNvCxnSpPr>
            <p:nvPr/>
          </p:nvCxnSpPr>
          <p:spPr>
            <a:xfrm>
              <a:off x="13094357" y="6854692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090DC878-12CE-2433-465F-FE77149AC2D3}"/>
                </a:ext>
              </a:extLst>
            </p:cNvPr>
            <p:cNvCxnSpPr>
              <a:cxnSpLocks/>
            </p:cNvCxnSpPr>
            <p:nvPr/>
          </p:nvCxnSpPr>
          <p:spPr>
            <a:xfrm>
              <a:off x="16428872" y="11243383"/>
              <a:ext cx="1124069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DC564028-93C0-EBFB-83B4-A2D7EB028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78581" y="9986086"/>
              <a:ext cx="1220257" cy="1270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7DE37964-242F-5FF4-8509-D44376BBF41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374445" y="11328926"/>
              <a:ext cx="1307588" cy="118560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6BF59BDA-04A2-10FB-EBF4-4F76FB417A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96944" y="11736029"/>
              <a:ext cx="234" cy="162876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D5C82D41-1678-0331-4BE3-E68E512B8F15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756" y="11608493"/>
              <a:ext cx="4528699" cy="258801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B2E31B29-CDC0-2E44-43DA-22D74B2CDEC6}"/>
                </a:ext>
              </a:extLst>
            </p:cNvPr>
            <p:cNvCxnSpPr>
              <a:cxnSpLocks/>
            </p:cNvCxnSpPr>
            <p:nvPr/>
          </p:nvCxnSpPr>
          <p:spPr>
            <a:xfrm>
              <a:off x="9318336" y="13736074"/>
              <a:ext cx="0" cy="117744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C98233AA-E418-5019-C840-457692524FAA}"/>
                </a:ext>
              </a:extLst>
            </p:cNvPr>
            <p:cNvCxnSpPr>
              <a:cxnSpLocks/>
            </p:cNvCxnSpPr>
            <p:nvPr/>
          </p:nvCxnSpPr>
          <p:spPr>
            <a:xfrm>
              <a:off x="3154301" y="14705408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D072C3B0-5FF2-97E3-988D-91BEE1064FCD}"/>
                </a:ext>
              </a:extLst>
            </p:cNvPr>
            <p:cNvCxnSpPr>
              <a:cxnSpLocks/>
            </p:cNvCxnSpPr>
            <p:nvPr/>
          </p:nvCxnSpPr>
          <p:spPr>
            <a:xfrm>
              <a:off x="19031756" y="14937831"/>
              <a:ext cx="787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2" name="Flowchart: Alternate Process 151">
              <a:extLst>
                <a:ext uri="{FF2B5EF4-FFF2-40B4-BE49-F238E27FC236}">
                  <a16:creationId xmlns:a16="http://schemas.microsoft.com/office/drawing/2014/main" id="{3115AECD-A493-1BCD-948F-17914F3E61EE}"/>
                </a:ext>
              </a:extLst>
            </p:cNvPr>
            <p:cNvSpPr/>
            <p:nvPr/>
          </p:nvSpPr>
          <p:spPr>
            <a:xfrm>
              <a:off x="19809985" y="14210364"/>
              <a:ext cx="4918550" cy="14458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MutexOrchestrator</a:t>
              </a:r>
            </a:p>
          </p:txBody>
        </p:sp>
        <p:sp>
          <p:nvSpPr>
            <p:cNvPr id="153" name="Flowchart: Alternate Process 152">
              <a:extLst>
                <a:ext uri="{FF2B5EF4-FFF2-40B4-BE49-F238E27FC236}">
                  <a16:creationId xmlns:a16="http://schemas.microsoft.com/office/drawing/2014/main" id="{64A87AD4-171C-AC9F-863E-000B6AE7BF12}"/>
                </a:ext>
              </a:extLst>
            </p:cNvPr>
            <p:cNvSpPr/>
            <p:nvPr/>
          </p:nvSpPr>
          <p:spPr>
            <a:xfrm>
              <a:off x="26034318" y="12861443"/>
              <a:ext cx="3935130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MutexModel</a:t>
              </a:r>
            </a:p>
          </p:txBody>
        </p:sp>
        <p:sp>
          <p:nvSpPr>
            <p:cNvPr id="154" name="Flowchart: Alternate Process 153">
              <a:extLst>
                <a:ext uri="{FF2B5EF4-FFF2-40B4-BE49-F238E27FC236}">
                  <a16:creationId xmlns:a16="http://schemas.microsoft.com/office/drawing/2014/main" id="{2711D58F-A683-544B-EB0E-B37704BD4D0C}"/>
                </a:ext>
              </a:extLst>
            </p:cNvPr>
            <p:cNvSpPr/>
            <p:nvPr/>
          </p:nvSpPr>
          <p:spPr>
            <a:xfrm>
              <a:off x="26031764" y="144170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MutexActor</a:t>
              </a:r>
            </a:p>
          </p:txBody>
        </p:sp>
        <p:sp>
          <p:nvSpPr>
            <p:cNvPr id="155" name="Flowchart: Alternate Process 154">
              <a:extLst>
                <a:ext uri="{FF2B5EF4-FFF2-40B4-BE49-F238E27FC236}">
                  <a16:creationId xmlns:a16="http://schemas.microsoft.com/office/drawing/2014/main" id="{5E42856E-68AA-C17C-4A0A-39A5C22D8940}"/>
                </a:ext>
              </a:extLst>
            </p:cNvPr>
            <p:cNvSpPr/>
            <p:nvPr/>
          </p:nvSpPr>
          <p:spPr>
            <a:xfrm>
              <a:off x="26016260" y="159542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MutexStrategy</a:t>
              </a:r>
            </a:p>
          </p:txBody>
        </p: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4BE564E2-F9E1-4DB4-884B-A6F5B62481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60581" y="13677712"/>
              <a:ext cx="1204359" cy="133802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678AD427-F2E6-46A7-B817-637C28DE8CCD}"/>
                </a:ext>
              </a:extLst>
            </p:cNvPr>
            <p:cNvCxnSpPr>
              <a:cxnSpLocks/>
            </p:cNvCxnSpPr>
            <p:nvPr/>
          </p:nvCxnSpPr>
          <p:spPr>
            <a:xfrm>
              <a:off x="24779336" y="14978147"/>
              <a:ext cx="1185604" cy="144585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15451C96-C552-3924-7F04-164C4CDEE88E}"/>
                </a:ext>
              </a:extLst>
            </p:cNvPr>
            <p:cNvCxnSpPr>
              <a:cxnSpLocks/>
            </p:cNvCxnSpPr>
            <p:nvPr/>
          </p:nvCxnSpPr>
          <p:spPr>
            <a:xfrm>
              <a:off x="24803612" y="14997140"/>
              <a:ext cx="1161328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166" name="Picture 165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C4736FE8-524E-2519-5AFD-60993B694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961" y="15602943"/>
              <a:ext cx="6408295" cy="3893414"/>
            </a:xfrm>
            <a:prstGeom prst="rect">
              <a:avLst/>
            </a:prstGeom>
          </p:spPr>
        </p:pic>
        <p:pic>
          <p:nvPicPr>
            <p:cNvPr id="167" name="Picture 166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F0EAC62C-1F03-1A92-BF23-30592EB771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50627" y="15005680"/>
              <a:ext cx="1892307" cy="1887632"/>
            </a:xfrm>
            <a:prstGeom prst="rect">
              <a:avLst/>
            </a:prstGeom>
          </p:spPr>
        </p:pic>
        <p:pic>
          <p:nvPicPr>
            <p:cNvPr id="168" name="Picture 167" descr="A logo for a company&#10;&#10;AI-generated content may be incorrect.">
              <a:extLst>
                <a:ext uri="{FF2B5EF4-FFF2-40B4-BE49-F238E27FC236}">
                  <a16:creationId xmlns:a16="http://schemas.microsoft.com/office/drawing/2014/main" id="{C065EABB-3139-0227-1EAC-53FB5DA19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2136" y="17291252"/>
              <a:ext cx="2134577" cy="1607842"/>
            </a:xfrm>
            <a:prstGeom prst="rect">
              <a:avLst/>
            </a:prstGeom>
          </p:spPr>
        </p:pic>
        <p:pic>
          <p:nvPicPr>
            <p:cNvPr id="169" name="Picture 16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B8E70A66-FC3A-6444-1E69-D548B5A17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89587" y="15084021"/>
              <a:ext cx="1813772" cy="1809291"/>
            </a:xfrm>
            <a:prstGeom prst="rect">
              <a:avLst/>
            </a:prstGeom>
          </p:spPr>
        </p:pic>
        <p:sp>
          <p:nvSpPr>
            <p:cNvPr id="2" name="Flowchart: Alternate Process 1">
              <a:extLst>
                <a:ext uri="{FF2B5EF4-FFF2-40B4-BE49-F238E27FC236}">
                  <a16:creationId xmlns:a16="http://schemas.microsoft.com/office/drawing/2014/main" id="{DAA38740-EB7E-6063-6E44-3447601C6AF6}"/>
                </a:ext>
              </a:extLst>
            </p:cNvPr>
            <p:cNvSpPr/>
            <p:nvPr/>
          </p:nvSpPr>
          <p:spPr>
            <a:xfrm>
              <a:off x="11982000" y="3669502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400" b="1" dirty="0"/>
                <a:t>TaskTideConfig</a:t>
              </a:r>
            </a:p>
          </p:txBody>
        </p:sp>
        <p:sp>
          <p:nvSpPr>
            <p:cNvPr id="3" name="Flowchart: Alternate Process 2">
              <a:extLst>
                <a:ext uri="{FF2B5EF4-FFF2-40B4-BE49-F238E27FC236}">
                  <a16:creationId xmlns:a16="http://schemas.microsoft.com/office/drawing/2014/main" id="{092DB492-17FF-F483-542D-F95E35ACFC08}"/>
                </a:ext>
              </a:extLst>
            </p:cNvPr>
            <p:cNvSpPr/>
            <p:nvPr/>
          </p:nvSpPr>
          <p:spPr>
            <a:xfrm>
              <a:off x="17310887" y="3633114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400" b="1" dirty="0"/>
                <a:t>ArgumentTree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E768F65B-E34A-1C74-042D-C57467530EEB}"/>
                </a:ext>
              </a:extLst>
            </p:cNvPr>
            <p:cNvCxnSpPr>
              <a:cxnSpLocks/>
            </p:cNvCxnSpPr>
            <p:nvPr/>
          </p:nvCxnSpPr>
          <p:spPr>
            <a:xfrm>
              <a:off x="16360564" y="4374734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D222F81-E2E4-B931-D940-BE6CC8036F68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044" y="4371426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7BD6EC9-4C81-23EA-C758-E28FB9D8DD31}"/>
              </a:ext>
            </a:extLst>
          </p:cNvPr>
          <p:cNvGrpSpPr/>
          <p:nvPr/>
        </p:nvGrpSpPr>
        <p:grpSpPr>
          <a:xfrm>
            <a:off x="495300" y="2324100"/>
            <a:ext cx="28651200" cy="19011900"/>
            <a:chOff x="2954252" y="4412464"/>
            <a:chExt cx="22146609" cy="14574831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5BF49BD9-B379-F6AE-5540-EB2CBA3B445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57257101"/>
                </p:ext>
              </p:extLst>
            </p:nvPr>
          </p:nvGraphicFramePr>
          <p:xfrm>
            <a:off x="2954252" y="7593398"/>
            <a:ext cx="9834878" cy="9234585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A4A4E1F-EF89-55FB-2621-5159F4CECD25}"/>
                </a:ext>
              </a:extLst>
            </p:cNvPr>
            <p:cNvCxnSpPr/>
            <p:nvPr/>
          </p:nvCxnSpPr>
          <p:spPr>
            <a:xfrm>
              <a:off x="11625080" y="6429940"/>
              <a:ext cx="0" cy="119888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A510191-D70B-0A09-14B7-C12B6C844E8F}"/>
                </a:ext>
              </a:extLst>
            </p:cNvPr>
            <p:cNvSpPr txBox="1"/>
            <p:nvPr/>
          </p:nvSpPr>
          <p:spPr>
            <a:xfrm>
              <a:off x="4546472" y="4412464"/>
              <a:ext cx="1703594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6000" b="1" dirty="0"/>
                <a:t>a)											            	b) 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752A5DF-C147-1B7B-022B-925131DB8FA0}"/>
                </a:ext>
              </a:extLst>
            </p:cNvPr>
            <p:cNvGrpSpPr/>
            <p:nvPr/>
          </p:nvGrpSpPr>
          <p:grpSpPr>
            <a:xfrm>
              <a:off x="12985072" y="5001739"/>
              <a:ext cx="12115789" cy="13985556"/>
              <a:chOff x="7489828" y="1402082"/>
              <a:chExt cx="12115789" cy="13985556"/>
            </a:xfrm>
          </p:grpSpPr>
          <p:sp>
            <p:nvSpPr>
              <p:cNvPr id="6" name="Cylinder 5">
                <a:extLst>
                  <a:ext uri="{FF2B5EF4-FFF2-40B4-BE49-F238E27FC236}">
                    <a16:creationId xmlns:a16="http://schemas.microsoft.com/office/drawing/2014/main" id="{A947FBCF-D905-0831-86F1-AD448E1C4D75}"/>
                  </a:ext>
                </a:extLst>
              </p:cNvPr>
              <p:cNvSpPr/>
              <p:nvPr/>
            </p:nvSpPr>
            <p:spPr>
              <a:xfrm>
                <a:off x="12259953" y="1402082"/>
                <a:ext cx="2153905" cy="2022695"/>
              </a:xfrm>
              <a:prstGeom prst="can">
                <a:avLst/>
              </a:prstGeom>
              <a:ln w="38100">
                <a:solidFill>
                  <a:schemeClr val="tx1"/>
                </a:solidFill>
              </a:ln>
              <a:effectLst>
                <a:innerShdw blurRad="63500" dist="50800" dir="27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000" b="1" dirty="0"/>
                  <a:t>TaskTide</a:t>
                </a:r>
              </a:p>
              <a:p>
                <a:pPr algn="ctr"/>
                <a:r>
                  <a:rPr lang="en-IE" sz="4000" b="1" dirty="0"/>
                  <a:t>Repository</a:t>
                </a:r>
              </a:p>
            </p:txBody>
          </p:sp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3CEBE93-DE8F-36D6-D818-053F81620ED2}"/>
                  </a:ext>
                </a:extLst>
              </p:cNvPr>
              <p:cNvSpPr/>
              <p:nvPr/>
            </p:nvSpPr>
            <p:spPr>
              <a:xfrm>
                <a:off x="7489828" y="4606002"/>
                <a:ext cx="12115789" cy="10781636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613119DE-8929-C472-8586-3BF55CA1FB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80410" y="3558775"/>
                <a:ext cx="0" cy="968362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5780AF89-8AE7-83F1-4A98-E375BFCB6C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468986" y="3500121"/>
                <a:ext cx="1" cy="954107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ED762018-D3F6-7019-E52D-DF61061EB125}"/>
                  </a:ext>
                </a:extLst>
              </p:cNvPr>
              <p:cNvCxnSpPr/>
              <p:nvPr/>
            </p:nvCxnSpPr>
            <p:spPr>
              <a:xfrm>
                <a:off x="9787411" y="7889090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9E6D65AD-E43D-3543-0704-6A46F703DC9E}"/>
                  </a:ext>
                </a:extLst>
              </p:cNvPr>
              <p:cNvCxnSpPr/>
              <p:nvPr/>
            </p:nvCxnSpPr>
            <p:spPr>
              <a:xfrm>
                <a:off x="9812811" y="11170383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69D4E3FF-3CD6-FEDB-3705-A60718BE9CD1}"/>
                  </a:ext>
                </a:extLst>
              </p:cNvPr>
              <p:cNvSpPr/>
              <p:nvPr/>
            </p:nvSpPr>
            <p:spPr>
              <a:xfrm>
                <a:off x="8256421" y="583692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Fetches      Tasks</a:t>
                </a:r>
              </a:p>
            </p:txBody>
          </p:sp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8DCAD642-DF61-F4FE-C83B-F5BF13F3DB36}"/>
                  </a:ext>
                </a:extLst>
              </p:cNvPr>
              <p:cNvSpPr/>
              <p:nvPr/>
            </p:nvSpPr>
            <p:spPr>
              <a:xfrm>
                <a:off x="8266582" y="905764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Traverser distributes over threads</a:t>
                </a:r>
              </a:p>
            </p:txBody>
          </p:sp>
          <p:sp>
            <p:nvSpPr>
              <p:cNvPr id="59" name="Rectangle: Rounded Corners 58">
                <a:extLst>
                  <a:ext uri="{FF2B5EF4-FFF2-40B4-BE49-F238E27FC236}">
                    <a16:creationId xmlns:a16="http://schemas.microsoft.com/office/drawing/2014/main" id="{77A340E3-8AD4-6C9B-AF8B-868695C80E00}"/>
                  </a:ext>
                </a:extLst>
              </p:cNvPr>
              <p:cNvSpPr/>
              <p:nvPr/>
            </p:nvSpPr>
            <p:spPr>
              <a:xfrm>
                <a:off x="8266582" y="1231900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Executor spawns OS process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E31B009-805C-03C3-6EF6-2F23BD1282E0}"/>
                  </a:ext>
                </a:extLst>
              </p:cNvPr>
              <p:cNvSpPr txBox="1"/>
              <p:nvPr/>
            </p:nvSpPr>
            <p:spPr>
              <a:xfrm>
                <a:off x="9201996" y="4155461"/>
                <a:ext cx="2960616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Engine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83F73D-D09F-B45C-DA3C-EF859F32AFF6}"/>
                  </a:ext>
                </a:extLst>
              </p:cNvPr>
              <p:cNvSpPr txBox="1"/>
              <p:nvPr/>
            </p:nvSpPr>
            <p:spPr>
              <a:xfrm>
                <a:off x="13563477" y="3766479"/>
                <a:ext cx="2546293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dirty="0">
                    <a:solidFill>
                      <a:schemeClr val="accent5">
                        <a:lumMod val="75000"/>
                      </a:schemeClr>
                    </a:solidFill>
                  </a:rPr>
                  <a:t>Task Updates</a:t>
                </a: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85A324E4-797D-C81C-D94D-9A1161D8568F}"/>
                  </a:ext>
                </a:extLst>
              </p:cNvPr>
              <p:cNvSpPr/>
              <p:nvPr/>
            </p:nvSpPr>
            <p:spPr>
              <a:xfrm>
                <a:off x="13768393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Event Subscription</a:t>
                </a: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42060813-E48E-35FE-9699-20F5CFE266C0}"/>
                  </a:ext>
                </a:extLst>
              </p:cNvPr>
              <p:cNvSpPr/>
              <p:nvPr/>
            </p:nvSpPr>
            <p:spPr>
              <a:xfrm>
                <a:off x="16652882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Commit Task Updates</a:t>
                </a: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3414C8E5-F857-D9DC-2E6E-E2A94A962D91}"/>
                  </a:ext>
                </a:extLst>
              </p:cNvPr>
              <p:cNvSpPr/>
              <p:nvPr/>
            </p:nvSpPr>
            <p:spPr>
              <a:xfrm>
                <a:off x="15256598" y="10040385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Process Registry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1FD7A45-07A6-2A0A-0A15-386687226289}"/>
                  </a:ext>
                </a:extLst>
              </p:cNvPr>
              <p:cNvSpPr/>
              <p:nvPr/>
            </p:nvSpPr>
            <p:spPr>
              <a:xfrm>
                <a:off x="13545185" y="7963918"/>
                <a:ext cx="5872474" cy="3643883"/>
              </a:xfrm>
              <a:prstGeom prst="roundRect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BDCD5EB-E56D-7692-3FCD-FB91F1955FC4}"/>
                  </a:ext>
                </a:extLst>
              </p:cNvPr>
              <p:cNvSpPr txBox="1"/>
              <p:nvPr/>
            </p:nvSpPr>
            <p:spPr>
              <a:xfrm>
                <a:off x="14702464" y="7549673"/>
                <a:ext cx="3835958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Observer Chain</a:t>
                </a: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62314848-3CAF-6E78-7D60-BEA85E354477}"/>
                  </a:ext>
                </a:extLst>
              </p:cNvPr>
              <p:cNvSpPr/>
              <p:nvPr/>
            </p:nvSpPr>
            <p:spPr>
              <a:xfrm>
                <a:off x="7912704" y="5562600"/>
                <a:ext cx="3835958" cy="90424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9C2CD7-F3A6-A2A4-D43D-69A67E73918A}"/>
                  </a:ext>
                </a:extLst>
              </p:cNvPr>
              <p:cNvSpPr txBox="1"/>
              <p:nvPr/>
            </p:nvSpPr>
            <p:spPr>
              <a:xfrm>
                <a:off x="8737718" y="14622217"/>
                <a:ext cx="3360051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Worker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B90DD8D-EC71-89A9-DA38-FE6DCDD8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75691" y="9735585"/>
                <a:ext cx="1693295" cy="0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0D5D47F-B164-01B3-7D34-6665223CAF89}"/>
                  </a:ext>
                </a:extLst>
              </p:cNvPr>
              <p:cNvSpPr txBox="1"/>
              <p:nvPr/>
            </p:nvSpPr>
            <p:spPr>
              <a:xfrm>
                <a:off x="12008864" y="9338995"/>
                <a:ext cx="1495206" cy="401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2800" b="1" dirty="0">
                    <a:solidFill>
                      <a:schemeClr val="accent5">
                        <a:lumMod val="75000"/>
                      </a:schemeClr>
                    </a:solidFill>
                  </a:rPr>
                  <a:t>Validates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70803A-CDA1-1DC7-E6A3-6426FBFBB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627178"/>
              </p:ext>
            </p:extLst>
          </p:nvPr>
        </p:nvGraphicFramePr>
        <p:xfrm>
          <a:off x="152400" y="2057400"/>
          <a:ext cx="29935487" cy="193167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5245107">
                  <a:extLst>
                    <a:ext uri="{9D8B030D-6E8A-4147-A177-3AD203B41FA5}">
                      <a16:colId xmlns:a16="http://schemas.microsoft.com/office/drawing/2014/main" val="476854940"/>
                    </a:ext>
                  </a:extLst>
                </a:gridCol>
                <a:gridCol w="5788806">
                  <a:extLst>
                    <a:ext uri="{9D8B030D-6E8A-4147-A177-3AD203B41FA5}">
                      <a16:colId xmlns:a16="http://schemas.microsoft.com/office/drawing/2014/main" val="3881593967"/>
                    </a:ext>
                  </a:extLst>
                </a:gridCol>
                <a:gridCol w="6927380">
                  <a:extLst>
                    <a:ext uri="{9D8B030D-6E8A-4147-A177-3AD203B41FA5}">
                      <a16:colId xmlns:a16="http://schemas.microsoft.com/office/drawing/2014/main" val="1034727848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520395861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2421708485"/>
                    </a:ext>
                  </a:extLst>
                </a:gridCol>
              </a:tblGrid>
              <a:tr h="2328565">
                <a:tc gridSpan="5">
                  <a:txBody>
                    <a:bodyPr/>
                    <a:lstStyle/>
                    <a:p>
                      <a:pPr algn="ctr"/>
                      <a:r>
                        <a:rPr lang="en-IE" sz="8800" dirty="0"/>
                        <a:t>Task Tide Configurations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lumMod val="89000"/>
                          </a:schemeClr>
                        </a:gs>
                        <a:gs pos="23000">
                          <a:schemeClr val="accent1">
                            <a:lumMod val="89000"/>
                          </a:schemeClr>
                        </a:gs>
                        <a:gs pos="69000">
                          <a:schemeClr val="accent1">
                            <a:lumMod val="75000"/>
                          </a:schemeClr>
                        </a:gs>
                        <a:gs pos="97000">
                          <a:schemeClr val="accent1">
                            <a:lumMod val="7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512949"/>
                  </a:ext>
                </a:extLst>
              </a:tr>
              <a:tr h="2078281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Property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Operand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Example Value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Description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07850"/>
                  </a:ext>
                </a:extLst>
              </a:tr>
              <a:tr h="175671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Global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client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179669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core 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sqlite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Backend DB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676677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manager 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WORKITEM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model for CRUD request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942064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manager 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Summarize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 CRUD operation to run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460120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Engine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2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Concurrent workers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02372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Execution 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execution-policy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BATCH | SERVICE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engine runs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04840"/>
                  </a:ext>
                </a:extLst>
              </a:tr>
              <a:tr h="1828802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Lock Directory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mutex lockDir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/tmp/tasktide-mutex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Where mutex operates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533132"/>
                  </a:ext>
                </a:extLst>
              </a:tr>
              <a:tr h="1676400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Stale File 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 staleFileThreshold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5000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many milliseconds to flag as stagnant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3912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806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0" y="495301"/>
            <a:ext cx="26860500" cy="4384842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0590461"/>
              </p:ext>
            </p:extLst>
          </p:nvPr>
        </p:nvGraphicFramePr>
        <p:xfrm>
          <a:off x="3009900" y="5718343"/>
          <a:ext cx="24841200" cy="163479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4D0AD-7D60-F80E-532B-CE9F849C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6326" y="522668"/>
            <a:ext cx="26082248" cy="1674936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i="1" dirty="0"/>
              <a:t>Distributed Mutex Workflow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8319FDD-F96C-C6AC-4001-C3929F1ADE3A}"/>
              </a:ext>
            </a:extLst>
          </p:cNvPr>
          <p:cNvGrpSpPr/>
          <p:nvPr/>
        </p:nvGrpSpPr>
        <p:grpSpPr>
          <a:xfrm>
            <a:off x="-289708" y="3104860"/>
            <a:ext cx="30692530" cy="19006988"/>
            <a:chOff x="-289708" y="2633807"/>
            <a:chExt cx="30692530" cy="190069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C7AF9FA-7438-5E00-C10B-5BDCEAA71E27}"/>
                </a:ext>
              </a:extLst>
            </p:cNvPr>
            <p:cNvSpPr/>
            <p:nvPr/>
          </p:nvSpPr>
          <p:spPr>
            <a:xfrm>
              <a:off x="190500" y="3853678"/>
              <a:ext cx="29851350" cy="6923211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9CDF24C-6E41-99FF-7335-D2539468AD92}"/>
                </a:ext>
              </a:extLst>
            </p:cNvPr>
            <p:cNvSpPr txBox="1"/>
            <p:nvPr/>
          </p:nvSpPr>
          <p:spPr>
            <a:xfrm>
              <a:off x="423801" y="4004083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1). Enqueue Election Ballot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0E05E10-B54C-55AA-F4C5-B5805511BA2C}"/>
                </a:ext>
              </a:extLst>
            </p:cNvPr>
            <p:cNvGrpSpPr/>
            <p:nvPr/>
          </p:nvGrpSpPr>
          <p:grpSpPr>
            <a:xfrm>
              <a:off x="495300" y="5160508"/>
              <a:ext cx="9277350" cy="5044882"/>
              <a:chOff x="609600" y="4232468"/>
              <a:chExt cx="9277350" cy="5044882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A98F1016-6507-D524-42D1-7AB16F226F63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  <a:p>
                <a:r>
                  <a:rPr lang="en-IE" sz="3200" b="1" dirty="0"/>
                  <a:t>  Mutex {</a:t>
                </a:r>
              </a:p>
              <a:p>
                <a:r>
                  <a:rPr lang="en-IE" sz="3200" b="1" dirty="0"/>
                  <a:t>         Id: &lt;Random UUID&gt;,</a:t>
                </a:r>
              </a:p>
              <a:p>
                <a:r>
                  <a:rPr lang="en-IE" sz="3200" b="1" dirty="0"/>
                  <a:t>         Time Stamp: &lt; EPOCH Time&gt;,</a:t>
                </a:r>
              </a:p>
              <a:p>
                <a:r>
                  <a:rPr lang="en-IE" sz="3200" b="1" dirty="0"/>
                  <a:t>         Lock File: &lt;Full File Path&gt;,</a:t>
                </a:r>
              </a:p>
              <a:p>
                <a:r>
                  <a:rPr lang="en-IE" sz="3200" b="1" dirty="0"/>
                  <a:t>         Election File: &lt;Full File Path&gt;,</a:t>
                </a:r>
              </a:p>
              <a:p>
                <a:r>
                  <a:rPr lang="en-IE" sz="3200" b="1" dirty="0"/>
                  <a:t>         Mutex State: &lt;INIT | WAIT | LOCKED&gt;</a:t>
                </a:r>
              </a:p>
              <a:p>
                <a:r>
                  <a:rPr lang="en-IE" sz="3200" b="1" dirty="0"/>
                  <a:t>  }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65AB9DE-E928-5C65-E445-AC34F60D20B4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529234"/>
                <a:chOff x="914400" y="4442816"/>
                <a:chExt cx="9048750" cy="529234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D526A3C-335E-5F13-5100-FB52658BE261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1769689749-HostA-InstanceA.json</a:t>
                  </a:r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794C1588-459B-325B-CB2C-AF92EF1C09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497205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BF690E4-2BAC-371E-4F36-F3BB9D5CB4E8}"/>
                </a:ext>
              </a:extLst>
            </p:cNvPr>
            <p:cNvSpPr txBox="1"/>
            <p:nvPr/>
          </p:nvSpPr>
          <p:spPr>
            <a:xfrm>
              <a:off x="11316463" y="3976374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2). Discover FIFO Position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C6F972B-C4A3-ADE2-9B28-D6F6A4C141B6}"/>
                </a:ext>
              </a:extLst>
            </p:cNvPr>
            <p:cNvSpPr/>
            <p:nvPr/>
          </p:nvSpPr>
          <p:spPr>
            <a:xfrm>
              <a:off x="11887200" y="5528808"/>
              <a:ext cx="7905750" cy="4037241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4CC6A90-C0EB-A4B6-BC65-86380C1FB3C9}"/>
                </a:ext>
              </a:extLst>
            </p:cNvPr>
            <p:cNvGrpSpPr/>
            <p:nvPr/>
          </p:nvGrpSpPr>
          <p:grpSpPr>
            <a:xfrm>
              <a:off x="12017069" y="5651408"/>
              <a:ext cx="7710947" cy="499728"/>
              <a:chOff x="914400" y="4442816"/>
              <a:chExt cx="9048750" cy="624453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9019241-98B9-86DF-7A70-BAC7C03C6376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Configured Election Directory</a:t>
                </a: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1DE96AB-CD56-E5FA-7030-6F555209E7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067269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B34B9CB4-2681-327E-1546-41998D4C06E8}"/>
                </a:ext>
              </a:extLst>
            </p:cNvPr>
            <p:cNvSpPr/>
            <p:nvPr/>
          </p:nvSpPr>
          <p:spPr>
            <a:xfrm>
              <a:off x="10063163" y="6819984"/>
              <a:ext cx="1619250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0A4E8B60-330B-1FB5-0943-17C11E0380CE}"/>
                </a:ext>
              </a:extLst>
            </p:cNvPr>
            <p:cNvSpPr/>
            <p:nvPr/>
          </p:nvSpPr>
          <p:spPr>
            <a:xfrm>
              <a:off x="20059650" y="6793093"/>
              <a:ext cx="1619250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E2DD160-6B4C-56D8-D2E7-C83E10664427}"/>
                </a:ext>
              </a:extLst>
            </p:cNvPr>
            <p:cNvSpPr txBox="1"/>
            <p:nvPr/>
          </p:nvSpPr>
          <p:spPr>
            <a:xfrm>
              <a:off x="22412325" y="3995424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3). Wait Until Leader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4A6E0309-BA76-2C37-BF97-83DA109EC708}"/>
                </a:ext>
              </a:extLst>
            </p:cNvPr>
            <p:cNvGrpSpPr/>
            <p:nvPr/>
          </p:nvGrpSpPr>
          <p:grpSpPr>
            <a:xfrm>
              <a:off x="21839238" y="5567707"/>
              <a:ext cx="7905750" cy="3770158"/>
              <a:chOff x="12363450" y="4232467"/>
              <a:chExt cx="9277350" cy="5044882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62E450F5-1EAF-54A9-2874-39442B8A056D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1E3BF374-E77C-233B-E92F-4758AAD130B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65187"/>
                <a:chOff x="914400" y="4442816"/>
                <a:chExt cx="9048750" cy="665187"/>
              </a:xfrm>
            </p:grpSpPr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6381B058-26BE-BAB2-79EA-A327C72E9DF2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54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Wait &amp; Retry</a:t>
                  </a:r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69B4F2D9-FA43-58DF-241A-59FC646CE5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08003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39" name="Graphic 38" descr="Alarm Ringing outline">
              <a:extLst>
                <a:ext uri="{FF2B5EF4-FFF2-40B4-BE49-F238E27FC236}">
                  <a16:creationId xmlns:a16="http://schemas.microsoft.com/office/drawing/2014/main" id="{A06521CE-5F19-1FCB-0285-A48FE6ADAE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7117170" y="6665603"/>
              <a:ext cx="2105025" cy="2105025"/>
            </a:xfrm>
            <a:prstGeom prst="rect">
              <a:avLst/>
            </a:prstGeom>
          </p:spPr>
        </p:pic>
        <p:pic>
          <p:nvPicPr>
            <p:cNvPr id="41" name="Graphic 40" descr="Snooze outline">
              <a:extLst>
                <a:ext uri="{FF2B5EF4-FFF2-40B4-BE49-F238E27FC236}">
                  <a16:creationId xmlns:a16="http://schemas.microsoft.com/office/drawing/2014/main" id="{05D21A47-FEE5-33CD-5150-CCD8C98322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468970" y="6417953"/>
              <a:ext cx="2105025" cy="2105025"/>
            </a:xfrm>
            <a:prstGeom prst="rect">
              <a:avLst/>
            </a:prstGeom>
          </p:spPr>
        </p:pic>
        <p:sp>
          <p:nvSpPr>
            <p:cNvPr id="43" name="Arrow: Right 42">
              <a:extLst>
                <a:ext uri="{FF2B5EF4-FFF2-40B4-BE49-F238E27FC236}">
                  <a16:creationId xmlns:a16="http://schemas.microsoft.com/office/drawing/2014/main" id="{A2F234AD-9CCE-B2A5-133D-DF97E9659C03}"/>
                </a:ext>
              </a:extLst>
            </p:cNvPr>
            <p:cNvSpPr/>
            <p:nvPr/>
          </p:nvSpPr>
          <p:spPr>
            <a:xfrm>
              <a:off x="24806275" y="7169995"/>
              <a:ext cx="1828800" cy="981939"/>
            </a:xfrm>
            <a:prstGeom prst="rightArrow">
              <a:avLst/>
            </a:prstGeom>
            <a:solidFill>
              <a:schemeClr val="accent2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438DC7B-472C-B3E3-A01D-765CC1D09460}"/>
                </a:ext>
              </a:extLst>
            </p:cNvPr>
            <p:cNvGrpSpPr/>
            <p:nvPr/>
          </p:nvGrpSpPr>
          <p:grpSpPr>
            <a:xfrm>
              <a:off x="5122141" y="2633807"/>
              <a:ext cx="20817737" cy="1143120"/>
              <a:chOff x="4899243" y="2108980"/>
              <a:chExt cx="18821400" cy="1107996"/>
            </a:xfrm>
          </p:grpSpPr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4F17CA91-6386-7A67-939A-4EBB612577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14435C2-F2C9-4CB1-DFE2-178BD5F92F20}"/>
                  </a:ext>
                </a:extLst>
              </p:cNvPr>
              <p:cNvSpPr txBox="1"/>
              <p:nvPr/>
            </p:nvSpPr>
            <p:spPr>
              <a:xfrm>
                <a:off x="4899243" y="210898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i). Leader Election Coordinated Across HPC Jobs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415DE28-1A6C-8362-F4F8-741555000F08}"/>
                </a:ext>
              </a:extLst>
            </p:cNvPr>
            <p:cNvGrpSpPr/>
            <p:nvPr/>
          </p:nvGrpSpPr>
          <p:grpSpPr>
            <a:xfrm>
              <a:off x="5280891" y="14525624"/>
              <a:ext cx="18859500" cy="1107996"/>
              <a:chOff x="4953000" y="2082800"/>
              <a:chExt cx="18859500" cy="1107996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2A8FEBA9-B1C8-76B3-0138-002F653CAB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C04D604-5EE5-1D96-7D9A-76504BC438EE}"/>
                  </a:ext>
                </a:extLst>
              </p:cNvPr>
              <p:cNvSpPr txBox="1"/>
              <p:nvPr/>
            </p:nvSpPr>
            <p:spPr>
              <a:xfrm>
                <a:off x="4991100" y="208280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ii). Hosting Node of Leader Owns the OS Lock</a:t>
                </a:r>
              </a:p>
            </p:txBody>
          </p:sp>
        </p:grpSp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9F6B5165-62F2-45C5-C2B0-48352441AE46}"/>
                </a:ext>
              </a:extLst>
            </p:cNvPr>
            <p:cNvSpPr/>
            <p:nvPr/>
          </p:nvSpPr>
          <p:spPr>
            <a:xfrm>
              <a:off x="188191" y="15722603"/>
              <a:ext cx="29851350" cy="5918192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A58CC51-694B-6303-6B7E-1DE40BCD20AB}"/>
                </a:ext>
              </a:extLst>
            </p:cNvPr>
            <p:cNvSpPr txBox="1"/>
            <p:nvPr/>
          </p:nvSpPr>
          <p:spPr>
            <a:xfrm>
              <a:off x="-289708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4). Acquire File Lock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304CF6E-B326-E521-B77C-B4D210C04B06}"/>
                </a:ext>
              </a:extLst>
            </p:cNvPr>
            <p:cNvSpPr txBox="1"/>
            <p:nvPr/>
          </p:nvSpPr>
          <p:spPr>
            <a:xfrm>
              <a:off x="10337075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5). Execute Work Under Lock</a:t>
              </a:r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AE345429-4113-2B59-9FBD-F7FEC818DA28}"/>
                </a:ext>
              </a:extLst>
            </p:cNvPr>
            <p:cNvSpPr/>
            <p:nvPr/>
          </p:nvSpPr>
          <p:spPr>
            <a:xfrm>
              <a:off x="8768936" y="18207958"/>
              <a:ext cx="1979305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3" name="Arrow: Right 92">
              <a:extLst>
                <a:ext uri="{FF2B5EF4-FFF2-40B4-BE49-F238E27FC236}">
                  <a16:creationId xmlns:a16="http://schemas.microsoft.com/office/drawing/2014/main" id="{9A92287C-9ADC-C5E8-F927-2ABB19F06159}"/>
                </a:ext>
              </a:extLst>
            </p:cNvPr>
            <p:cNvSpPr/>
            <p:nvPr/>
          </p:nvSpPr>
          <p:spPr>
            <a:xfrm>
              <a:off x="18640529" y="18100710"/>
              <a:ext cx="2242312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DC31B3FA-AD41-3E67-4907-5195F0A775AF}"/>
                </a:ext>
              </a:extLst>
            </p:cNvPr>
            <p:cNvSpPr txBox="1"/>
            <p:nvPr/>
          </p:nvSpPr>
          <p:spPr>
            <a:xfrm>
              <a:off x="22365661" y="15798918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6). Dequeue Mutex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BEB964F5-01B5-3919-71C3-72F33580F0AB}"/>
                </a:ext>
              </a:extLst>
            </p:cNvPr>
            <p:cNvGrpSpPr/>
            <p:nvPr/>
          </p:nvGrpSpPr>
          <p:grpSpPr>
            <a:xfrm>
              <a:off x="21325242" y="16779966"/>
              <a:ext cx="8392038" cy="4236049"/>
              <a:chOff x="12363450" y="4232467"/>
              <a:chExt cx="9277350" cy="5044882"/>
            </a:xfrm>
          </p:grpSpPr>
          <p:sp>
            <p:nvSpPr>
              <p:cNvPr id="100" name="Rectangle: Rounded Corners 99">
                <a:extLst>
                  <a:ext uri="{FF2B5EF4-FFF2-40B4-BE49-F238E27FC236}">
                    <a16:creationId xmlns:a16="http://schemas.microsoft.com/office/drawing/2014/main" id="{D1D4EDCD-A5D1-874D-2060-507433C888D5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0C38E234-E7AC-FB28-218C-CCAB9770B5A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80484"/>
                <a:chOff x="914400" y="4442816"/>
                <a:chExt cx="9048750" cy="680484"/>
              </a:xfrm>
            </p:grpSpPr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6D892C4A-C8B2-E3B3-2102-90A87CEA6E3D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54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Clear Central then Election Lock</a:t>
                  </a:r>
                </a:p>
              </p:txBody>
            </p: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8F177FCE-694E-26FC-3BDF-DA48A7D41C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2330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3" name="Arrow: Right 112">
              <a:extLst>
                <a:ext uri="{FF2B5EF4-FFF2-40B4-BE49-F238E27FC236}">
                  <a16:creationId xmlns:a16="http://schemas.microsoft.com/office/drawing/2014/main" id="{5235A552-AB28-96C9-9D25-FE98C601670A}"/>
                </a:ext>
              </a:extLst>
            </p:cNvPr>
            <p:cNvSpPr/>
            <p:nvPr/>
          </p:nvSpPr>
          <p:spPr>
            <a:xfrm rot="5400000">
              <a:off x="13797988" y="12011264"/>
              <a:ext cx="2656859" cy="1619250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3824AFED-603D-7D8E-5651-3778581935FE}"/>
                </a:ext>
              </a:extLst>
            </p:cNvPr>
            <p:cNvGrpSpPr/>
            <p:nvPr/>
          </p:nvGrpSpPr>
          <p:grpSpPr>
            <a:xfrm>
              <a:off x="734291" y="16906275"/>
              <a:ext cx="7521575" cy="3842943"/>
              <a:chOff x="609600" y="4232468"/>
              <a:chExt cx="9277350" cy="5044882"/>
            </a:xfrm>
          </p:grpSpPr>
          <p:sp>
            <p:nvSpPr>
              <p:cNvPr id="108" name="Rectangle: Rounded Corners 107">
                <a:extLst>
                  <a:ext uri="{FF2B5EF4-FFF2-40B4-BE49-F238E27FC236}">
                    <a16:creationId xmlns:a16="http://schemas.microsoft.com/office/drawing/2014/main" id="{63642D35-62E7-4F25-2914-F20F10C76A8C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4C706FEC-6D43-6EF3-8962-CE9C89EDB1A5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689940"/>
                <a:chOff x="914400" y="4442816"/>
                <a:chExt cx="9048750" cy="689940"/>
              </a:xfrm>
            </p:grpSpPr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5FB26764-FE71-E2BA-81BD-1A41BC916065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FileChannel Lock on Central LockFile</a:t>
                  </a:r>
                </a:p>
              </p:txBody>
            </p: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D438D6CE-796E-F0D7-2297-DD9F25BC03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97160" y="5132756"/>
                  <a:ext cx="8032762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2E5359AA-2A23-D204-F4FF-03D4CC2A86B1}"/>
                </a:ext>
              </a:extLst>
            </p:cNvPr>
            <p:cNvGrpSpPr/>
            <p:nvPr/>
          </p:nvGrpSpPr>
          <p:grpSpPr>
            <a:xfrm>
              <a:off x="2801215" y="17754707"/>
              <a:ext cx="3140911" cy="2301407"/>
              <a:chOff x="1939924" y="18109350"/>
              <a:chExt cx="3573819" cy="2536825"/>
            </a:xfrm>
          </p:grpSpPr>
          <p:pic>
            <p:nvPicPr>
              <p:cNvPr id="120" name="Graphic 119" descr="Lock outline">
                <a:extLst>
                  <a:ext uri="{FF2B5EF4-FFF2-40B4-BE49-F238E27FC236}">
                    <a16:creationId xmlns:a16="http://schemas.microsoft.com/office/drawing/2014/main" id="{7B630FEC-92E0-4756-D730-8992B21219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36986" y="18584802"/>
                <a:ext cx="1676757" cy="1676757"/>
              </a:xfrm>
              <a:prstGeom prst="rect">
                <a:avLst/>
              </a:prstGeom>
            </p:spPr>
          </p:pic>
          <p:pic>
            <p:nvPicPr>
              <p:cNvPr id="121" name="Graphic 120" descr="Document with solid fill">
                <a:extLst>
                  <a:ext uri="{FF2B5EF4-FFF2-40B4-BE49-F238E27FC236}">
                    <a16:creationId xmlns:a16="http://schemas.microsoft.com/office/drawing/2014/main" id="{9A7FF259-FA79-C04A-27C7-5666BA552D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39924" y="18109350"/>
                <a:ext cx="2536825" cy="2536825"/>
              </a:xfrm>
              <a:prstGeom prst="rect">
                <a:avLst/>
              </a:prstGeom>
            </p:spPr>
          </p:pic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58AADD96-942D-E95B-B1E7-25F4E2905E02}"/>
                </a:ext>
              </a:extLst>
            </p:cNvPr>
            <p:cNvGrpSpPr/>
            <p:nvPr/>
          </p:nvGrpSpPr>
          <p:grpSpPr>
            <a:xfrm>
              <a:off x="11122891" y="16906275"/>
              <a:ext cx="7023100" cy="3919143"/>
              <a:chOff x="12363450" y="4232467"/>
              <a:chExt cx="9277350" cy="5044882"/>
            </a:xfrm>
          </p:grpSpPr>
          <p:sp>
            <p:nvSpPr>
              <p:cNvPr id="104" name="Rectangle: Rounded Corners 103">
                <a:extLst>
                  <a:ext uri="{FF2B5EF4-FFF2-40B4-BE49-F238E27FC236}">
                    <a16:creationId xmlns:a16="http://schemas.microsoft.com/office/drawing/2014/main" id="{8CE5F9D7-906C-B109-E9C5-E0D38401E58F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EFB25828-2711-D2B1-17B2-15EC5A261F83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92714"/>
                <a:chOff x="914400" y="4442816"/>
                <a:chExt cx="9048750" cy="692714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401BD3F1-B161-5045-06D8-A48535812444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54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Run Job</a:t>
                  </a:r>
                </a:p>
              </p:txBody>
            </p: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F6133D7E-94E1-7137-40DE-0C6131EF11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69" y="513553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5D7E449F-558E-2A82-83D0-0DD18C718BCB}"/>
                </a:ext>
              </a:extLst>
            </p:cNvPr>
            <p:cNvGrpSpPr/>
            <p:nvPr/>
          </p:nvGrpSpPr>
          <p:grpSpPr>
            <a:xfrm>
              <a:off x="12985467" y="17592118"/>
              <a:ext cx="4074674" cy="2638970"/>
              <a:chOff x="15089626" y="18117665"/>
              <a:chExt cx="2911547" cy="2214581"/>
            </a:xfrm>
          </p:grpSpPr>
          <p:pic>
            <p:nvPicPr>
              <p:cNvPr id="130" name="Graphic 129" descr="Database outline">
                <a:extLst>
                  <a:ext uri="{FF2B5EF4-FFF2-40B4-BE49-F238E27FC236}">
                    <a16:creationId xmlns:a16="http://schemas.microsoft.com/office/drawing/2014/main" id="{A1B2ADF8-6F5C-75F1-C094-9E6AE9F712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5089626" y="18117665"/>
                <a:ext cx="2214581" cy="2214581"/>
              </a:xfrm>
              <a:prstGeom prst="rect">
                <a:avLst/>
              </a:prstGeom>
            </p:spPr>
          </p:pic>
          <p:pic>
            <p:nvPicPr>
              <p:cNvPr id="131" name="Graphic 130" descr="Gears outline">
                <a:extLst>
                  <a:ext uri="{FF2B5EF4-FFF2-40B4-BE49-F238E27FC236}">
                    <a16:creationId xmlns:a16="http://schemas.microsoft.com/office/drawing/2014/main" id="{728D8DAC-7377-4510-7121-8CD0C52F69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6511777" y="18356709"/>
                <a:ext cx="1489396" cy="1489396"/>
              </a:xfrm>
              <a:prstGeom prst="rect">
                <a:avLst/>
              </a:prstGeom>
            </p:spPr>
          </p:pic>
        </p:grpSp>
        <p:sp>
          <p:nvSpPr>
            <p:cNvPr id="138" name="Minus Sign 137">
              <a:extLst>
                <a:ext uri="{FF2B5EF4-FFF2-40B4-BE49-F238E27FC236}">
                  <a16:creationId xmlns:a16="http://schemas.microsoft.com/office/drawing/2014/main" id="{C48D16BE-8A2E-3ACD-419B-BB62C0A67363}"/>
                </a:ext>
              </a:extLst>
            </p:cNvPr>
            <p:cNvSpPr/>
            <p:nvPr/>
          </p:nvSpPr>
          <p:spPr>
            <a:xfrm rot="2461338">
              <a:off x="25800995" y="18645329"/>
              <a:ext cx="4601827" cy="763631"/>
            </a:xfrm>
            <a:prstGeom prst="mathMinus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FE2729AB-7D31-09EC-B6D4-DD02446E99F7}"/>
                </a:ext>
              </a:extLst>
            </p:cNvPr>
            <p:cNvGrpSpPr/>
            <p:nvPr/>
          </p:nvGrpSpPr>
          <p:grpSpPr>
            <a:xfrm>
              <a:off x="20892445" y="18037170"/>
              <a:ext cx="8251657" cy="2105025"/>
              <a:chOff x="20920154" y="17681571"/>
              <a:chExt cx="8251657" cy="2105025"/>
            </a:xfrm>
          </p:grpSpPr>
          <p:sp>
            <p:nvSpPr>
              <p:cNvPr id="99" name="Arrow: Right 98">
                <a:extLst>
                  <a:ext uri="{FF2B5EF4-FFF2-40B4-BE49-F238E27FC236}">
                    <a16:creationId xmlns:a16="http://schemas.microsoft.com/office/drawing/2014/main" id="{9BFB6834-0C7D-E9A4-ED0F-4C588162AC49}"/>
                  </a:ext>
                </a:extLst>
              </p:cNvPr>
              <p:cNvSpPr/>
              <p:nvPr/>
            </p:nvSpPr>
            <p:spPr>
              <a:xfrm>
                <a:off x="24851915" y="18210209"/>
                <a:ext cx="1828800" cy="981939"/>
              </a:xfrm>
              <a:prstGeom prst="rightArrow">
                <a:avLst/>
              </a:prstGeom>
              <a:solidFill>
                <a:schemeClr val="accent2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8D3338D0-9143-5ED2-2FAA-962AD88F8957}"/>
                  </a:ext>
                </a:extLst>
              </p:cNvPr>
              <p:cNvGrpSpPr/>
              <p:nvPr/>
            </p:nvGrpSpPr>
            <p:grpSpPr>
              <a:xfrm>
                <a:off x="21995031" y="17702978"/>
                <a:ext cx="2427822" cy="1996402"/>
                <a:chOff x="26375777" y="17930059"/>
                <a:chExt cx="3573819" cy="2536825"/>
              </a:xfrm>
            </p:grpSpPr>
            <p:pic>
              <p:nvPicPr>
                <p:cNvPr id="133" name="Graphic 132" descr="Lock outline">
                  <a:extLst>
                    <a:ext uri="{FF2B5EF4-FFF2-40B4-BE49-F238E27FC236}">
                      <a16:creationId xmlns:a16="http://schemas.microsoft.com/office/drawing/2014/main" id="{A193D7A6-EA2C-4556-C775-0E301B7079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272839" y="18405511"/>
                  <a:ext cx="1676757" cy="1676757"/>
                </a:xfrm>
                <a:prstGeom prst="rect">
                  <a:avLst/>
                </a:prstGeom>
              </p:spPr>
            </p:pic>
            <p:pic>
              <p:nvPicPr>
                <p:cNvPr id="134" name="Graphic 133" descr="Document with solid fill">
                  <a:extLst>
                    <a:ext uri="{FF2B5EF4-FFF2-40B4-BE49-F238E27FC236}">
                      <a16:creationId xmlns:a16="http://schemas.microsoft.com/office/drawing/2014/main" id="{45B2C3B3-84ED-56A1-57A4-39CBF959ED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375777" y="17930059"/>
                  <a:ext cx="2536825" cy="2536825"/>
                </a:xfrm>
                <a:prstGeom prst="rect">
                  <a:avLst/>
                </a:prstGeom>
              </p:spPr>
            </p:pic>
          </p:grpSp>
          <p:pic>
            <p:nvPicPr>
              <p:cNvPr id="97" name="Graphic 96" descr="Alarm Ringing outline">
                <a:extLst>
                  <a:ext uri="{FF2B5EF4-FFF2-40B4-BE49-F238E27FC236}">
                    <a16:creationId xmlns:a16="http://schemas.microsoft.com/office/drawing/2014/main" id="{7DD1699D-8A5C-2C89-E485-D1DE7EA63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7066786" y="17681571"/>
                <a:ext cx="2105025" cy="2105025"/>
              </a:xfrm>
              <a:prstGeom prst="rect">
                <a:avLst/>
              </a:prstGeom>
            </p:spPr>
          </p:pic>
          <p:sp>
            <p:nvSpPr>
              <p:cNvPr id="141" name="Minus Sign 140">
                <a:extLst>
                  <a:ext uri="{FF2B5EF4-FFF2-40B4-BE49-F238E27FC236}">
                    <a16:creationId xmlns:a16="http://schemas.microsoft.com/office/drawing/2014/main" id="{D1BB6AE0-ED32-E388-CB7C-69E78586C5B7}"/>
                  </a:ext>
                </a:extLst>
              </p:cNvPr>
              <p:cNvSpPr/>
              <p:nvPr/>
            </p:nvSpPr>
            <p:spPr>
              <a:xfrm rot="2461338">
                <a:off x="20920154" y="18264330"/>
                <a:ext cx="4601827" cy="763631"/>
              </a:xfrm>
              <a:prstGeom prst="mathMinus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79D6EF5-6E71-750C-C968-275F246CB369}"/>
                </a:ext>
              </a:extLst>
            </p:cNvPr>
            <p:cNvSpPr txBox="1"/>
            <p:nvPr/>
          </p:nvSpPr>
          <p:spPr>
            <a:xfrm>
              <a:off x="13082300" y="20255632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Read/Write ItemStore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163D558-D9CF-EB15-A543-67E9B490F9E6}"/>
                </a:ext>
              </a:extLst>
            </p:cNvPr>
            <p:cNvSpPr txBox="1"/>
            <p:nvPr/>
          </p:nvSpPr>
          <p:spPr>
            <a:xfrm>
              <a:off x="24093343" y="8745858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Commits HostLock File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488BA0E4-2698-AA4F-33BC-437205A939A7}"/>
                </a:ext>
              </a:extLst>
            </p:cNvPr>
            <p:cNvSpPr txBox="1"/>
            <p:nvPr/>
          </p:nvSpPr>
          <p:spPr>
            <a:xfrm>
              <a:off x="22975262" y="20443592"/>
              <a:ext cx="55263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Clears lock files for the next elected leader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B8E43E1-7436-194E-48AB-E1CA8307367E}"/>
                </a:ext>
              </a:extLst>
            </p:cNvPr>
            <p:cNvSpPr txBox="1"/>
            <p:nvPr/>
          </p:nvSpPr>
          <p:spPr>
            <a:xfrm>
              <a:off x="2527706" y="20119124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Host holds OS lock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D60B3236-5E5F-740E-7BF1-6307428B9C13}"/>
                </a:ext>
              </a:extLst>
            </p:cNvPr>
            <p:cNvSpPr txBox="1"/>
            <p:nvPr/>
          </p:nvSpPr>
          <p:spPr>
            <a:xfrm>
              <a:off x="12017069" y="6417953"/>
              <a:ext cx="7519788" cy="2708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1769689749.HostA-InstanceA.json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1769689809.HostA-InstanceB.json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1769689869.HostB-InstanceZ.json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1769689929.HostR-InstanceG.json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1769689989.HostA-InstanceF.json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5615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1" y="245921"/>
            <a:ext cx="27203400" cy="5914990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Mapping of TaskTide Components</a:t>
            </a:r>
            <a:br>
              <a:rPr lang="en-IE" b="1" dirty="0"/>
            </a:br>
            <a:r>
              <a:rPr lang="en-IE" b="1" dirty="0"/>
              <a:t>to Pilot Job Model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079B890-9077-F1E1-5437-0B56E5965B01}"/>
              </a:ext>
            </a:extLst>
          </p:cNvPr>
          <p:cNvGrpSpPr/>
          <p:nvPr/>
        </p:nvGrpSpPr>
        <p:grpSpPr>
          <a:xfrm>
            <a:off x="2362200" y="6446996"/>
            <a:ext cx="26022300" cy="15612904"/>
            <a:chOff x="6404293" y="7551896"/>
            <a:chExt cx="17414240" cy="1125728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A3B5530-C2C5-432B-8650-01D5F92A1DA7}"/>
                </a:ext>
              </a:extLst>
            </p:cNvPr>
            <p:cNvSpPr/>
            <p:nvPr/>
          </p:nvSpPr>
          <p:spPr>
            <a:xfrm>
              <a:off x="6404293" y="756205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Pilot Manager</a:t>
              </a:r>
            </a:p>
            <a:p>
              <a:pPr algn="ctr"/>
              <a:r>
                <a:rPr lang="en-IE" sz="5400" b="1" i="1" dirty="0"/>
                <a:t>(Provisioning)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2C7CA26-DC3F-D8BF-1823-0FC5B1F42429}"/>
                </a:ext>
              </a:extLst>
            </p:cNvPr>
            <p:cNvSpPr/>
            <p:nvPr/>
          </p:nvSpPr>
          <p:spPr>
            <a:xfrm>
              <a:off x="6404293" y="1484677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dirty="0"/>
                <a:t>Delegate to Schedulers</a:t>
              </a:r>
            </a:p>
            <a:p>
              <a:pPr algn="ctr"/>
              <a:r>
                <a:rPr lang="en-IE" sz="5400" b="1" i="1" dirty="0"/>
                <a:t>(SLURM, K8s etc)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61EACF5-381B-A801-9C56-2B9AA25037CB}"/>
                </a:ext>
              </a:extLst>
            </p:cNvPr>
            <p:cNvSpPr/>
            <p:nvPr/>
          </p:nvSpPr>
          <p:spPr>
            <a:xfrm>
              <a:off x="12449493" y="755189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Workload Manager</a:t>
              </a:r>
            </a:p>
            <a:p>
              <a:pPr algn="ctr"/>
              <a:r>
                <a:rPr lang="en-IE" sz="5400" b="1" i="1" dirty="0"/>
                <a:t>(Dispatching)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F4E2FC9-AA1E-2152-1294-D9B20D8F0939}"/>
                </a:ext>
              </a:extLst>
            </p:cNvPr>
            <p:cNvSpPr/>
            <p:nvPr/>
          </p:nvSpPr>
          <p:spPr>
            <a:xfrm>
              <a:off x="12449493" y="1483661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Manager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Repository</a:t>
              </a:r>
              <a:endParaRPr lang="en-IE" sz="5400" b="1" i="1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C59B431-D851-B80B-F782-CD4578C86502}"/>
                </a:ext>
              </a:extLst>
            </p:cNvPr>
            <p:cNvSpPr/>
            <p:nvPr/>
          </p:nvSpPr>
          <p:spPr>
            <a:xfrm>
              <a:off x="18515013" y="756205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Task Manager</a:t>
              </a:r>
            </a:p>
            <a:p>
              <a:pPr algn="ctr"/>
              <a:r>
                <a:rPr lang="en-IE" sz="5400" b="1" i="1" dirty="0"/>
                <a:t>(Execution)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7D5B73F-21AD-3A0B-09DF-443A8870625A}"/>
                </a:ext>
              </a:extLst>
            </p:cNvPr>
            <p:cNvSpPr/>
            <p:nvPr/>
          </p:nvSpPr>
          <p:spPr>
            <a:xfrm>
              <a:off x="18515013" y="1484677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Client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Engine</a:t>
              </a:r>
              <a:endParaRPr lang="en-IE" sz="5400" b="1" i="1" dirty="0"/>
            </a:p>
          </p:txBody>
        </p:sp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9E8F5C0A-A32A-C17F-9A9A-2B3977313AA9}"/>
                </a:ext>
              </a:extLst>
            </p:cNvPr>
            <p:cNvSpPr/>
            <p:nvPr/>
          </p:nvSpPr>
          <p:spPr>
            <a:xfrm>
              <a:off x="8395653" y="11525909"/>
              <a:ext cx="1178560" cy="389128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627699BF-8C58-A803-0A60-513BDDC3A7C0}"/>
                </a:ext>
              </a:extLst>
            </p:cNvPr>
            <p:cNvSpPr/>
            <p:nvPr/>
          </p:nvSpPr>
          <p:spPr>
            <a:xfrm>
              <a:off x="14420534" y="11537012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588DFD7E-825B-38AA-50A1-48C819D883EB}"/>
                </a:ext>
              </a:extLst>
            </p:cNvPr>
            <p:cNvSpPr/>
            <p:nvPr/>
          </p:nvSpPr>
          <p:spPr>
            <a:xfrm>
              <a:off x="20526694" y="11525907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</p:grp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577" y="16265703"/>
            <a:ext cx="5328880" cy="3351074"/>
          </a:xfrm>
          <a:prstGeom prst="rect">
            <a:avLst/>
          </a:prstGeom>
        </p:spPr>
      </p:pic>
      <p:pic>
        <p:nvPicPr>
          <p:cNvPr id="15" name="Picture 14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9064" y="15949535"/>
            <a:ext cx="5019858" cy="277588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F67664-A795-DBE9-AA52-79FEBF892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90666" y="1106687"/>
            <a:ext cx="7968078" cy="7152674"/>
          </a:xfrm>
          <a:prstGeom prst="rect">
            <a:avLst/>
          </a:prstGeom>
        </p:spPr>
      </p:pic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697A1408-FC0C-100B-FE0E-B1F767175B93}"/>
              </a:ext>
            </a:extLst>
          </p:cNvPr>
          <p:cNvSpPr/>
          <p:nvPr/>
        </p:nvSpPr>
        <p:spPr>
          <a:xfrm>
            <a:off x="4671417" y="4551093"/>
            <a:ext cx="6201238" cy="126390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 Client</a:t>
            </a:r>
          </a:p>
        </p:txBody>
      </p:sp>
      <p:sp>
        <p:nvSpPr>
          <p:cNvPr id="6" name="Flowchart: Alternate Process 5">
            <a:extLst>
              <a:ext uri="{FF2B5EF4-FFF2-40B4-BE49-F238E27FC236}">
                <a16:creationId xmlns:a16="http://schemas.microsoft.com/office/drawing/2014/main" id="{ACCD8FFD-F9AD-D60F-3E5E-5246062D1849}"/>
              </a:ext>
            </a:extLst>
          </p:cNvPr>
          <p:cNvSpPr/>
          <p:nvPr/>
        </p:nvSpPr>
        <p:spPr>
          <a:xfrm>
            <a:off x="1422990" y="7012739"/>
            <a:ext cx="4585982" cy="134314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ManagerClient</a:t>
            </a:r>
          </a:p>
        </p:txBody>
      </p:sp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F2F64F30-091D-BDAD-27FC-2AD93288F974}"/>
              </a:ext>
            </a:extLst>
          </p:cNvPr>
          <p:cNvSpPr/>
          <p:nvPr/>
        </p:nvSpPr>
        <p:spPr>
          <a:xfrm>
            <a:off x="8601493" y="7025760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EngineClient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61387D95-CBF1-A502-8EE4-0E6B5D2F80B0}"/>
              </a:ext>
            </a:extLst>
          </p:cNvPr>
          <p:cNvSpPr/>
          <p:nvPr/>
        </p:nvSpPr>
        <p:spPr>
          <a:xfrm>
            <a:off x="4341483" y="9234926"/>
            <a:ext cx="6531163" cy="134314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TaskTideService</a:t>
            </a:r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5E049925-F34A-EFE4-90E2-0AB2F5FF52F3}"/>
              </a:ext>
            </a:extLst>
          </p:cNvPr>
          <p:cNvSpPr/>
          <p:nvPr/>
        </p:nvSpPr>
        <p:spPr>
          <a:xfrm>
            <a:off x="4341483" y="11380296"/>
            <a:ext cx="6418772" cy="1182201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TaskTideRepository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67D27A5C-1A54-F813-BE69-7A5942C35929}"/>
              </a:ext>
            </a:extLst>
          </p:cNvPr>
          <p:cNvSpPr/>
          <p:nvPr/>
        </p:nvSpPr>
        <p:spPr>
          <a:xfrm>
            <a:off x="190500" y="14259699"/>
            <a:ext cx="6163026" cy="127061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TemplateRepository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2F2D9D02-3A56-54CB-6191-882B3D76141B}"/>
              </a:ext>
            </a:extLst>
          </p:cNvPr>
          <p:cNvSpPr/>
          <p:nvPr/>
        </p:nvSpPr>
        <p:spPr>
          <a:xfrm>
            <a:off x="12460403" y="15157971"/>
            <a:ext cx="6440138" cy="1270455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ItemStoreRepository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30A00E42-787A-9CBE-661B-74828FB13D8F}"/>
              </a:ext>
            </a:extLst>
          </p:cNvPr>
          <p:cNvSpPr/>
          <p:nvPr/>
        </p:nvSpPr>
        <p:spPr>
          <a:xfrm>
            <a:off x="6817442" y="13461075"/>
            <a:ext cx="4831346" cy="109293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JpaRepository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5740114-8DA1-2E55-2D12-F68B41B5E29D}"/>
              </a:ext>
            </a:extLst>
          </p:cNvPr>
          <p:cNvGrpSpPr/>
          <p:nvPr/>
        </p:nvGrpSpPr>
        <p:grpSpPr>
          <a:xfrm>
            <a:off x="13452834" y="17263362"/>
            <a:ext cx="5208788" cy="2791999"/>
            <a:chOff x="8471368" y="11395622"/>
            <a:chExt cx="3773483" cy="1545522"/>
          </a:xfrm>
        </p:grpSpPr>
        <p:pic>
          <p:nvPicPr>
            <p:cNvPr id="52" name="Picture 51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7F1693E-7025-8467-D2E1-D07425C7DD8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1368" y="11395622"/>
              <a:ext cx="1552575" cy="733425"/>
            </a:xfrm>
            <a:prstGeom prst="rect">
              <a:avLst/>
            </a:prstGeom>
          </p:spPr>
        </p:pic>
        <p:pic>
          <p:nvPicPr>
            <p:cNvPr id="53" name="Picture 52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9EFB5294-5299-6F2D-4B44-3D4954D131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10768" y="12024102"/>
              <a:ext cx="1834083" cy="917042"/>
            </a:xfrm>
            <a:prstGeom prst="rect">
              <a:avLst/>
            </a:prstGeom>
          </p:spPr>
        </p:pic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136711D-DAEB-DC8C-BC12-5937C6AD3D43}"/>
                </a:ext>
              </a:extLst>
            </p:cNvPr>
            <p:cNvCxnSpPr/>
            <p:nvPr/>
          </p:nvCxnSpPr>
          <p:spPr>
            <a:xfrm flipH="1">
              <a:off x="9449163" y="1141606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F41C21B-1002-5F40-E2C4-A60CF6060AA1}"/>
              </a:ext>
            </a:extLst>
          </p:cNvPr>
          <p:cNvCxnSpPr>
            <a:cxnSpLocks/>
          </p:cNvCxnSpPr>
          <p:nvPr/>
        </p:nvCxnSpPr>
        <p:spPr>
          <a:xfrm>
            <a:off x="5182644" y="5849311"/>
            <a:ext cx="0" cy="107790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CD3992E-2D12-1079-1D8F-2679C1B936EA}"/>
              </a:ext>
            </a:extLst>
          </p:cNvPr>
          <p:cNvCxnSpPr>
            <a:cxnSpLocks/>
          </p:cNvCxnSpPr>
          <p:nvPr/>
        </p:nvCxnSpPr>
        <p:spPr>
          <a:xfrm>
            <a:off x="9222767" y="12610224"/>
            <a:ext cx="0" cy="80609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C21341-3094-3950-D147-7182BEF424D4}"/>
              </a:ext>
            </a:extLst>
          </p:cNvPr>
          <p:cNvCxnSpPr>
            <a:cxnSpLocks/>
          </p:cNvCxnSpPr>
          <p:nvPr/>
        </p:nvCxnSpPr>
        <p:spPr>
          <a:xfrm>
            <a:off x="15473375" y="16484330"/>
            <a:ext cx="0" cy="7102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Flowchart: Alternate Process 17">
            <a:extLst>
              <a:ext uri="{FF2B5EF4-FFF2-40B4-BE49-F238E27FC236}">
                <a16:creationId xmlns:a16="http://schemas.microsoft.com/office/drawing/2014/main" id="{1865516B-2C47-FA60-6E82-ED0871B6619A}"/>
              </a:ext>
            </a:extLst>
          </p:cNvPr>
          <p:cNvSpPr/>
          <p:nvPr/>
        </p:nvSpPr>
        <p:spPr>
          <a:xfrm>
            <a:off x="13930380" y="6989372"/>
            <a:ext cx="4775687" cy="1405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TaskTideEngine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A4962-DA4F-F14B-60D7-1FE7882114F8}"/>
              </a:ext>
            </a:extLst>
          </p:cNvPr>
          <p:cNvCxnSpPr>
            <a:cxnSpLocks/>
          </p:cNvCxnSpPr>
          <p:nvPr/>
        </p:nvCxnSpPr>
        <p:spPr>
          <a:xfrm>
            <a:off x="10789975" y="12095599"/>
            <a:ext cx="647546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Flowchart: Alternate Process 19">
            <a:extLst>
              <a:ext uri="{FF2B5EF4-FFF2-40B4-BE49-F238E27FC236}">
                <a16:creationId xmlns:a16="http://schemas.microsoft.com/office/drawing/2014/main" id="{A061BCB1-8FE1-4A80-0D0B-D65883EE0925}"/>
              </a:ext>
            </a:extLst>
          </p:cNvPr>
          <p:cNvSpPr/>
          <p:nvPr/>
        </p:nvSpPr>
        <p:spPr>
          <a:xfrm>
            <a:off x="11437520" y="11395572"/>
            <a:ext cx="4775698" cy="1219121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TaskTideModel</a:t>
            </a:r>
          </a:p>
        </p:txBody>
      </p:sp>
      <p:sp>
        <p:nvSpPr>
          <p:cNvPr id="21" name="Flowchart: Alternate Process 20">
            <a:extLst>
              <a:ext uri="{FF2B5EF4-FFF2-40B4-BE49-F238E27FC236}">
                <a16:creationId xmlns:a16="http://schemas.microsoft.com/office/drawing/2014/main" id="{A0181391-FDAE-83C0-4446-6EDBC6942091}"/>
              </a:ext>
            </a:extLst>
          </p:cNvPr>
          <p:cNvSpPr/>
          <p:nvPr/>
        </p:nvSpPr>
        <p:spPr>
          <a:xfrm>
            <a:off x="17538017" y="9978543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Workflow</a:t>
            </a:r>
          </a:p>
        </p:txBody>
      </p:sp>
      <p:sp>
        <p:nvSpPr>
          <p:cNvPr id="22" name="Flowchart: Alternate Process 21">
            <a:extLst>
              <a:ext uri="{FF2B5EF4-FFF2-40B4-BE49-F238E27FC236}">
                <a16:creationId xmlns:a16="http://schemas.microsoft.com/office/drawing/2014/main" id="{D5B57F85-30C3-BE1B-FA95-6F3E52596542}"/>
              </a:ext>
            </a:extLst>
          </p:cNvPr>
          <p:cNvSpPr/>
          <p:nvPr/>
        </p:nvSpPr>
        <p:spPr>
          <a:xfrm>
            <a:off x="17535464" y="11534187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Step</a:t>
            </a:r>
          </a:p>
        </p:txBody>
      </p:sp>
      <p:sp>
        <p:nvSpPr>
          <p:cNvPr id="23" name="Flowchart: Alternate Process 22">
            <a:extLst>
              <a:ext uri="{FF2B5EF4-FFF2-40B4-BE49-F238E27FC236}">
                <a16:creationId xmlns:a16="http://schemas.microsoft.com/office/drawing/2014/main" id="{C73AFC73-F548-D403-D88D-2AD70C0AD41F}"/>
              </a:ext>
            </a:extLst>
          </p:cNvPr>
          <p:cNvSpPr/>
          <p:nvPr/>
        </p:nvSpPr>
        <p:spPr>
          <a:xfrm>
            <a:off x="17519960" y="13071328"/>
            <a:ext cx="3937683" cy="120627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WorkItem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5B77FBD-F0A9-C9AF-FE66-42E43E3F8969}"/>
              </a:ext>
            </a:extLst>
          </p:cNvPr>
          <p:cNvCxnSpPr>
            <a:cxnSpLocks/>
          </p:cNvCxnSpPr>
          <p:nvPr/>
        </p:nvCxnSpPr>
        <p:spPr>
          <a:xfrm>
            <a:off x="10099010" y="5851701"/>
            <a:ext cx="0" cy="107550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68628CA-3690-D0AB-F0B1-D24B98C3E2E4}"/>
              </a:ext>
            </a:extLst>
          </p:cNvPr>
          <p:cNvCxnSpPr>
            <a:cxnSpLocks/>
          </p:cNvCxnSpPr>
          <p:nvPr/>
        </p:nvCxnSpPr>
        <p:spPr>
          <a:xfrm>
            <a:off x="5182644" y="8404930"/>
            <a:ext cx="0" cy="76475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2A86C12-51C1-0736-C3F2-4E1F911E7A6B}"/>
              </a:ext>
            </a:extLst>
          </p:cNvPr>
          <p:cNvCxnSpPr>
            <a:cxnSpLocks/>
          </p:cNvCxnSpPr>
          <p:nvPr/>
        </p:nvCxnSpPr>
        <p:spPr>
          <a:xfrm>
            <a:off x="10154548" y="8408624"/>
            <a:ext cx="0" cy="78141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A6A289-C8CE-AB78-DFC9-EF8717C9EEBE}"/>
              </a:ext>
            </a:extLst>
          </p:cNvPr>
          <p:cNvCxnSpPr>
            <a:cxnSpLocks/>
          </p:cNvCxnSpPr>
          <p:nvPr/>
        </p:nvCxnSpPr>
        <p:spPr>
          <a:xfrm>
            <a:off x="7546827" y="10628035"/>
            <a:ext cx="0" cy="76842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A5C7856-1F9B-CB58-54A2-5AD49111829B}"/>
              </a:ext>
            </a:extLst>
          </p:cNvPr>
          <p:cNvCxnSpPr>
            <a:cxnSpLocks/>
          </p:cNvCxnSpPr>
          <p:nvPr/>
        </p:nvCxnSpPr>
        <p:spPr>
          <a:xfrm>
            <a:off x="12980057" y="7730992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2894676-A062-0D25-A978-A09474FFC8F4}"/>
              </a:ext>
            </a:extLst>
          </p:cNvPr>
          <p:cNvCxnSpPr>
            <a:cxnSpLocks/>
          </p:cNvCxnSpPr>
          <p:nvPr/>
        </p:nvCxnSpPr>
        <p:spPr>
          <a:xfrm>
            <a:off x="16314572" y="12119683"/>
            <a:ext cx="1124069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D9BE884-26F1-4A91-7FFC-4EED34B19924}"/>
              </a:ext>
            </a:extLst>
          </p:cNvPr>
          <p:cNvCxnSpPr>
            <a:cxnSpLocks/>
          </p:cNvCxnSpPr>
          <p:nvPr/>
        </p:nvCxnSpPr>
        <p:spPr>
          <a:xfrm flipV="1">
            <a:off x="16264281" y="10862386"/>
            <a:ext cx="1220257" cy="12704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AF6ADCA-B7DA-0810-51D8-0DBEEFCAB473}"/>
              </a:ext>
            </a:extLst>
          </p:cNvPr>
          <p:cNvCxnSpPr>
            <a:cxnSpLocks/>
          </p:cNvCxnSpPr>
          <p:nvPr/>
        </p:nvCxnSpPr>
        <p:spPr>
          <a:xfrm rot="5400000" flipV="1">
            <a:off x="16260145" y="12205226"/>
            <a:ext cx="1307588" cy="118560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9C63B5C-2238-027C-615F-44B0217A2BB0}"/>
              </a:ext>
            </a:extLst>
          </p:cNvPr>
          <p:cNvCxnSpPr>
            <a:cxnSpLocks/>
          </p:cNvCxnSpPr>
          <p:nvPr/>
        </p:nvCxnSpPr>
        <p:spPr>
          <a:xfrm flipH="1">
            <a:off x="5182644" y="12612329"/>
            <a:ext cx="234" cy="162876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D6A6C3-E337-21A9-1C16-75F98CA5DD56}"/>
              </a:ext>
            </a:extLst>
          </p:cNvPr>
          <p:cNvCxnSpPr>
            <a:cxnSpLocks/>
          </p:cNvCxnSpPr>
          <p:nvPr/>
        </p:nvCxnSpPr>
        <p:spPr>
          <a:xfrm>
            <a:off x="10709456" y="12484793"/>
            <a:ext cx="4528699" cy="258801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395422B-528F-3AE2-3CFD-CEFE2FEB7B25}"/>
              </a:ext>
            </a:extLst>
          </p:cNvPr>
          <p:cNvCxnSpPr>
            <a:cxnSpLocks/>
          </p:cNvCxnSpPr>
          <p:nvPr/>
        </p:nvCxnSpPr>
        <p:spPr>
          <a:xfrm>
            <a:off x="9204036" y="14612374"/>
            <a:ext cx="0" cy="117744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811A4E-72B7-EF21-7806-6477EADFF5C1}"/>
              </a:ext>
            </a:extLst>
          </p:cNvPr>
          <p:cNvCxnSpPr>
            <a:cxnSpLocks/>
          </p:cNvCxnSpPr>
          <p:nvPr/>
        </p:nvCxnSpPr>
        <p:spPr>
          <a:xfrm>
            <a:off x="3040001" y="15581708"/>
            <a:ext cx="0" cy="7102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C4FEB49-A31F-5D0E-8D51-BD86366EBB89}"/>
              </a:ext>
            </a:extLst>
          </p:cNvPr>
          <p:cNvCxnSpPr>
            <a:cxnSpLocks/>
          </p:cNvCxnSpPr>
          <p:nvPr/>
        </p:nvCxnSpPr>
        <p:spPr>
          <a:xfrm>
            <a:off x="18917456" y="15814131"/>
            <a:ext cx="787245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7" name="Flowchart: Alternate Process 36">
            <a:extLst>
              <a:ext uri="{FF2B5EF4-FFF2-40B4-BE49-F238E27FC236}">
                <a16:creationId xmlns:a16="http://schemas.microsoft.com/office/drawing/2014/main" id="{9FC76920-6E56-9111-1942-70A9DA759DD0}"/>
              </a:ext>
            </a:extLst>
          </p:cNvPr>
          <p:cNvSpPr/>
          <p:nvPr/>
        </p:nvSpPr>
        <p:spPr>
          <a:xfrm>
            <a:off x="19695685" y="15086664"/>
            <a:ext cx="4918550" cy="14458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200" b="1" dirty="0"/>
              <a:t>MutexOrchestrator</a:t>
            </a:r>
          </a:p>
        </p:txBody>
      </p:sp>
      <p:sp>
        <p:nvSpPr>
          <p:cNvPr id="38" name="Flowchart: Alternate Process 37">
            <a:extLst>
              <a:ext uri="{FF2B5EF4-FFF2-40B4-BE49-F238E27FC236}">
                <a16:creationId xmlns:a16="http://schemas.microsoft.com/office/drawing/2014/main" id="{F6315447-3B31-9C1E-2037-7FAE6E0DC1C3}"/>
              </a:ext>
            </a:extLst>
          </p:cNvPr>
          <p:cNvSpPr/>
          <p:nvPr/>
        </p:nvSpPr>
        <p:spPr>
          <a:xfrm>
            <a:off x="25920018" y="13737743"/>
            <a:ext cx="3935130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MutexModel</a:t>
            </a:r>
          </a:p>
        </p:txBody>
      </p:sp>
      <p:sp>
        <p:nvSpPr>
          <p:cNvPr id="39" name="Flowchart: Alternate Process 38">
            <a:extLst>
              <a:ext uri="{FF2B5EF4-FFF2-40B4-BE49-F238E27FC236}">
                <a16:creationId xmlns:a16="http://schemas.microsoft.com/office/drawing/2014/main" id="{1F5AD0F6-902B-BC91-A1BF-B1C1FFA3A532}"/>
              </a:ext>
            </a:extLst>
          </p:cNvPr>
          <p:cNvSpPr/>
          <p:nvPr/>
        </p:nvSpPr>
        <p:spPr>
          <a:xfrm>
            <a:off x="25917464" y="15293387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MutexActor</a:t>
            </a:r>
          </a:p>
        </p:txBody>
      </p:sp>
      <p:sp>
        <p:nvSpPr>
          <p:cNvPr id="40" name="Flowchart: Alternate Process 39">
            <a:extLst>
              <a:ext uri="{FF2B5EF4-FFF2-40B4-BE49-F238E27FC236}">
                <a16:creationId xmlns:a16="http://schemas.microsoft.com/office/drawing/2014/main" id="{496076F2-D8F5-2D61-D76B-0017910D5D4A}"/>
              </a:ext>
            </a:extLst>
          </p:cNvPr>
          <p:cNvSpPr/>
          <p:nvPr/>
        </p:nvSpPr>
        <p:spPr>
          <a:xfrm>
            <a:off x="25901960" y="16830528"/>
            <a:ext cx="3937683" cy="120627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200" b="1" dirty="0"/>
              <a:t>MutexStrategy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C1300B4-5166-ABF5-DC56-EF182A20D891}"/>
              </a:ext>
            </a:extLst>
          </p:cNvPr>
          <p:cNvCxnSpPr>
            <a:cxnSpLocks/>
          </p:cNvCxnSpPr>
          <p:nvPr/>
        </p:nvCxnSpPr>
        <p:spPr>
          <a:xfrm flipV="1">
            <a:off x="24646281" y="14554012"/>
            <a:ext cx="1204359" cy="133802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5093687-F272-0F74-0C78-BC1C77E89BC1}"/>
              </a:ext>
            </a:extLst>
          </p:cNvPr>
          <p:cNvCxnSpPr>
            <a:cxnSpLocks/>
          </p:cNvCxnSpPr>
          <p:nvPr/>
        </p:nvCxnSpPr>
        <p:spPr>
          <a:xfrm>
            <a:off x="24665036" y="15854447"/>
            <a:ext cx="1185604" cy="14458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DFDE449-31C0-0675-A577-A7F69668B32A}"/>
              </a:ext>
            </a:extLst>
          </p:cNvPr>
          <p:cNvCxnSpPr>
            <a:cxnSpLocks/>
          </p:cNvCxnSpPr>
          <p:nvPr/>
        </p:nvCxnSpPr>
        <p:spPr>
          <a:xfrm>
            <a:off x="24689312" y="15873440"/>
            <a:ext cx="116132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DF56FC6F-F379-CAE9-C4C2-EF3588FCD34F}"/>
              </a:ext>
            </a:extLst>
          </p:cNvPr>
          <p:cNvSpPr/>
          <p:nvPr/>
        </p:nvSpPr>
        <p:spPr>
          <a:xfrm>
            <a:off x="11867700" y="4545802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TaskTideConfig</a:t>
            </a:r>
          </a:p>
        </p:txBody>
      </p:sp>
      <p:sp>
        <p:nvSpPr>
          <p:cNvPr id="49" name="Flowchart: Alternate Process 48">
            <a:extLst>
              <a:ext uri="{FF2B5EF4-FFF2-40B4-BE49-F238E27FC236}">
                <a16:creationId xmlns:a16="http://schemas.microsoft.com/office/drawing/2014/main" id="{AD5BAC29-B482-CE00-8889-D5E91ECB58D3}"/>
              </a:ext>
            </a:extLst>
          </p:cNvPr>
          <p:cNvSpPr/>
          <p:nvPr/>
        </p:nvSpPr>
        <p:spPr>
          <a:xfrm>
            <a:off x="17196587" y="4509414"/>
            <a:ext cx="4775687" cy="1405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ArgumentTree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C6FAB01-E177-07B8-A412-F0419F5EF0CF}"/>
              </a:ext>
            </a:extLst>
          </p:cNvPr>
          <p:cNvCxnSpPr>
            <a:cxnSpLocks/>
          </p:cNvCxnSpPr>
          <p:nvPr/>
        </p:nvCxnSpPr>
        <p:spPr>
          <a:xfrm>
            <a:off x="16246264" y="5251034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3D98B52-48DF-7BA6-2C60-11A7BD5308E6}"/>
              </a:ext>
            </a:extLst>
          </p:cNvPr>
          <p:cNvCxnSpPr>
            <a:cxnSpLocks/>
          </p:cNvCxnSpPr>
          <p:nvPr/>
        </p:nvCxnSpPr>
        <p:spPr>
          <a:xfrm>
            <a:off x="10942744" y="5247726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4056</TotalTime>
  <Words>689</Words>
  <Application>Microsoft Office PowerPoint</Application>
  <PresentationFormat>Custom</PresentationFormat>
  <Paragraphs>207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TaskTide Operating Principle</vt:lpstr>
      <vt:lpstr>PowerPoint Presentation</vt:lpstr>
      <vt:lpstr>PowerPoint Presentation</vt:lpstr>
      <vt:lpstr>PowerPoint Presentation</vt:lpstr>
      <vt:lpstr>PowerPoint Presentation</vt:lpstr>
      <vt:lpstr>High Level Development Approach</vt:lpstr>
      <vt:lpstr>Distributed Mutex Workflow</vt:lpstr>
      <vt:lpstr>Mapping of TaskTide Components to Pilot Job Model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294</cp:revision>
  <dcterms:created xsi:type="dcterms:W3CDTF">2025-07-22T15:08:42Z</dcterms:created>
  <dcterms:modified xsi:type="dcterms:W3CDTF">2026-04-27T13:51:34Z</dcterms:modified>
</cp:coreProperties>
</file>