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2399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48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75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Node label constraints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Job environment               attached to tasks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Bioinformatic workflows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workflow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93813" y="1143000"/>
            <a:ext cx="42703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93813" y="1143000"/>
            <a:ext cx="4270375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3829544"/>
            <a:ext cx="27539395" cy="8146580"/>
          </a:xfrm>
        </p:spPr>
        <p:txBody>
          <a:bodyPr anchor="b"/>
          <a:lstStyle>
            <a:lvl1pPr algn="ctr"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2290287"/>
            <a:ext cx="24299466" cy="5649521"/>
          </a:xfrm>
        </p:spPr>
        <p:txBody>
          <a:bodyPr/>
          <a:lstStyle>
            <a:lvl1pPr marL="0" indent="0" algn="ctr">
              <a:buNone/>
              <a:defRPr sz="8189"/>
            </a:lvl1pPr>
            <a:lvl2pPr marL="1559966" indent="0" algn="ctr">
              <a:buNone/>
              <a:defRPr sz="6824"/>
            </a:lvl2pPr>
            <a:lvl3pPr marL="3119933" indent="0" algn="ctr">
              <a:buNone/>
              <a:defRPr sz="6142"/>
            </a:lvl3pPr>
            <a:lvl4pPr marL="4679899" indent="0" algn="ctr">
              <a:buNone/>
              <a:defRPr sz="5459"/>
            </a:lvl4pPr>
            <a:lvl5pPr marL="6239866" indent="0" algn="ctr">
              <a:buNone/>
              <a:defRPr sz="5459"/>
            </a:lvl5pPr>
            <a:lvl6pPr marL="7799832" indent="0" algn="ctr">
              <a:buNone/>
              <a:defRPr sz="5459"/>
            </a:lvl6pPr>
            <a:lvl7pPr marL="9359798" indent="0" algn="ctr">
              <a:buNone/>
              <a:defRPr sz="5459"/>
            </a:lvl7pPr>
            <a:lvl8pPr marL="10919765" indent="0" algn="ctr">
              <a:buNone/>
              <a:defRPr sz="5459"/>
            </a:lvl8pPr>
            <a:lvl9pPr marL="12479731" indent="0" algn="ctr">
              <a:buNone/>
              <a:defRPr sz="545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7134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147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5833695"/>
            <a:ext cx="27944386" cy="9733644"/>
          </a:xfrm>
        </p:spPr>
        <p:txBody>
          <a:bodyPr anchor="b"/>
          <a:lstStyle>
            <a:lvl1pPr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15659423"/>
            <a:ext cx="27944386" cy="5118694"/>
          </a:xfrm>
        </p:spPr>
        <p:txBody>
          <a:bodyPr/>
          <a:lstStyle>
            <a:lvl1pPr marL="0" indent="0">
              <a:buNone/>
              <a:defRPr sz="8189">
                <a:solidFill>
                  <a:schemeClr val="tx1">
                    <a:tint val="82000"/>
                  </a:schemeClr>
                </a:solidFill>
              </a:defRPr>
            </a:lvl1pPr>
            <a:lvl2pPr marL="1559966" indent="0">
              <a:buNone/>
              <a:defRPr sz="6824">
                <a:solidFill>
                  <a:schemeClr val="tx1">
                    <a:tint val="82000"/>
                  </a:schemeClr>
                </a:solidFill>
              </a:defRPr>
            </a:lvl2pPr>
            <a:lvl3pPr marL="3119933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3pPr>
            <a:lvl4pPr marL="4679899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4pPr>
            <a:lvl5pPr marL="6239866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5pPr>
            <a:lvl6pPr marL="7799832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6pPr>
            <a:lvl7pPr marL="9359798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7pPr>
            <a:lvl8pPr marL="10919765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8pPr>
            <a:lvl9pPr marL="12479731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44132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5550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245825"/>
            <a:ext cx="27944386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5736191"/>
            <a:ext cx="13706415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8547409"/>
            <a:ext cx="13706415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5736191"/>
            <a:ext cx="13773917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8547409"/>
            <a:ext cx="1377391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048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033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42979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3369136"/>
            <a:ext cx="16402140" cy="16628989"/>
          </a:xfrm>
        </p:spPr>
        <p:txBody>
          <a:bodyPr/>
          <a:lstStyle>
            <a:lvl1pPr>
              <a:defRPr sz="10918"/>
            </a:lvl1pPr>
            <a:lvl2pPr>
              <a:defRPr sz="9554"/>
            </a:lvl2pPr>
            <a:lvl3pPr>
              <a:defRPr sz="8189"/>
            </a:lvl3pPr>
            <a:lvl4pPr>
              <a:defRPr sz="6824"/>
            </a:lvl4pPr>
            <a:lvl5pPr>
              <a:defRPr sz="6824"/>
            </a:lvl5pPr>
            <a:lvl6pPr>
              <a:defRPr sz="6824"/>
            </a:lvl6pPr>
            <a:lvl7pPr>
              <a:defRPr sz="6824"/>
            </a:lvl7pPr>
            <a:lvl8pPr>
              <a:defRPr sz="6824"/>
            </a:lvl8pPr>
            <a:lvl9pPr>
              <a:defRPr sz="682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173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3369136"/>
            <a:ext cx="16402140" cy="16628989"/>
          </a:xfrm>
        </p:spPr>
        <p:txBody>
          <a:bodyPr anchor="t"/>
          <a:lstStyle>
            <a:lvl1pPr marL="0" indent="0">
              <a:buNone/>
              <a:defRPr sz="10918"/>
            </a:lvl1pPr>
            <a:lvl2pPr marL="1559966" indent="0">
              <a:buNone/>
              <a:defRPr sz="9554"/>
            </a:lvl2pPr>
            <a:lvl3pPr marL="3119933" indent="0">
              <a:buNone/>
              <a:defRPr sz="8189"/>
            </a:lvl3pPr>
            <a:lvl4pPr marL="4679899" indent="0">
              <a:buNone/>
              <a:defRPr sz="6824"/>
            </a:lvl4pPr>
            <a:lvl5pPr marL="6239866" indent="0">
              <a:buNone/>
              <a:defRPr sz="6824"/>
            </a:lvl5pPr>
            <a:lvl6pPr marL="7799832" indent="0">
              <a:buNone/>
              <a:defRPr sz="6824"/>
            </a:lvl6pPr>
            <a:lvl7pPr marL="9359798" indent="0">
              <a:buNone/>
              <a:defRPr sz="6824"/>
            </a:lvl7pPr>
            <a:lvl8pPr marL="10919765" indent="0">
              <a:buNone/>
              <a:defRPr sz="6824"/>
            </a:lvl8pPr>
            <a:lvl9pPr marL="12479731" indent="0">
              <a:buNone/>
              <a:defRPr sz="682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15519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24939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245820"/>
            <a:ext cx="6986096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245820"/>
            <a:ext cx="20553298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046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245825"/>
            <a:ext cx="27944386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6229100"/>
            <a:ext cx="27944386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20/08/2026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21688107"/>
            <a:ext cx="1093476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8338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3119933" rtl="0" eaLnBrk="1" latinLnBrk="0" hangingPunct="1">
        <a:lnSpc>
          <a:spcPct val="90000"/>
        </a:lnSpc>
        <a:spcBef>
          <a:spcPct val="0"/>
        </a:spcBef>
        <a:buNone/>
        <a:defRPr sz="150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9983" indent="-779983" algn="l" defTabSz="3119933" rtl="0" eaLnBrk="1" latinLnBrk="0" hangingPunct="1">
        <a:lnSpc>
          <a:spcPct val="90000"/>
        </a:lnSpc>
        <a:spcBef>
          <a:spcPts val="3412"/>
        </a:spcBef>
        <a:buFont typeface="Arial" panose="020B0604020202020204" pitchFamily="34" charset="0"/>
        <a:buChar char="•"/>
        <a:defRPr sz="9554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0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8189" kern="1200">
          <a:solidFill>
            <a:schemeClr val="tx1"/>
          </a:solidFill>
          <a:latin typeface="+mn-lt"/>
          <a:ea typeface="+mn-ea"/>
          <a:cs typeface="+mn-cs"/>
        </a:defRPr>
      </a:lvl2pPr>
      <a:lvl3pPr marL="3899916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824" kern="1200">
          <a:solidFill>
            <a:schemeClr val="tx1"/>
          </a:solidFill>
          <a:latin typeface="+mn-lt"/>
          <a:ea typeface="+mn-ea"/>
          <a:cs typeface="+mn-cs"/>
        </a:defRPr>
      </a:lvl3pPr>
      <a:lvl4pPr marL="54598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7019849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8579815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101397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1699748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3259714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1pPr>
      <a:lvl2pPr marL="15599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3119933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3pPr>
      <a:lvl4pPr marL="4679899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62398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7799832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9359798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0919765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2479731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0" y="928258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6769101" y="7520077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22806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9685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41101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9151026"/>
              </p:ext>
            </p:extLst>
          </p:nvPr>
        </p:nvGraphicFramePr>
        <p:xfrm>
          <a:off x="1205426" y="3740727"/>
          <a:ext cx="29988439" cy="1572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967346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Purpose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349485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Web API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RESTful &amp; GraphQL interfaces for interacting with TaskTide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access layer for workflow management; Supports programmatic task registration, querying, and monitoring; Enables integration with external systems &amp;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Enables deployment as a service within distributed architectures; Supports web-based dashboarding and multi-user access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2C53B-82B7-2AD8-D924-9DF52C633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1166" y="1106687"/>
            <a:ext cx="7968078" cy="715267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6C33F0F-4EC8-6417-475A-ADE518857DA8}"/>
              </a:ext>
            </a:extLst>
          </p:cNvPr>
          <p:cNvGrpSpPr/>
          <p:nvPr/>
        </p:nvGrpSpPr>
        <p:grpSpPr>
          <a:xfrm>
            <a:off x="1651000" y="4509416"/>
            <a:ext cx="29664648" cy="15863243"/>
            <a:chOff x="304800" y="3633114"/>
            <a:chExt cx="29664648" cy="15863243"/>
          </a:xfrm>
        </p:grpSpPr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7857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5372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7157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4557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4557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3048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5747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69317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5671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876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0446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09042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5518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6523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6497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6342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2133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2688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6611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0943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4288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785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3744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69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7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3183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1543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0317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8099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0343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0317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0162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05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7793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8036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9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06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21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587" y="15084021"/>
              <a:ext cx="1813772" cy="1809291"/>
            </a:xfrm>
            <a:prstGeom prst="rect">
              <a:avLst/>
            </a:prstGeom>
          </p:spPr>
        </p:pic>
        <p:sp>
          <p:nvSpPr>
            <p:cNvPr id="2" name="Flowchart: Alternate Process 1">
              <a:extLst>
                <a:ext uri="{FF2B5EF4-FFF2-40B4-BE49-F238E27FC236}">
                  <a16:creationId xmlns:a16="http://schemas.microsoft.com/office/drawing/2014/main" id="{DAA38740-EB7E-6063-6E44-3447601C6AF6}"/>
                </a:ext>
              </a:extLst>
            </p:cNvPr>
            <p:cNvSpPr/>
            <p:nvPr/>
          </p:nvSpPr>
          <p:spPr>
            <a:xfrm>
              <a:off x="11982000" y="3669502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TaskTideConfig</a:t>
              </a:r>
            </a:p>
          </p:txBody>
        </p:sp>
        <p:sp>
          <p:nvSpPr>
            <p:cNvPr id="3" name="Flowchart: Alternate Process 2">
              <a:extLst>
                <a:ext uri="{FF2B5EF4-FFF2-40B4-BE49-F238E27FC236}">
                  <a16:creationId xmlns:a16="http://schemas.microsoft.com/office/drawing/2014/main" id="{092DB492-17FF-F483-542D-F95E35ACFC08}"/>
                </a:ext>
              </a:extLst>
            </p:cNvPr>
            <p:cNvSpPr/>
            <p:nvPr/>
          </p:nvSpPr>
          <p:spPr>
            <a:xfrm>
              <a:off x="17310887" y="3633114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ArgumentTree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768F65B-E34A-1C74-042D-C57467530EEB}"/>
                </a:ext>
              </a:extLst>
            </p:cNvPr>
            <p:cNvCxnSpPr>
              <a:cxnSpLocks/>
            </p:cNvCxnSpPr>
            <p:nvPr/>
          </p:nvCxnSpPr>
          <p:spPr>
            <a:xfrm>
              <a:off x="16360564" y="4374734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D222F81-E2E4-B931-D940-BE6CC8036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044" y="4371426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EB1BCEC7-3F5F-CB4B-A38D-AD75FFAFF3EC}"/>
              </a:ext>
            </a:extLst>
          </p:cNvPr>
          <p:cNvSpPr/>
          <p:nvPr/>
        </p:nvSpPr>
        <p:spPr>
          <a:xfrm>
            <a:off x="802568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3AE9F3-FFF9-0A66-E1B1-454F654EEA6F}"/>
              </a:ext>
            </a:extLst>
          </p:cNvPr>
          <p:cNvCxnSpPr>
            <a:cxnSpLocks/>
          </p:cNvCxnSpPr>
          <p:nvPr/>
        </p:nvCxnSpPr>
        <p:spPr>
          <a:xfrm rot="10800000" flipV="1">
            <a:off x="5233286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15748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778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Fetches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Traverser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702464" y="7549673"/>
                <a:ext cx="3835958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Worker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264284"/>
              </p:ext>
            </p:extLst>
          </p:nvPr>
        </p:nvGraphicFramePr>
        <p:xfrm>
          <a:off x="1231902" y="293076"/>
          <a:ext cx="29935487" cy="2278380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733551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Web-API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 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8080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Port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758954"/>
                  </a:ext>
                </a:extLst>
              </a:tr>
              <a:tr h="1733551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Base 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base-path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02401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dirty="0"/>
                        <a:t>Path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587811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many milliseconds to flag as stagnant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0590461"/>
              </p:ext>
            </p:extLst>
          </p:nvPr>
        </p:nvGraphicFramePr>
        <p:xfrm>
          <a:off x="40894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8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De-centralized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789792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9"/>
              <a:ext cx="7710947" cy="523220"/>
              <a:chOff x="914400" y="4442816"/>
              <a:chExt cx="9048750" cy="65380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6538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700125"/>
                <a:chOff x="914400" y="4442816"/>
                <a:chExt cx="9048750" cy="700125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70012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2312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868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735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1" y="245921"/>
            <a:ext cx="27203400" cy="5914990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34417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077" y="162657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8564" y="15949535"/>
            <a:ext cx="5019858" cy="27758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F67664-A795-DBE9-AA52-79FEBF892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0166" y="1106687"/>
            <a:ext cx="7968078" cy="7152674"/>
          </a:xfrm>
          <a:prstGeom prst="rect">
            <a:avLst/>
          </a:prstGeom>
        </p:spPr>
      </p:pic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697A1408-FC0C-100B-FE0E-B1F767175B93}"/>
              </a:ext>
            </a:extLst>
          </p:cNvPr>
          <p:cNvSpPr/>
          <p:nvPr/>
        </p:nvSpPr>
        <p:spPr>
          <a:xfrm>
            <a:off x="5750917" y="4551093"/>
            <a:ext cx="6201238" cy="126390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 Client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ACCD8FFD-F9AD-D60F-3E5E-5246062D1849}"/>
              </a:ext>
            </a:extLst>
          </p:cNvPr>
          <p:cNvSpPr/>
          <p:nvPr/>
        </p:nvSpPr>
        <p:spPr>
          <a:xfrm>
            <a:off x="2502490" y="7012739"/>
            <a:ext cx="4585982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ManagerClient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2F64F30-091D-BDAD-27FC-2AD93288F974}"/>
              </a:ext>
            </a:extLst>
          </p:cNvPr>
          <p:cNvSpPr/>
          <p:nvPr/>
        </p:nvSpPr>
        <p:spPr>
          <a:xfrm>
            <a:off x="9680995" y="7025760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EngineClient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61387D95-CBF1-A502-8EE4-0E6B5D2F80B0}"/>
              </a:ext>
            </a:extLst>
          </p:cNvPr>
          <p:cNvSpPr/>
          <p:nvPr/>
        </p:nvSpPr>
        <p:spPr>
          <a:xfrm>
            <a:off x="5420985" y="9234926"/>
            <a:ext cx="6531163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TaskTideService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5E049925-F34A-EFE4-90E2-0AB2F5FF52F3}"/>
              </a:ext>
            </a:extLst>
          </p:cNvPr>
          <p:cNvSpPr/>
          <p:nvPr/>
        </p:nvSpPr>
        <p:spPr>
          <a:xfrm>
            <a:off x="5420983" y="11380298"/>
            <a:ext cx="6418772" cy="118220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TaskTideRepository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67D27A5C-1A54-F813-BE69-7A5942C35929}"/>
              </a:ext>
            </a:extLst>
          </p:cNvPr>
          <p:cNvSpPr/>
          <p:nvPr/>
        </p:nvSpPr>
        <p:spPr>
          <a:xfrm>
            <a:off x="1270000" y="14259701"/>
            <a:ext cx="6163026" cy="127061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TemplateRepository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2F2D9D02-3A56-54CB-6191-882B3D76141B}"/>
              </a:ext>
            </a:extLst>
          </p:cNvPr>
          <p:cNvSpPr/>
          <p:nvPr/>
        </p:nvSpPr>
        <p:spPr>
          <a:xfrm>
            <a:off x="13539903" y="15157973"/>
            <a:ext cx="6440138" cy="1270455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ItemStoreRepository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30A00E42-787A-9CBE-661B-74828FB13D8F}"/>
              </a:ext>
            </a:extLst>
          </p:cNvPr>
          <p:cNvSpPr/>
          <p:nvPr/>
        </p:nvSpPr>
        <p:spPr>
          <a:xfrm>
            <a:off x="7896942" y="13461077"/>
            <a:ext cx="4831346" cy="109293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JpaRepository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740114-8DA1-2E55-2D12-F68B41B5E29D}"/>
              </a:ext>
            </a:extLst>
          </p:cNvPr>
          <p:cNvGrpSpPr/>
          <p:nvPr/>
        </p:nvGrpSpPr>
        <p:grpSpPr>
          <a:xfrm>
            <a:off x="14532334" y="17263364"/>
            <a:ext cx="5208788" cy="2791999"/>
            <a:chOff x="8471368" y="11395622"/>
            <a:chExt cx="3773483" cy="1545522"/>
          </a:xfrm>
        </p:grpSpPr>
        <p:pic>
          <p:nvPicPr>
            <p:cNvPr id="52" name="Picture 51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7F1693E-7025-8467-D2E1-D07425C7D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1368" y="11395622"/>
              <a:ext cx="1552575" cy="733425"/>
            </a:xfrm>
            <a:prstGeom prst="rect">
              <a:avLst/>
            </a:prstGeom>
          </p:spPr>
        </p:pic>
        <p:pic>
          <p:nvPicPr>
            <p:cNvPr id="53" name="Picture 52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9EFB5294-5299-6F2D-4B44-3D4954D1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10768" y="12024102"/>
              <a:ext cx="1834083" cy="917042"/>
            </a:xfrm>
            <a:prstGeom prst="rect">
              <a:avLst/>
            </a:prstGeom>
          </p:spPr>
        </p:pic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136711D-DAEB-DC8C-BC12-5937C6AD3D43}"/>
                </a:ext>
              </a:extLst>
            </p:cNvPr>
            <p:cNvCxnSpPr/>
            <p:nvPr/>
          </p:nvCxnSpPr>
          <p:spPr>
            <a:xfrm flipH="1">
              <a:off x="9449163" y="1141606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41C21B-1002-5F40-E2C4-A60CF6060AA1}"/>
              </a:ext>
            </a:extLst>
          </p:cNvPr>
          <p:cNvCxnSpPr>
            <a:cxnSpLocks/>
          </p:cNvCxnSpPr>
          <p:nvPr/>
        </p:nvCxnSpPr>
        <p:spPr>
          <a:xfrm>
            <a:off x="6262144" y="5849311"/>
            <a:ext cx="0" cy="10779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D3992E-2D12-1079-1D8F-2679C1B936EA}"/>
              </a:ext>
            </a:extLst>
          </p:cNvPr>
          <p:cNvCxnSpPr>
            <a:cxnSpLocks/>
          </p:cNvCxnSpPr>
          <p:nvPr/>
        </p:nvCxnSpPr>
        <p:spPr>
          <a:xfrm>
            <a:off x="10302267" y="12610224"/>
            <a:ext cx="0" cy="80609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C21341-3094-3950-D147-7182BEF424D4}"/>
              </a:ext>
            </a:extLst>
          </p:cNvPr>
          <p:cNvCxnSpPr>
            <a:cxnSpLocks/>
          </p:cNvCxnSpPr>
          <p:nvPr/>
        </p:nvCxnSpPr>
        <p:spPr>
          <a:xfrm>
            <a:off x="16552875" y="16484332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1865516B-2C47-FA60-6E82-ED0871B6619A}"/>
              </a:ext>
            </a:extLst>
          </p:cNvPr>
          <p:cNvSpPr/>
          <p:nvPr/>
        </p:nvSpPr>
        <p:spPr>
          <a:xfrm>
            <a:off x="15009882" y="6989374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TaskTideEngine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A4962-DA4F-F14B-60D7-1FE7882114F8}"/>
              </a:ext>
            </a:extLst>
          </p:cNvPr>
          <p:cNvCxnSpPr>
            <a:cxnSpLocks/>
          </p:cNvCxnSpPr>
          <p:nvPr/>
        </p:nvCxnSpPr>
        <p:spPr>
          <a:xfrm>
            <a:off x="11869475" y="12095599"/>
            <a:ext cx="64754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061BCB1-8FE1-4A80-0D0B-D65883EE0925}"/>
              </a:ext>
            </a:extLst>
          </p:cNvPr>
          <p:cNvSpPr/>
          <p:nvPr/>
        </p:nvSpPr>
        <p:spPr>
          <a:xfrm>
            <a:off x="12517020" y="11395574"/>
            <a:ext cx="4775698" cy="121912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TaskTideModel</a:t>
            </a: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A0181391-FDAE-83C0-4446-6EDBC6942091}"/>
              </a:ext>
            </a:extLst>
          </p:cNvPr>
          <p:cNvSpPr/>
          <p:nvPr/>
        </p:nvSpPr>
        <p:spPr>
          <a:xfrm>
            <a:off x="18617519" y="9978545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Workflow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D5B57F85-30C3-BE1B-FA95-6F3E52596542}"/>
              </a:ext>
            </a:extLst>
          </p:cNvPr>
          <p:cNvSpPr/>
          <p:nvPr/>
        </p:nvSpPr>
        <p:spPr>
          <a:xfrm>
            <a:off x="18614966" y="115341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Step</a:t>
            </a:r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C73AFC73-F548-D403-D88D-2AD70C0AD41F}"/>
              </a:ext>
            </a:extLst>
          </p:cNvPr>
          <p:cNvSpPr/>
          <p:nvPr/>
        </p:nvSpPr>
        <p:spPr>
          <a:xfrm>
            <a:off x="18599462" y="130713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WorkItem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B77FBD-F0A9-C9AF-FE66-42E43E3F8969}"/>
              </a:ext>
            </a:extLst>
          </p:cNvPr>
          <p:cNvCxnSpPr>
            <a:cxnSpLocks/>
          </p:cNvCxnSpPr>
          <p:nvPr/>
        </p:nvCxnSpPr>
        <p:spPr>
          <a:xfrm>
            <a:off x="11178510" y="5851703"/>
            <a:ext cx="0" cy="10755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68628CA-3690-D0AB-F0B1-D24B98C3E2E4}"/>
              </a:ext>
            </a:extLst>
          </p:cNvPr>
          <p:cNvCxnSpPr>
            <a:cxnSpLocks/>
          </p:cNvCxnSpPr>
          <p:nvPr/>
        </p:nvCxnSpPr>
        <p:spPr>
          <a:xfrm>
            <a:off x="6262144" y="8404932"/>
            <a:ext cx="0" cy="76475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2A86C12-51C1-0736-C3F2-4E1F911E7A6B}"/>
              </a:ext>
            </a:extLst>
          </p:cNvPr>
          <p:cNvCxnSpPr>
            <a:cxnSpLocks/>
          </p:cNvCxnSpPr>
          <p:nvPr/>
        </p:nvCxnSpPr>
        <p:spPr>
          <a:xfrm>
            <a:off x="11234048" y="8408626"/>
            <a:ext cx="0" cy="78141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6A289-C8CE-AB78-DFC9-EF8717C9EEBE}"/>
              </a:ext>
            </a:extLst>
          </p:cNvPr>
          <p:cNvCxnSpPr>
            <a:cxnSpLocks/>
          </p:cNvCxnSpPr>
          <p:nvPr/>
        </p:nvCxnSpPr>
        <p:spPr>
          <a:xfrm>
            <a:off x="8626327" y="10628035"/>
            <a:ext cx="0" cy="76842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5C7856-1F9B-CB58-54A2-5AD49111829B}"/>
              </a:ext>
            </a:extLst>
          </p:cNvPr>
          <p:cNvCxnSpPr>
            <a:cxnSpLocks/>
          </p:cNvCxnSpPr>
          <p:nvPr/>
        </p:nvCxnSpPr>
        <p:spPr>
          <a:xfrm>
            <a:off x="14059559" y="7730992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2894676-A062-0D25-A978-A09474FFC8F4}"/>
              </a:ext>
            </a:extLst>
          </p:cNvPr>
          <p:cNvCxnSpPr>
            <a:cxnSpLocks/>
          </p:cNvCxnSpPr>
          <p:nvPr/>
        </p:nvCxnSpPr>
        <p:spPr>
          <a:xfrm>
            <a:off x="17394074" y="12119683"/>
            <a:ext cx="1124069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9BE884-26F1-4A91-7FFC-4EED34B19924}"/>
              </a:ext>
            </a:extLst>
          </p:cNvPr>
          <p:cNvCxnSpPr>
            <a:cxnSpLocks/>
          </p:cNvCxnSpPr>
          <p:nvPr/>
        </p:nvCxnSpPr>
        <p:spPr>
          <a:xfrm flipV="1">
            <a:off x="17343783" y="10862388"/>
            <a:ext cx="1220257" cy="12704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F6ADCA-B7DA-0810-51D8-0DBEEFCAB473}"/>
              </a:ext>
            </a:extLst>
          </p:cNvPr>
          <p:cNvCxnSpPr>
            <a:cxnSpLocks/>
          </p:cNvCxnSpPr>
          <p:nvPr/>
        </p:nvCxnSpPr>
        <p:spPr>
          <a:xfrm rot="5400000" flipV="1">
            <a:off x="17339645" y="12205226"/>
            <a:ext cx="1307588" cy="118560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9C63B5C-2238-027C-615F-44B0217A2BB0}"/>
              </a:ext>
            </a:extLst>
          </p:cNvPr>
          <p:cNvCxnSpPr>
            <a:cxnSpLocks/>
          </p:cNvCxnSpPr>
          <p:nvPr/>
        </p:nvCxnSpPr>
        <p:spPr>
          <a:xfrm flipH="1">
            <a:off x="6262144" y="12612331"/>
            <a:ext cx="234" cy="16287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D6A6C3-E337-21A9-1C16-75F98CA5DD56}"/>
              </a:ext>
            </a:extLst>
          </p:cNvPr>
          <p:cNvCxnSpPr>
            <a:cxnSpLocks/>
          </p:cNvCxnSpPr>
          <p:nvPr/>
        </p:nvCxnSpPr>
        <p:spPr>
          <a:xfrm>
            <a:off x="11788958" y="12484795"/>
            <a:ext cx="4528699" cy="258801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95422B-528F-3AE2-3CFD-CEFE2FEB7B25}"/>
              </a:ext>
            </a:extLst>
          </p:cNvPr>
          <p:cNvCxnSpPr>
            <a:cxnSpLocks/>
          </p:cNvCxnSpPr>
          <p:nvPr/>
        </p:nvCxnSpPr>
        <p:spPr>
          <a:xfrm>
            <a:off x="10283536" y="14612374"/>
            <a:ext cx="0" cy="117744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11A4E-72B7-EF21-7806-6477EADFF5C1}"/>
              </a:ext>
            </a:extLst>
          </p:cNvPr>
          <p:cNvCxnSpPr>
            <a:cxnSpLocks/>
          </p:cNvCxnSpPr>
          <p:nvPr/>
        </p:nvCxnSpPr>
        <p:spPr>
          <a:xfrm>
            <a:off x="4119501" y="15581710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4FEB49-A31F-5D0E-8D51-BD86366EBB89}"/>
              </a:ext>
            </a:extLst>
          </p:cNvPr>
          <p:cNvCxnSpPr>
            <a:cxnSpLocks/>
          </p:cNvCxnSpPr>
          <p:nvPr/>
        </p:nvCxnSpPr>
        <p:spPr>
          <a:xfrm>
            <a:off x="19996958" y="15814131"/>
            <a:ext cx="78724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7" name="Flowchart: Alternate Process 36">
            <a:extLst>
              <a:ext uri="{FF2B5EF4-FFF2-40B4-BE49-F238E27FC236}">
                <a16:creationId xmlns:a16="http://schemas.microsoft.com/office/drawing/2014/main" id="{9FC76920-6E56-9111-1942-70A9DA759DD0}"/>
              </a:ext>
            </a:extLst>
          </p:cNvPr>
          <p:cNvSpPr/>
          <p:nvPr/>
        </p:nvSpPr>
        <p:spPr>
          <a:xfrm>
            <a:off x="20775185" y="15086664"/>
            <a:ext cx="4918550" cy="14458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MutexOrchestrator</a:t>
            </a:r>
          </a:p>
        </p:txBody>
      </p:sp>
      <p:sp>
        <p:nvSpPr>
          <p:cNvPr id="38" name="Flowchart: Alternate Process 37">
            <a:extLst>
              <a:ext uri="{FF2B5EF4-FFF2-40B4-BE49-F238E27FC236}">
                <a16:creationId xmlns:a16="http://schemas.microsoft.com/office/drawing/2014/main" id="{F6315447-3B31-9C1E-2037-7FAE6E0DC1C3}"/>
              </a:ext>
            </a:extLst>
          </p:cNvPr>
          <p:cNvSpPr/>
          <p:nvPr/>
        </p:nvSpPr>
        <p:spPr>
          <a:xfrm>
            <a:off x="26999518" y="13737745"/>
            <a:ext cx="3935130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MutexModel</a:t>
            </a:r>
          </a:p>
        </p:txBody>
      </p:sp>
      <p:sp>
        <p:nvSpPr>
          <p:cNvPr id="39" name="Flowchart: Alternate Process 38">
            <a:extLst>
              <a:ext uri="{FF2B5EF4-FFF2-40B4-BE49-F238E27FC236}">
                <a16:creationId xmlns:a16="http://schemas.microsoft.com/office/drawing/2014/main" id="{1F5AD0F6-902B-BC91-A1BF-B1C1FFA3A532}"/>
              </a:ext>
            </a:extLst>
          </p:cNvPr>
          <p:cNvSpPr/>
          <p:nvPr/>
        </p:nvSpPr>
        <p:spPr>
          <a:xfrm>
            <a:off x="26996966" y="152933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MutexActor</a:t>
            </a:r>
          </a:p>
        </p:txBody>
      </p:sp>
      <p:sp>
        <p:nvSpPr>
          <p:cNvPr id="40" name="Flowchart: Alternate Process 39">
            <a:extLst>
              <a:ext uri="{FF2B5EF4-FFF2-40B4-BE49-F238E27FC236}">
                <a16:creationId xmlns:a16="http://schemas.microsoft.com/office/drawing/2014/main" id="{496076F2-D8F5-2D61-D76B-0017910D5D4A}"/>
              </a:ext>
            </a:extLst>
          </p:cNvPr>
          <p:cNvSpPr/>
          <p:nvPr/>
        </p:nvSpPr>
        <p:spPr>
          <a:xfrm>
            <a:off x="26981462" y="168305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MutexStrategy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C1300B4-5166-ABF5-DC56-EF182A20D891}"/>
              </a:ext>
            </a:extLst>
          </p:cNvPr>
          <p:cNvCxnSpPr>
            <a:cxnSpLocks/>
          </p:cNvCxnSpPr>
          <p:nvPr/>
        </p:nvCxnSpPr>
        <p:spPr>
          <a:xfrm flipV="1">
            <a:off x="25725783" y="14554014"/>
            <a:ext cx="1204359" cy="133802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5093687-F272-0F74-0C78-BC1C77E89BC1}"/>
              </a:ext>
            </a:extLst>
          </p:cNvPr>
          <p:cNvCxnSpPr>
            <a:cxnSpLocks/>
          </p:cNvCxnSpPr>
          <p:nvPr/>
        </p:nvCxnSpPr>
        <p:spPr>
          <a:xfrm>
            <a:off x="25744536" y="15854449"/>
            <a:ext cx="1185604" cy="14458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FDE449-31C0-0675-A577-A7F69668B32A}"/>
              </a:ext>
            </a:extLst>
          </p:cNvPr>
          <p:cNvCxnSpPr>
            <a:cxnSpLocks/>
          </p:cNvCxnSpPr>
          <p:nvPr/>
        </p:nvCxnSpPr>
        <p:spPr>
          <a:xfrm>
            <a:off x="25768812" y="15873440"/>
            <a:ext cx="116132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F56FC6F-F379-CAE9-C4C2-EF3588FCD34F}"/>
              </a:ext>
            </a:extLst>
          </p:cNvPr>
          <p:cNvSpPr/>
          <p:nvPr/>
        </p:nvSpPr>
        <p:spPr>
          <a:xfrm>
            <a:off x="12947202" y="4545802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TaskTideConfig</a:t>
            </a:r>
          </a:p>
        </p:txBody>
      </p:sp>
      <p:sp>
        <p:nvSpPr>
          <p:cNvPr id="49" name="Flowchart: Alternate Process 48">
            <a:extLst>
              <a:ext uri="{FF2B5EF4-FFF2-40B4-BE49-F238E27FC236}">
                <a16:creationId xmlns:a16="http://schemas.microsoft.com/office/drawing/2014/main" id="{AD5BAC29-B482-CE00-8889-D5E91ECB58D3}"/>
              </a:ext>
            </a:extLst>
          </p:cNvPr>
          <p:cNvSpPr/>
          <p:nvPr/>
        </p:nvSpPr>
        <p:spPr>
          <a:xfrm>
            <a:off x="18276089" y="4509416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ArgumentTree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6FAB01-E177-07B8-A412-F0419F5EF0CF}"/>
              </a:ext>
            </a:extLst>
          </p:cNvPr>
          <p:cNvCxnSpPr>
            <a:cxnSpLocks/>
          </p:cNvCxnSpPr>
          <p:nvPr/>
        </p:nvCxnSpPr>
        <p:spPr>
          <a:xfrm>
            <a:off x="17325766" y="5251034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D98B52-48DF-7BA6-2C60-11A7BD5308E6}"/>
              </a:ext>
            </a:extLst>
          </p:cNvPr>
          <p:cNvCxnSpPr>
            <a:cxnSpLocks/>
          </p:cNvCxnSpPr>
          <p:nvPr/>
        </p:nvCxnSpPr>
        <p:spPr>
          <a:xfrm>
            <a:off x="12022246" y="5247726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" name="Flowchart: Alternate Process 2">
            <a:extLst>
              <a:ext uri="{FF2B5EF4-FFF2-40B4-BE49-F238E27FC236}">
                <a16:creationId xmlns:a16="http://schemas.microsoft.com/office/drawing/2014/main" id="{61ABEC6E-AF8D-C833-0860-E9E6C575F926}"/>
              </a:ext>
            </a:extLst>
          </p:cNvPr>
          <p:cNvSpPr/>
          <p:nvPr/>
        </p:nvSpPr>
        <p:spPr>
          <a:xfrm>
            <a:off x="443341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CE0B039-7FB9-A34A-9885-04BAEE8577B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74059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4091</TotalTime>
  <Words>713</Words>
  <Application>Microsoft Office PowerPoint</Application>
  <PresentationFormat>Custom</PresentationFormat>
  <Paragraphs>218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De-centralized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301</cp:revision>
  <dcterms:created xsi:type="dcterms:W3CDTF">2025-07-22T15:08:42Z</dcterms:created>
  <dcterms:modified xsi:type="dcterms:W3CDTF">2026-08-20T12:32:00Z</dcterms:modified>
</cp:coreProperties>
</file>