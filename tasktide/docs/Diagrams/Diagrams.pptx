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9" r:id="rId2"/>
    <p:sldId id="262" r:id="rId3"/>
    <p:sldId id="260" r:id="rId4"/>
    <p:sldId id="261" r:id="rId5"/>
    <p:sldId id="258" r:id="rId6"/>
    <p:sldId id="256" r:id="rId7"/>
  </p:sldIdLst>
  <p:sldSz cx="18000663" cy="162004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B3B98"/>
    <a:srgbClr val="800020"/>
    <a:srgbClr val="2A2A72"/>
    <a:srgbClr val="4A6FA5"/>
    <a:srgbClr val="6B5B95"/>
    <a:srgbClr val="4A4E69"/>
    <a:srgbClr val="B56576"/>
    <a:srgbClr val="006400"/>
    <a:srgbClr val="4B0082"/>
    <a:srgbClr val="8B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02" autoAdjust="0"/>
    <p:restoredTop sz="95706" autoAdjust="0"/>
  </p:normalViewPr>
  <p:slideViewPr>
    <p:cSldViewPr snapToGrid="0">
      <p:cViewPr varScale="1">
        <p:scale>
          <a:sx n="47" d="100"/>
          <a:sy n="47" d="100"/>
        </p:scale>
        <p:origin x="2118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3600" b="1" dirty="0" err="1"/>
            <a:t>ToDo</a:t>
          </a:r>
          <a:endParaRPr lang="en-IE" sz="36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3600" b="1" dirty="0"/>
            <a:t>Locked</a:t>
          </a:r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3600" b="1" dirty="0"/>
            <a:t>Done / 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/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/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/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3312283" y="0"/>
          <a:ext cx="4444852" cy="4445529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4294742" y="1604970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600" b="1" kern="1200" dirty="0" err="1"/>
            <a:t>ToDo</a:t>
          </a:r>
          <a:endParaRPr lang="en-IE" sz="3600" b="1" kern="1200" dirty="0"/>
        </a:p>
      </dsp:txBody>
      <dsp:txXfrm>
        <a:off x="4294742" y="1604970"/>
        <a:ext cx="2469919" cy="1234664"/>
      </dsp:txXfrm>
    </dsp:sp>
    <dsp:sp modelId="{668DC389-6720-4236-8011-BFAB07D2AE6E}">
      <dsp:nvSpPr>
        <dsp:cNvPr id="0" name=""/>
        <dsp:cNvSpPr/>
      </dsp:nvSpPr>
      <dsp:spPr>
        <a:xfrm>
          <a:off x="2077741" y="2554286"/>
          <a:ext cx="4444852" cy="4445529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065208" y="4174032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600" b="1" kern="1200" dirty="0"/>
            <a:t>Locked</a:t>
          </a:r>
        </a:p>
      </dsp:txBody>
      <dsp:txXfrm>
        <a:off x="3065208" y="4174032"/>
        <a:ext cx="2469919" cy="1234664"/>
      </dsp:txXfrm>
    </dsp:sp>
    <dsp:sp modelId="{19D1F821-3860-4F77-A074-BB6401E6326E}">
      <dsp:nvSpPr>
        <dsp:cNvPr id="0" name=""/>
        <dsp:cNvSpPr/>
      </dsp:nvSpPr>
      <dsp:spPr>
        <a:xfrm>
          <a:off x="3628640" y="5414237"/>
          <a:ext cx="3818817" cy="3820347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4300585" y="6746787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1600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600" b="1" kern="1200" dirty="0"/>
            <a:t>Done / Error</a:t>
          </a:r>
        </a:p>
      </dsp:txBody>
      <dsp:txXfrm>
        <a:off x="4300585" y="6746787"/>
        <a:ext cx="2469919" cy="123466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2651323"/>
            <a:ext cx="15300564" cy="5640152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8508981"/>
            <a:ext cx="13500497" cy="3911355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82662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160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4038864"/>
            <a:ext cx="15525572" cy="6738931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0841548"/>
            <a:ext cx="15525572" cy="3543845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6374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01085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862527"/>
            <a:ext cx="15525572" cy="31313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3971359"/>
            <a:ext cx="7615123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5917660"/>
            <a:ext cx="7615123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3971359"/>
            <a:ext cx="7652626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5917660"/>
            <a:ext cx="7652626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00613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53733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36066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2332567"/>
            <a:ext cx="9112836" cy="11512811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27230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2332567"/>
            <a:ext cx="9112836" cy="11512811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515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17295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862524"/>
            <a:ext cx="3881393" cy="137291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862524"/>
            <a:ext cx="11419171" cy="137291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02549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862527"/>
            <a:ext cx="15525572" cy="3131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4312617"/>
            <a:ext cx="15525572" cy="102790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05/09/2025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5015410"/>
            <a:ext cx="6075224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267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jpe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3.png"/><Relationship Id="rId4" Type="http://schemas.openxmlformats.org/officeDocument/2006/relationships/image" Target="../media/image12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jpeg"/><Relationship Id="rId7" Type="http://schemas.openxmlformats.org/officeDocument/2006/relationships/image" Target="../media/image16.pn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8A3C1-2870-92B1-5CC6-E638ED553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1313307"/>
            <a:ext cx="15525572" cy="112883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High-Level Layered Architecture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1C6F3C-673D-4567-143B-2DE6272FFD6C}"/>
              </a:ext>
            </a:extLst>
          </p:cNvPr>
          <p:cNvSpPr/>
          <p:nvPr/>
        </p:nvSpPr>
        <p:spPr>
          <a:xfrm>
            <a:off x="2113281" y="7593261"/>
            <a:ext cx="13370560" cy="2316480"/>
          </a:xfrm>
          <a:prstGeom prst="roundRect">
            <a:avLst/>
          </a:prstGeom>
          <a:solidFill>
            <a:srgbClr val="800020"/>
          </a:solidFill>
          <a:ln w="38100"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Orchestration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TaskTide DB Coordinated Clients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Monitoring, Workflow Deployment, Binding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B15261D-C021-2C0A-C8D9-E644EBC71F8F}"/>
              </a:ext>
            </a:extLst>
          </p:cNvPr>
          <p:cNvSpPr/>
          <p:nvPr/>
        </p:nvSpPr>
        <p:spPr>
          <a:xfrm>
            <a:off x="2103120" y="11403261"/>
            <a:ext cx="13370560" cy="2316480"/>
          </a:xfrm>
          <a:prstGeom prst="roundRect">
            <a:avLst/>
          </a:prstGeom>
          <a:solidFill>
            <a:srgbClr val="3B3B98"/>
          </a:solidFill>
          <a:ln w="38100"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Infrastructure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Schedulers &amp; Provisioners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(SLURM, Hadoop, </a:t>
            </a:r>
            <a:r>
              <a:rPr lang="en-IE" sz="3200" b="1" i="1" dirty="0" err="1">
                <a:solidFill>
                  <a:schemeClr val="bg1"/>
                </a:solidFill>
              </a:rPr>
              <a:t>gLite</a:t>
            </a:r>
            <a:r>
              <a:rPr lang="en-IE" sz="3200" b="1" i="1" dirty="0">
                <a:solidFill>
                  <a:schemeClr val="bg1"/>
                </a:solidFill>
              </a:rPr>
              <a:t>, Kubernetes, Cloud)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B1E6658-9A50-53B7-522A-B91C6DE4A836}"/>
              </a:ext>
            </a:extLst>
          </p:cNvPr>
          <p:cNvSpPr/>
          <p:nvPr/>
        </p:nvSpPr>
        <p:spPr>
          <a:xfrm>
            <a:off x="2113281" y="3691820"/>
            <a:ext cx="13370560" cy="2316480"/>
          </a:xfrm>
          <a:prstGeom prst="roundRect">
            <a:avLst/>
          </a:prstGeom>
          <a:solidFill>
            <a:srgbClr val="2A2A72"/>
          </a:solidFill>
          <a:ln w="38100"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Data Application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Domain Specific Workflow Development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(ETL, AI, Spark)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73E130C7-F43E-218E-CFA0-2E472A988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10843" y="5771452"/>
            <a:ext cx="3585819" cy="2254948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3B2EDDBA-81FB-2174-1909-4135281C08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7139" y="6145315"/>
            <a:ext cx="3585454" cy="198268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CDAD23B-55A5-E907-1F02-B4E40AB99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4101" y="2325720"/>
            <a:ext cx="4115234" cy="2139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536A531-ACB6-9D4D-412A-8B43D7776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1200" y="542940"/>
            <a:ext cx="2435749" cy="1567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lurm Workload Manager - Wikipedia">
            <a:extLst>
              <a:ext uri="{FF2B5EF4-FFF2-40B4-BE49-F238E27FC236}">
                <a16:creationId xmlns:a16="http://schemas.microsoft.com/office/drawing/2014/main" id="{B310FE77-77EC-EC3C-705C-C79EAD29B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4852" y="11067701"/>
            <a:ext cx="3908804" cy="3579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adoop Consulting and Support Services 🐘">
            <a:extLst>
              <a:ext uri="{FF2B5EF4-FFF2-40B4-BE49-F238E27FC236}">
                <a16:creationId xmlns:a16="http://schemas.microsoft.com/office/drawing/2014/main" id="{CF53062D-BC41-1A84-6CCE-94958EE1D6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6021" y="12792478"/>
            <a:ext cx="4872885" cy="2789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Kubernetes Logo and Wordmark Sticker ...">
            <a:extLst>
              <a:ext uri="{FF2B5EF4-FFF2-40B4-BE49-F238E27FC236}">
                <a16:creationId xmlns:a16="http://schemas.microsoft.com/office/drawing/2014/main" id="{15AB4257-9B6F-5A87-7CEA-CC7E2C014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71688" y="11093020"/>
            <a:ext cx="3371614" cy="3371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ython Logo PNG Vector (SVG) Free Download">
            <a:extLst>
              <a:ext uri="{FF2B5EF4-FFF2-40B4-BE49-F238E27FC236}">
                <a16:creationId xmlns:a16="http://schemas.microsoft.com/office/drawing/2014/main" id="{62B89B67-4639-4806-8F38-BF34A52773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9214" y="825415"/>
            <a:ext cx="3227499" cy="3227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815DD6-CF85-CA76-C8C9-BE2CB88C0BC0}"/>
              </a:ext>
            </a:extLst>
          </p:cNvPr>
          <p:cNvSpPr/>
          <p:nvPr/>
        </p:nvSpPr>
        <p:spPr>
          <a:xfrm>
            <a:off x="2052320" y="243840"/>
            <a:ext cx="15544800" cy="4470400"/>
          </a:xfrm>
          <a:prstGeom prst="roundRect">
            <a:avLst/>
          </a:prstGeom>
          <a:noFill/>
          <a:ln w="76200">
            <a:solidFill>
              <a:srgbClr val="2A2A7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3361AE9-7B9B-9BA8-B967-A09704AB0BCC}"/>
              </a:ext>
            </a:extLst>
          </p:cNvPr>
          <p:cNvSpPr/>
          <p:nvPr/>
        </p:nvSpPr>
        <p:spPr>
          <a:xfrm>
            <a:off x="2082800" y="5207856"/>
            <a:ext cx="15544800" cy="4909804"/>
          </a:xfrm>
          <a:prstGeom prst="roundRect">
            <a:avLst/>
          </a:prstGeom>
          <a:noFill/>
          <a:ln w="76200">
            <a:solidFill>
              <a:srgbClr val="80002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E4D2371-C54A-9C5B-B216-E076192FB328}"/>
              </a:ext>
            </a:extLst>
          </p:cNvPr>
          <p:cNvSpPr/>
          <p:nvPr/>
        </p:nvSpPr>
        <p:spPr>
          <a:xfrm>
            <a:off x="2113280" y="10586720"/>
            <a:ext cx="15544800" cy="5332300"/>
          </a:xfrm>
          <a:prstGeom prst="roundRect">
            <a:avLst/>
          </a:prstGeom>
          <a:noFill/>
          <a:ln w="76200">
            <a:solidFill>
              <a:srgbClr val="3B3B9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46" name="Picture 22" descr="R Meets Hardware | R-bloggers">
            <a:extLst>
              <a:ext uri="{FF2B5EF4-FFF2-40B4-BE49-F238E27FC236}">
                <a16:creationId xmlns:a16="http://schemas.microsoft.com/office/drawing/2014/main" id="{A71FA59A-7421-FA14-8B69-A08ECC946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8408" y="679142"/>
            <a:ext cx="3478254" cy="347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82E426D-90DF-9E70-8E8B-8220C5D9CE9B}"/>
              </a:ext>
            </a:extLst>
          </p:cNvPr>
          <p:cNvSpPr txBox="1"/>
          <p:nvPr/>
        </p:nvSpPr>
        <p:spPr>
          <a:xfrm rot="16200000">
            <a:off x="-732238" y="168918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2A2A72"/>
                </a:solidFill>
              </a:rPr>
              <a:t>Data Application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024C1-7776-2129-C309-C8FF5AE68EEE}"/>
              </a:ext>
            </a:extLst>
          </p:cNvPr>
          <p:cNvSpPr txBox="1"/>
          <p:nvPr/>
        </p:nvSpPr>
        <p:spPr>
          <a:xfrm rot="16200000">
            <a:off x="-722078" y="696222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800020"/>
                </a:solidFill>
              </a:rPr>
              <a:t>Orchestration    Layer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442966-5C09-8D5B-777A-DC9B15E129F1}"/>
              </a:ext>
            </a:extLst>
          </p:cNvPr>
          <p:cNvSpPr txBox="1"/>
          <p:nvPr/>
        </p:nvSpPr>
        <p:spPr>
          <a:xfrm rot="16200000">
            <a:off x="-610318" y="1262134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3B3B98"/>
                </a:solidFill>
              </a:rPr>
              <a:t>Infrastructure    Layer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0CB8691-6939-E709-3301-C6197E8637E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63180" y="5501394"/>
            <a:ext cx="4877076" cy="435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628847"/>
            <a:ext cx="15525572" cy="237851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Mapping of TaskTide Components to Pilot Job Model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3B5530-C2C5-432B-8650-01D5F92A1DA7}"/>
              </a:ext>
            </a:extLst>
          </p:cNvPr>
          <p:cNvSpPr/>
          <p:nvPr/>
        </p:nvSpPr>
        <p:spPr>
          <a:xfrm>
            <a:off x="284480" y="3962400"/>
            <a:ext cx="5303520" cy="3962400"/>
          </a:xfrm>
          <a:prstGeom prst="roundRect">
            <a:avLst/>
          </a:prstGeom>
          <a:solidFill>
            <a:srgbClr val="B56576"/>
          </a:solidFill>
          <a:ln w="381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Pilot Manager</a:t>
            </a:r>
          </a:p>
          <a:p>
            <a:pPr algn="ctr"/>
            <a:r>
              <a:rPr lang="en-IE" sz="3600" b="1" i="1" dirty="0"/>
              <a:t>(Provisioning)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2C7CA26-DC3F-D8BF-1823-0FC5B1F42429}"/>
              </a:ext>
            </a:extLst>
          </p:cNvPr>
          <p:cNvSpPr/>
          <p:nvPr/>
        </p:nvSpPr>
        <p:spPr>
          <a:xfrm>
            <a:off x="284480" y="11247120"/>
            <a:ext cx="5303520" cy="3962400"/>
          </a:xfrm>
          <a:prstGeom prst="roundRect">
            <a:avLst/>
          </a:prstGeom>
          <a:solidFill>
            <a:srgbClr val="B56576"/>
          </a:solidFill>
          <a:ln w="381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Delegate to Schedulers</a:t>
            </a:r>
          </a:p>
          <a:p>
            <a:pPr algn="ctr"/>
            <a:r>
              <a:rPr lang="en-IE" sz="3600" b="1" i="1" dirty="0"/>
              <a:t>(SLURM, K8s etc)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61EACF5-381B-A801-9C56-2B9AA25037CB}"/>
              </a:ext>
            </a:extLst>
          </p:cNvPr>
          <p:cNvSpPr/>
          <p:nvPr/>
        </p:nvSpPr>
        <p:spPr>
          <a:xfrm>
            <a:off x="6329680" y="3952240"/>
            <a:ext cx="5303520" cy="3962400"/>
          </a:xfrm>
          <a:prstGeom prst="roundRect">
            <a:avLst/>
          </a:prstGeom>
          <a:solidFill>
            <a:srgbClr val="4A4E69"/>
          </a:solidFill>
          <a:ln w="381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Workload Manager</a:t>
            </a:r>
          </a:p>
          <a:p>
            <a:pPr algn="ctr"/>
            <a:r>
              <a:rPr lang="en-IE" sz="3600" b="1" i="1" dirty="0"/>
              <a:t>(Dispatching)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F4E2FC9-AA1E-2152-1294-D9B20D8F0939}"/>
              </a:ext>
            </a:extLst>
          </p:cNvPr>
          <p:cNvSpPr/>
          <p:nvPr/>
        </p:nvSpPr>
        <p:spPr>
          <a:xfrm>
            <a:off x="6329680" y="11236960"/>
            <a:ext cx="5303520" cy="3962400"/>
          </a:xfrm>
          <a:prstGeom prst="roundRect">
            <a:avLst/>
          </a:prstGeom>
          <a:solidFill>
            <a:srgbClr val="4A4E69"/>
          </a:solidFill>
          <a:ln w="381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Manager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Repository</a:t>
            </a:r>
            <a:endParaRPr lang="en-IE" sz="3600" b="1" i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59B431-D851-B80B-F782-CD4578C86502}"/>
              </a:ext>
            </a:extLst>
          </p:cNvPr>
          <p:cNvSpPr/>
          <p:nvPr/>
        </p:nvSpPr>
        <p:spPr>
          <a:xfrm>
            <a:off x="12395200" y="3962400"/>
            <a:ext cx="5303520" cy="3962400"/>
          </a:xfrm>
          <a:prstGeom prst="roundRect">
            <a:avLst/>
          </a:prstGeom>
          <a:solidFill>
            <a:srgbClr val="6B5B95"/>
          </a:solidFill>
          <a:ln w="381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Task Manager</a:t>
            </a:r>
          </a:p>
          <a:p>
            <a:pPr algn="ctr"/>
            <a:r>
              <a:rPr lang="en-IE" sz="3600" b="1" i="1" dirty="0"/>
              <a:t>(Execution)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7D5B73F-21AD-3A0B-09DF-443A8870625A}"/>
              </a:ext>
            </a:extLst>
          </p:cNvPr>
          <p:cNvSpPr/>
          <p:nvPr/>
        </p:nvSpPr>
        <p:spPr>
          <a:xfrm>
            <a:off x="12395200" y="11247120"/>
            <a:ext cx="5303520" cy="3962400"/>
          </a:xfrm>
          <a:prstGeom prst="roundRect">
            <a:avLst/>
          </a:prstGeom>
          <a:solidFill>
            <a:srgbClr val="6B5B95"/>
          </a:solidFill>
          <a:ln w="38100"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Client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Engine</a:t>
            </a:r>
            <a:endParaRPr lang="en-IE" sz="3600" b="1" i="1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E8F5C0A-A32A-C17F-9A9A-2B3977313AA9}"/>
              </a:ext>
            </a:extLst>
          </p:cNvPr>
          <p:cNvSpPr/>
          <p:nvPr/>
        </p:nvSpPr>
        <p:spPr>
          <a:xfrm>
            <a:off x="2275840" y="7904481"/>
            <a:ext cx="1178560" cy="3891280"/>
          </a:xfrm>
          <a:prstGeom prst="downArrow">
            <a:avLst/>
          </a:prstGeom>
          <a:solidFill>
            <a:srgbClr val="4A6FA5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627699BF-8C58-A803-0A60-513BDDC3A7C0}"/>
              </a:ext>
            </a:extLst>
          </p:cNvPr>
          <p:cNvSpPr/>
          <p:nvPr/>
        </p:nvSpPr>
        <p:spPr>
          <a:xfrm>
            <a:off x="8300720" y="7894320"/>
            <a:ext cx="1178560" cy="3901440"/>
          </a:xfrm>
          <a:prstGeom prst="downArrow">
            <a:avLst/>
          </a:prstGeom>
          <a:solidFill>
            <a:srgbClr val="4A6FA5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588DFD7E-825B-38AA-50A1-48C819D883EB}"/>
              </a:ext>
            </a:extLst>
          </p:cNvPr>
          <p:cNvSpPr/>
          <p:nvPr/>
        </p:nvSpPr>
        <p:spPr>
          <a:xfrm>
            <a:off x="14406880" y="7904480"/>
            <a:ext cx="1178560" cy="3901440"/>
          </a:xfrm>
          <a:prstGeom prst="downArrow">
            <a:avLst/>
          </a:prstGeom>
          <a:solidFill>
            <a:srgbClr val="4A6FA5"/>
          </a:solidFill>
          <a:ln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BF49BD9-B379-F6AE-5540-EB2CBA3B44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174936920"/>
              </p:ext>
            </p:extLst>
          </p:nvPr>
        </p:nvGraphicFramePr>
        <p:xfrm>
          <a:off x="-2113278" y="3993735"/>
          <a:ext cx="9834878" cy="92345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A4A4E1F-EF89-55FB-2621-5159F4CECD25}"/>
              </a:ext>
            </a:extLst>
          </p:cNvPr>
          <p:cNvCxnSpPr/>
          <p:nvPr/>
        </p:nvCxnSpPr>
        <p:spPr>
          <a:xfrm>
            <a:off x="5831840" y="2743200"/>
            <a:ext cx="0" cy="11988800"/>
          </a:xfrm>
          <a:prstGeom prst="line">
            <a:avLst/>
          </a:prstGeom>
          <a:ln w="762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ylinder 5">
            <a:extLst>
              <a:ext uri="{FF2B5EF4-FFF2-40B4-BE49-F238E27FC236}">
                <a16:creationId xmlns:a16="http://schemas.microsoft.com/office/drawing/2014/main" id="{A947FBCF-D905-0831-86F1-AD448E1C4D75}"/>
              </a:ext>
            </a:extLst>
          </p:cNvPr>
          <p:cNvSpPr/>
          <p:nvPr/>
        </p:nvSpPr>
        <p:spPr>
          <a:xfrm>
            <a:off x="10789927" y="2113281"/>
            <a:ext cx="2153905" cy="2022695"/>
          </a:xfrm>
          <a:prstGeom prst="can">
            <a:avLst/>
          </a:prstGeom>
          <a:ln w="38100">
            <a:solidFill>
              <a:schemeClr val="tx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TaskTide</a:t>
            </a:r>
          </a:p>
          <a:p>
            <a:pPr algn="ctr"/>
            <a:r>
              <a:rPr lang="en-IE" sz="2800" b="1" dirty="0"/>
              <a:t>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3CEBE93-DE8F-36D6-D818-053F81620ED2}"/>
              </a:ext>
            </a:extLst>
          </p:cNvPr>
          <p:cNvSpPr/>
          <p:nvPr/>
        </p:nvSpPr>
        <p:spPr>
          <a:xfrm>
            <a:off x="6461767" y="5425441"/>
            <a:ext cx="11155674" cy="9384150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13119DE-8929-C472-8586-3BF55CA1FBAD}"/>
              </a:ext>
            </a:extLst>
          </p:cNvPr>
          <p:cNvCxnSpPr>
            <a:cxnSpLocks/>
          </p:cNvCxnSpPr>
          <p:nvPr/>
        </p:nvCxnSpPr>
        <p:spPr>
          <a:xfrm>
            <a:off x="11532585" y="4346175"/>
            <a:ext cx="0" cy="968362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780AF89-8AE7-83F1-4A98-E375BFCB6C49}"/>
              </a:ext>
            </a:extLst>
          </p:cNvPr>
          <p:cNvCxnSpPr>
            <a:cxnSpLocks/>
          </p:cNvCxnSpPr>
          <p:nvPr/>
        </p:nvCxnSpPr>
        <p:spPr>
          <a:xfrm flipH="1" flipV="1">
            <a:off x="11998960" y="4287520"/>
            <a:ext cx="1" cy="954107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ight Brace 24">
            <a:extLst>
              <a:ext uri="{FF2B5EF4-FFF2-40B4-BE49-F238E27FC236}">
                <a16:creationId xmlns:a16="http://schemas.microsoft.com/office/drawing/2014/main" id="{D824E922-C84C-7CA7-48D4-0D4C189A40F0}"/>
              </a:ext>
            </a:extLst>
          </p:cNvPr>
          <p:cNvSpPr/>
          <p:nvPr/>
        </p:nvSpPr>
        <p:spPr>
          <a:xfrm>
            <a:off x="10830560" y="6674266"/>
            <a:ext cx="1767841" cy="6797894"/>
          </a:xfrm>
          <a:prstGeom prst="rightBrace">
            <a:avLst/>
          </a:prstGeom>
          <a:ln w="38100">
            <a:solidFill>
              <a:srgbClr val="8B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D762018-D3F6-7019-E52D-DF61061EB125}"/>
              </a:ext>
            </a:extLst>
          </p:cNvPr>
          <p:cNvCxnSpPr/>
          <p:nvPr/>
        </p:nvCxnSpPr>
        <p:spPr>
          <a:xfrm>
            <a:off x="8869680" y="8090917"/>
            <a:ext cx="0" cy="1036320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E6D65AD-E43D-3543-0704-6A46F703DC9E}"/>
              </a:ext>
            </a:extLst>
          </p:cNvPr>
          <p:cNvCxnSpPr/>
          <p:nvPr/>
        </p:nvCxnSpPr>
        <p:spPr>
          <a:xfrm>
            <a:off x="8891426" y="11273886"/>
            <a:ext cx="0" cy="1036320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6BBE23F6-3E62-EEA6-9EC5-A37AB8CCE7C9}"/>
              </a:ext>
            </a:extLst>
          </p:cNvPr>
          <p:cNvCxnSpPr>
            <a:cxnSpLocks/>
          </p:cNvCxnSpPr>
          <p:nvPr/>
        </p:nvCxnSpPr>
        <p:spPr>
          <a:xfrm flipH="1">
            <a:off x="13292134" y="9844550"/>
            <a:ext cx="1284683" cy="904731"/>
          </a:xfrm>
          <a:prstGeom prst="straightConnector1">
            <a:avLst/>
          </a:prstGeom>
          <a:ln w="76200">
            <a:solidFill>
              <a:srgbClr val="0064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01FBED5D-201B-FA8F-D00F-68E2D09F3003}"/>
              </a:ext>
            </a:extLst>
          </p:cNvPr>
          <p:cNvCxnSpPr>
            <a:cxnSpLocks/>
          </p:cNvCxnSpPr>
          <p:nvPr/>
        </p:nvCxnSpPr>
        <p:spPr>
          <a:xfrm>
            <a:off x="13236734" y="12290706"/>
            <a:ext cx="1340082" cy="1026324"/>
          </a:xfrm>
          <a:prstGeom prst="straightConnector1">
            <a:avLst/>
          </a:prstGeom>
          <a:ln w="76200">
            <a:solidFill>
              <a:srgbClr val="0064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A609447-70C2-50CB-DC4B-87DAD8A21A89}"/>
              </a:ext>
            </a:extLst>
          </p:cNvPr>
          <p:cNvCxnSpPr>
            <a:cxnSpLocks/>
          </p:cNvCxnSpPr>
          <p:nvPr/>
        </p:nvCxnSpPr>
        <p:spPr>
          <a:xfrm flipV="1">
            <a:off x="14917727" y="12305033"/>
            <a:ext cx="1282078" cy="978690"/>
          </a:xfrm>
          <a:prstGeom prst="straightConnector1">
            <a:avLst/>
          </a:prstGeom>
          <a:ln w="76200">
            <a:solidFill>
              <a:srgbClr val="0064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69D4E3FF-3CD6-FEDB-3705-A60718BE9CD1}"/>
              </a:ext>
            </a:extLst>
          </p:cNvPr>
          <p:cNvSpPr/>
          <p:nvPr/>
        </p:nvSpPr>
        <p:spPr>
          <a:xfrm>
            <a:off x="7370596" y="6116320"/>
            <a:ext cx="3152458" cy="1852676"/>
          </a:xfrm>
          <a:prstGeom prst="roundRect">
            <a:avLst/>
          </a:prstGeom>
          <a:ln w="38100"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Fetch Tasks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8DCAD642-DF61-F4FE-C83B-F5BF13F3DB36}"/>
              </a:ext>
            </a:extLst>
          </p:cNvPr>
          <p:cNvSpPr/>
          <p:nvPr/>
        </p:nvSpPr>
        <p:spPr>
          <a:xfrm>
            <a:off x="7380757" y="9235440"/>
            <a:ext cx="3152458" cy="1852676"/>
          </a:xfrm>
          <a:prstGeom prst="roundRect">
            <a:avLst/>
          </a:prstGeom>
          <a:ln w="38100"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Processor distributes over threads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77A340E3-8AD4-6C9B-AF8B-868695C80E00}"/>
              </a:ext>
            </a:extLst>
          </p:cNvPr>
          <p:cNvSpPr/>
          <p:nvPr/>
        </p:nvSpPr>
        <p:spPr>
          <a:xfrm>
            <a:off x="7380757" y="12446000"/>
            <a:ext cx="3152458" cy="1852676"/>
          </a:xfrm>
          <a:prstGeom prst="roundRect">
            <a:avLst/>
          </a:prstGeom>
          <a:ln w="38100"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Executor spawns OS process</a:t>
            </a:r>
          </a:p>
        </p:txBody>
      </p:sp>
      <p:sp>
        <p:nvSpPr>
          <p:cNvPr id="60" name="Rectangle: Rounded Corners 59">
            <a:extLst>
              <a:ext uri="{FF2B5EF4-FFF2-40B4-BE49-F238E27FC236}">
                <a16:creationId xmlns:a16="http://schemas.microsoft.com/office/drawing/2014/main" id="{DE0071F6-BA5F-3FEC-E3DE-D2CC750CF257}"/>
              </a:ext>
            </a:extLst>
          </p:cNvPr>
          <p:cNvSpPr/>
          <p:nvPr/>
        </p:nvSpPr>
        <p:spPr>
          <a:xfrm>
            <a:off x="13037428" y="7847345"/>
            <a:ext cx="3152458" cy="1852676"/>
          </a:xfrm>
          <a:prstGeom prst="roundRect">
            <a:avLst/>
          </a:prstGeom>
          <a:ln w="38100"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Observer chain monitors &amp; validates processing</a:t>
            </a:r>
          </a:p>
        </p:txBody>
      </p:sp>
      <p:sp>
        <p:nvSpPr>
          <p:cNvPr id="61" name="Rectangle: Rounded Corners 60">
            <a:extLst>
              <a:ext uri="{FF2B5EF4-FFF2-40B4-BE49-F238E27FC236}">
                <a16:creationId xmlns:a16="http://schemas.microsoft.com/office/drawing/2014/main" id="{79F64589-FDB2-FFA2-2E31-78535D5A4CBB}"/>
              </a:ext>
            </a:extLst>
          </p:cNvPr>
          <p:cNvSpPr/>
          <p:nvPr/>
        </p:nvSpPr>
        <p:spPr>
          <a:xfrm>
            <a:off x="12126512" y="10916382"/>
            <a:ext cx="2220444" cy="1158240"/>
          </a:xfrm>
          <a:prstGeom prst="roundRect">
            <a:avLst/>
          </a:prstGeom>
          <a:ln w="38100"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 err="1"/>
              <a:t>onTaskStart</a:t>
            </a:r>
            <a:r>
              <a:rPr lang="en-IE" sz="2400" b="1" dirty="0"/>
              <a:t> subscription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0126D41A-8577-F29D-5055-C0DABEB861D7}"/>
              </a:ext>
            </a:extLst>
          </p:cNvPr>
          <p:cNvSpPr/>
          <p:nvPr/>
        </p:nvSpPr>
        <p:spPr>
          <a:xfrm>
            <a:off x="13292133" y="13445368"/>
            <a:ext cx="2897752" cy="1158240"/>
          </a:xfrm>
          <a:prstGeom prst="roundRect">
            <a:avLst/>
          </a:prstGeom>
          <a:ln w="38100"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 err="1"/>
              <a:t>onTaskProcessing</a:t>
            </a:r>
            <a:r>
              <a:rPr lang="en-IE" sz="2400" b="1" dirty="0"/>
              <a:t> subscription</a:t>
            </a:r>
          </a:p>
        </p:txBody>
      </p: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15A5339F-07AD-32CF-9AED-29D280649A1E}"/>
              </a:ext>
            </a:extLst>
          </p:cNvPr>
          <p:cNvSpPr/>
          <p:nvPr/>
        </p:nvSpPr>
        <p:spPr>
          <a:xfrm>
            <a:off x="15079663" y="10917427"/>
            <a:ext cx="2220444" cy="1158240"/>
          </a:xfrm>
          <a:prstGeom prst="roundRect">
            <a:avLst/>
          </a:prstGeom>
          <a:ln w="38100">
            <a:noFill/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400" b="1" dirty="0" err="1"/>
              <a:t>onTaskEnd</a:t>
            </a:r>
            <a:r>
              <a:rPr lang="en-IE" sz="2400" b="1" dirty="0"/>
              <a:t> subscription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510191-D70B-0A09-14B7-C12B6C844E8F}"/>
              </a:ext>
            </a:extLst>
          </p:cNvPr>
          <p:cNvSpPr txBox="1"/>
          <p:nvPr/>
        </p:nvSpPr>
        <p:spPr>
          <a:xfrm>
            <a:off x="386080" y="812800"/>
            <a:ext cx="170359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6000" b="1" dirty="0"/>
              <a:t>a)												b) 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E31B009-805C-03C3-6EF6-2F23BD1282E0}"/>
              </a:ext>
            </a:extLst>
          </p:cNvPr>
          <p:cNvSpPr txBox="1"/>
          <p:nvPr/>
        </p:nvSpPr>
        <p:spPr>
          <a:xfrm>
            <a:off x="7604971" y="4942861"/>
            <a:ext cx="2960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/>
              <a:t>TaskTide Engine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9D0EACC-283C-9CE1-7867-92E543D131B1}"/>
              </a:ext>
            </a:extLst>
          </p:cNvPr>
          <p:cNvSpPr txBox="1"/>
          <p:nvPr/>
        </p:nvSpPr>
        <p:spPr>
          <a:xfrm>
            <a:off x="13807786" y="6314604"/>
            <a:ext cx="296061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Commits task updates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83F73D-D09F-B45C-DA3C-EF859F32AFF6}"/>
              </a:ext>
            </a:extLst>
          </p:cNvPr>
          <p:cNvSpPr txBox="1"/>
          <p:nvPr/>
        </p:nvSpPr>
        <p:spPr>
          <a:xfrm>
            <a:off x="12296651" y="4630079"/>
            <a:ext cx="2546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/>
              <a:t>Task Updates</a:t>
            </a:r>
          </a:p>
        </p:txBody>
      </p: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4D49C95C-FB72-FA1E-BEA8-0066A4900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A0D5D681-EC19-52DB-E992-0E57F0AEFD3A}"/>
              </a:ext>
            </a:extLst>
          </p:cNvPr>
          <p:cNvSpPr/>
          <p:nvPr/>
        </p:nvSpPr>
        <p:spPr>
          <a:xfrm>
            <a:off x="3853559" y="4166756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C9B222C9-BBBA-0888-EF26-AA904B46F6C6}"/>
              </a:ext>
            </a:extLst>
          </p:cNvPr>
          <p:cNvSpPr/>
          <p:nvPr/>
        </p:nvSpPr>
        <p:spPr>
          <a:xfrm>
            <a:off x="1156998" y="5941277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0088A710-20B0-2142-B5AA-A176FCC79125}"/>
              </a:ext>
            </a:extLst>
          </p:cNvPr>
          <p:cNvSpPr/>
          <p:nvPr/>
        </p:nvSpPr>
        <p:spPr>
          <a:xfrm>
            <a:off x="7274334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C175F32A-56DF-9F7C-9A94-1E7802433A90}"/>
              </a:ext>
            </a:extLst>
          </p:cNvPr>
          <p:cNvSpPr/>
          <p:nvPr/>
        </p:nvSpPr>
        <p:spPr>
          <a:xfrm>
            <a:off x="3579677" y="7662741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BB1892BD-1701-A0BD-82BF-2DE970D0462F}"/>
              </a:ext>
            </a:extLst>
          </p:cNvPr>
          <p:cNvSpPr/>
          <p:nvPr/>
        </p:nvSpPr>
        <p:spPr>
          <a:xfrm>
            <a:off x="3760249" y="9393848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96FC22DE-6644-4604-5F43-438B9F4B6E59}"/>
              </a:ext>
            </a:extLst>
          </p:cNvPr>
          <p:cNvSpPr/>
          <p:nvPr/>
        </p:nvSpPr>
        <p:spPr>
          <a:xfrm>
            <a:off x="286030" y="12290093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D8992BE9-744B-1CD2-6A96-DB2DD3646F8C}"/>
              </a:ext>
            </a:extLst>
          </p:cNvPr>
          <p:cNvSpPr/>
          <p:nvPr/>
        </p:nvSpPr>
        <p:spPr>
          <a:xfrm>
            <a:off x="9595925" y="12251155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sp>
        <p:nvSpPr>
          <p:cNvPr id="14" name="Flowchart: Alternate Process 13">
            <a:extLst>
              <a:ext uri="{FF2B5EF4-FFF2-40B4-BE49-F238E27FC236}">
                <a16:creationId xmlns:a16="http://schemas.microsoft.com/office/drawing/2014/main" id="{8CC51A4A-40B6-E63F-1196-E1FC3D71AF33}"/>
              </a:ext>
            </a:extLst>
          </p:cNvPr>
          <p:cNvSpPr/>
          <p:nvPr/>
        </p:nvSpPr>
        <p:spPr>
          <a:xfrm>
            <a:off x="5446221" y="11627081"/>
            <a:ext cx="4010563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JpaRepository</a:t>
            </a:r>
          </a:p>
        </p:txBody>
      </p:sp>
      <p:pic>
        <p:nvPicPr>
          <p:cNvPr id="16" name="Picture 15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E1FE6B74-6CAE-A5DB-C447-6DF730DC7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575" y="13910704"/>
            <a:ext cx="2990162" cy="1880368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64A8C982-B01F-7D8D-B23D-07252774B370}"/>
              </a:ext>
            </a:extLst>
          </p:cNvPr>
          <p:cNvGrpSpPr/>
          <p:nvPr/>
        </p:nvGrpSpPr>
        <p:grpSpPr>
          <a:xfrm>
            <a:off x="10419762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D166C88F-651A-24E5-32CC-193FBA75B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51A207A8-6E9F-F4A9-834A-7B02AE0759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9F910E2-88BD-CE09-B520-B2E23EE50AB1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3D0CB47-95C9-9287-B513-23AE7CF501B2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3503602-132C-5126-AC48-8B5C00F51FA5}"/>
              </a:ext>
            </a:extLst>
          </p:cNvPr>
          <p:cNvCxnSpPr>
            <a:cxnSpLocks/>
          </p:cNvCxnSpPr>
          <p:nvPr/>
        </p:nvCxnSpPr>
        <p:spPr>
          <a:xfrm>
            <a:off x="7371381" y="10316492"/>
            <a:ext cx="0" cy="131058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7D1C97E-F6A7-6691-F346-63827B0E733B}"/>
              </a:ext>
            </a:extLst>
          </p:cNvPr>
          <p:cNvCxnSpPr>
            <a:cxnSpLocks/>
          </p:cNvCxnSpPr>
          <p:nvPr/>
        </p:nvCxnSpPr>
        <p:spPr>
          <a:xfrm>
            <a:off x="2891186" y="13207680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027E634-66C4-03B1-4E47-DE591C9A779D}"/>
              </a:ext>
            </a:extLst>
          </p:cNvPr>
          <p:cNvCxnSpPr>
            <a:cxnSpLocks/>
          </p:cNvCxnSpPr>
          <p:nvPr/>
        </p:nvCxnSpPr>
        <p:spPr>
          <a:xfrm>
            <a:off x="12097033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48609721-8B1B-69B1-984D-5BB20FDBBDEE}"/>
              </a:ext>
            </a:extLst>
          </p:cNvPr>
          <p:cNvSpPr/>
          <p:nvPr/>
        </p:nvSpPr>
        <p:spPr>
          <a:xfrm>
            <a:off x="11198925" y="6084535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291F7EB-C9AA-46EE-6925-A606E5C11666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8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8B86FAB3-9839-C40F-481E-72C28CB9B5B7}"/>
              </a:ext>
            </a:extLst>
          </p:cNvPr>
          <p:cNvSpPr/>
          <p:nvPr/>
        </p:nvSpPr>
        <p:spPr>
          <a:xfrm>
            <a:off x="9508504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93C3476F-BECE-5A31-EBB9-99B1E6D1940C}"/>
              </a:ext>
            </a:extLst>
          </p:cNvPr>
          <p:cNvSpPr/>
          <p:nvPr/>
        </p:nvSpPr>
        <p:spPr>
          <a:xfrm>
            <a:off x="14534290" y="837901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6D5BD79C-6023-5DD8-A46C-0D202E17ADC3}"/>
              </a:ext>
            </a:extLst>
          </p:cNvPr>
          <p:cNvSpPr/>
          <p:nvPr/>
        </p:nvSpPr>
        <p:spPr>
          <a:xfrm>
            <a:off x="14532171" y="9469825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B0AF4BAB-8A23-C95C-6BC3-FB64F87E4C32}"/>
              </a:ext>
            </a:extLst>
          </p:cNvPr>
          <p:cNvSpPr/>
          <p:nvPr/>
        </p:nvSpPr>
        <p:spPr>
          <a:xfrm>
            <a:off x="14519301" y="1053944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4076E49-55B1-A2B0-BEFA-D6A05A2329E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B5D0FB4-8766-54ED-E1E9-22B3DD32B981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EBCAA57-D7A6-1D1B-285B-726ADA57EB72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F58DA43-F38B-0B4A-C3B4-BB4B0A4E9EE2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F4A330A-7534-79EC-F357-B91BEED4D649}"/>
              </a:ext>
            </a:extLst>
          </p:cNvPr>
          <p:cNvCxnSpPr>
            <a:cxnSpLocks/>
          </p:cNvCxnSpPr>
          <p:nvPr/>
        </p:nvCxnSpPr>
        <p:spPr>
          <a:xfrm rot="16200000">
            <a:off x="10973862" y="6266682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5DEC262-1AE3-204D-EB04-7473F4578BE5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1064600" cy="1433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732FD0A3-1DCF-0EEE-3198-2E002B0C1CF2}"/>
              </a:ext>
            </a:extLst>
          </p:cNvPr>
          <p:cNvCxnSpPr>
            <a:cxnSpLocks/>
          </p:cNvCxnSpPr>
          <p:nvPr/>
        </p:nvCxnSpPr>
        <p:spPr>
          <a:xfrm flipV="1">
            <a:off x="13412176" y="8938728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BBF4229-DE4C-521E-83D4-B150C1247918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10" y="9930882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C0456FA-F655-8574-5ED7-E37812288102}"/>
              </a:ext>
            </a:extLst>
          </p:cNvPr>
          <p:cNvCxnSpPr>
            <a:cxnSpLocks/>
          </p:cNvCxnSpPr>
          <p:nvPr/>
        </p:nvCxnSpPr>
        <p:spPr>
          <a:xfrm flipH="1">
            <a:off x="4277936" y="10316492"/>
            <a:ext cx="194" cy="197360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CD1BE198-26FE-5274-F102-FE3EBDC0655C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908178" y="10240514"/>
            <a:ext cx="3261614" cy="20106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D7FEEE1-2571-A927-F403-D3F4FACDFA4F}"/>
              </a:ext>
            </a:extLst>
          </p:cNvPr>
          <p:cNvCxnSpPr>
            <a:cxnSpLocks/>
          </p:cNvCxnSpPr>
          <p:nvPr/>
        </p:nvCxnSpPr>
        <p:spPr>
          <a:xfrm>
            <a:off x="7390042" y="12574706"/>
            <a:ext cx="0" cy="1093607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6C3043E-52E1-11EF-906B-59D487C0724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7175" y="13766431"/>
            <a:ext cx="2876550" cy="159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B7C66763-4707-DC3A-EEC9-C73E278DD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6D46A4F6-A6E6-EEDD-9DAA-C85003898CD6}"/>
              </a:ext>
            </a:extLst>
          </p:cNvPr>
          <p:cNvSpPr/>
          <p:nvPr/>
        </p:nvSpPr>
        <p:spPr>
          <a:xfrm>
            <a:off x="3853559" y="4166756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483EFC43-8D08-EDDA-C48D-B19EF8145547}"/>
              </a:ext>
            </a:extLst>
          </p:cNvPr>
          <p:cNvSpPr/>
          <p:nvPr/>
        </p:nvSpPr>
        <p:spPr>
          <a:xfrm>
            <a:off x="1156998" y="5941277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BF743EF5-BB08-F701-6DF6-8EA8AAB63398}"/>
              </a:ext>
            </a:extLst>
          </p:cNvPr>
          <p:cNvSpPr/>
          <p:nvPr/>
        </p:nvSpPr>
        <p:spPr>
          <a:xfrm>
            <a:off x="7274334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A60E3390-6BDF-75B0-676A-C81444615F2C}"/>
              </a:ext>
            </a:extLst>
          </p:cNvPr>
          <p:cNvSpPr/>
          <p:nvPr/>
        </p:nvSpPr>
        <p:spPr>
          <a:xfrm>
            <a:off x="3579677" y="7662741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761A1A9A-FBA2-221A-ED5A-8397CBBF7091}"/>
              </a:ext>
            </a:extLst>
          </p:cNvPr>
          <p:cNvSpPr/>
          <p:nvPr/>
        </p:nvSpPr>
        <p:spPr>
          <a:xfrm>
            <a:off x="3760249" y="9393848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6CF3679C-A42B-BB1A-89A6-3779A8CAC4B0}"/>
              </a:ext>
            </a:extLst>
          </p:cNvPr>
          <p:cNvSpPr/>
          <p:nvPr/>
        </p:nvSpPr>
        <p:spPr>
          <a:xfrm>
            <a:off x="286030" y="11692933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A9DF68DD-9327-AAF2-6D6A-40C7FF82282B}"/>
              </a:ext>
            </a:extLst>
          </p:cNvPr>
          <p:cNvSpPr/>
          <p:nvPr/>
        </p:nvSpPr>
        <p:spPr>
          <a:xfrm>
            <a:off x="9595925" y="12251155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sp>
        <p:nvSpPr>
          <p:cNvPr id="14" name="Flowchart: Alternate Process 13">
            <a:extLst>
              <a:ext uri="{FF2B5EF4-FFF2-40B4-BE49-F238E27FC236}">
                <a16:creationId xmlns:a16="http://schemas.microsoft.com/office/drawing/2014/main" id="{70F9B6C0-7A11-5126-A2F9-62210095E61E}"/>
              </a:ext>
            </a:extLst>
          </p:cNvPr>
          <p:cNvSpPr/>
          <p:nvPr/>
        </p:nvSpPr>
        <p:spPr>
          <a:xfrm>
            <a:off x="5464882" y="10936618"/>
            <a:ext cx="4010563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JpaRepository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A40A20D-07AA-3C29-B525-8F054EB395CE}"/>
              </a:ext>
            </a:extLst>
          </p:cNvPr>
          <p:cNvGrpSpPr/>
          <p:nvPr/>
        </p:nvGrpSpPr>
        <p:grpSpPr>
          <a:xfrm>
            <a:off x="10419762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A0EBE8F0-852C-9D44-C282-192E019302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E6A01908-3616-64D6-439C-842D10A4FB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7161502-6450-2C74-3220-821B827C17C8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A954414-47EC-2512-D52F-172903F25B80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B7E84AA-4EFD-742C-FCF6-2A230C4ECCBB}"/>
              </a:ext>
            </a:extLst>
          </p:cNvPr>
          <p:cNvCxnSpPr>
            <a:cxnSpLocks/>
          </p:cNvCxnSpPr>
          <p:nvPr/>
        </p:nvCxnSpPr>
        <p:spPr>
          <a:xfrm>
            <a:off x="7461574" y="10340988"/>
            <a:ext cx="0" cy="5511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19E524B-4AAF-85A1-2D4B-FCC8F7BBC7CD}"/>
              </a:ext>
            </a:extLst>
          </p:cNvPr>
          <p:cNvCxnSpPr>
            <a:cxnSpLocks/>
          </p:cNvCxnSpPr>
          <p:nvPr/>
        </p:nvCxnSpPr>
        <p:spPr>
          <a:xfrm>
            <a:off x="12097033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8E134E11-C649-29A8-88F0-663EA7E359EC}"/>
              </a:ext>
            </a:extLst>
          </p:cNvPr>
          <p:cNvSpPr/>
          <p:nvPr/>
        </p:nvSpPr>
        <p:spPr>
          <a:xfrm>
            <a:off x="11278285" y="6056525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D7A76D2-A199-24BC-3649-24E384805F0D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8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B8214C4E-DB36-C2ED-34D2-EDA3242C2D92}"/>
              </a:ext>
            </a:extLst>
          </p:cNvPr>
          <p:cNvSpPr/>
          <p:nvPr/>
        </p:nvSpPr>
        <p:spPr>
          <a:xfrm>
            <a:off x="9508504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8AB1BA33-846B-71CB-C4E6-E037EFA3C024}"/>
              </a:ext>
            </a:extLst>
          </p:cNvPr>
          <p:cNvSpPr/>
          <p:nvPr/>
        </p:nvSpPr>
        <p:spPr>
          <a:xfrm>
            <a:off x="14534290" y="837901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5C067697-A9CE-7092-38B5-DE6CF63938F7}"/>
              </a:ext>
            </a:extLst>
          </p:cNvPr>
          <p:cNvSpPr/>
          <p:nvPr/>
        </p:nvSpPr>
        <p:spPr>
          <a:xfrm>
            <a:off x="14532171" y="9469825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CBAA4AFC-3354-A870-0D27-6D1FA8EB9501}"/>
              </a:ext>
            </a:extLst>
          </p:cNvPr>
          <p:cNvSpPr/>
          <p:nvPr/>
        </p:nvSpPr>
        <p:spPr>
          <a:xfrm>
            <a:off x="14519301" y="1053944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DCEE48F-962D-A3C4-8DC4-E8DDC684297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811605E-2E77-4721-BB6A-D96BCA1BBA30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69DBF85-D0D1-E9E2-C786-B27C86649C59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DFB149C-0D70-4CAD-66D8-E7D9869E7E35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8585F70-3D6B-A57D-56B6-98A008D06323}"/>
              </a:ext>
            </a:extLst>
          </p:cNvPr>
          <p:cNvCxnSpPr>
            <a:cxnSpLocks/>
          </p:cNvCxnSpPr>
          <p:nvPr/>
        </p:nvCxnSpPr>
        <p:spPr>
          <a:xfrm rot="16200000">
            <a:off x="11053222" y="6238672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5D7C695-DFC6-67D0-DD12-31F6A0348BA4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1064600" cy="1433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E5F967A5-B59E-7B7D-5E64-512341FD7AD1}"/>
              </a:ext>
            </a:extLst>
          </p:cNvPr>
          <p:cNvCxnSpPr>
            <a:cxnSpLocks/>
          </p:cNvCxnSpPr>
          <p:nvPr/>
        </p:nvCxnSpPr>
        <p:spPr>
          <a:xfrm flipV="1">
            <a:off x="13412176" y="8938728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C5069E0D-C152-2D33-9149-D8FB64B0BEE0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10" y="9930882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D83134F-275B-B0ED-A2DA-C0BE6509A268}"/>
              </a:ext>
            </a:extLst>
          </p:cNvPr>
          <p:cNvCxnSpPr>
            <a:cxnSpLocks/>
          </p:cNvCxnSpPr>
          <p:nvPr/>
        </p:nvCxnSpPr>
        <p:spPr>
          <a:xfrm>
            <a:off x="4278129" y="10316492"/>
            <a:ext cx="0" cy="142246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110645D-7449-3CAF-2FB2-5789C07DA1BC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908178" y="10240514"/>
            <a:ext cx="3261614" cy="20106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63FC61A-B064-0C71-D47B-6087923E9AA1}"/>
              </a:ext>
            </a:extLst>
          </p:cNvPr>
          <p:cNvCxnSpPr>
            <a:cxnSpLocks/>
          </p:cNvCxnSpPr>
          <p:nvPr/>
        </p:nvCxnSpPr>
        <p:spPr>
          <a:xfrm>
            <a:off x="7446025" y="11818336"/>
            <a:ext cx="0" cy="9121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1788FC1-D1D9-FCA0-8AA7-E335A3FB44E0}"/>
              </a:ext>
            </a:extLst>
          </p:cNvPr>
          <p:cNvGrpSpPr/>
          <p:nvPr/>
        </p:nvGrpSpPr>
        <p:grpSpPr>
          <a:xfrm>
            <a:off x="5759896" y="12730471"/>
            <a:ext cx="3317123" cy="2907635"/>
            <a:chOff x="5722573" y="12674487"/>
            <a:chExt cx="3317123" cy="2907635"/>
          </a:xfrm>
        </p:grpSpPr>
        <p:pic>
          <p:nvPicPr>
            <p:cNvPr id="4" name="Picture 3" descr="A blue circle with white text and a dolphin&#10;&#10;AI-generated content may be incorrect.">
              <a:extLst>
                <a:ext uri="{FF2B5EF4-FFF2-40B4-BE49-F238E27FC236}">
                  <a16:creationId xmlns:a16="http://schemas.microsoft.com/office/drawing/2014/main" id="{4317112C-5E93-13F6-DEEF-8EAA6FDD088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22573" y="12674487"/>
              <a:ext cx="1409700" cy="1409700"/>
            </a:xfrm>
            <a:prstGeom prst="rect">
              <a:avLst/>
            </a:prstGeom>
          </p:spPr>
        </p:pic>
        <p:pic>
          <p:nvPicPr>
            <p:cNvPr id="15" name="Picture 14" descr="A logo for a company&#10;&#10;AI-generated content may be incorrect.">
              <a:extLst>
                <a:ext uri="{FF2B5EF4-FFF2-40B4-BE49-F238E27FC236}">
                  <a16:creationId xmlns:a16="http://schemas.microsoft.com/office/drawing/2014/main" id="{B03A0ABC-098B-C812-3DA4-0300D71075D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7452" y="14381372"/>
              <a:ext cx="1590182" cy="1200750"/>
            </a:xfrm>
            <a:prstGeom prst="rect">
              <a:avLst/>
            </a:prstGeom>
          </p:spPr>
        </p:pic>
        <p:pic>
          <p:nvPicPr>
            <p:cNvPr id="19" name="Picture 18" descr="A blue elephant logo with white text&#10;&#10;AI-generated content may be incorrect.">
              <a:extLst>
                <a:ext uri="{FF2B5EF4-FFF2-40B4-BE49-F238E27FC236}">
                  <a16:creationId xmlns:a16="http://schemas.microsoft.com/office/drawing/2014/main" id="{33994AF6-0DEF-2EBD-E76A-01617A7F53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88502" y="12732993"/>
              <a:ext cx="1351194" cy="1351194"/>
            </a:xfrm>
            <a:prstGeom prst="rect">
              <a:avLst/>
            </a:prstGeom>
          </p:spPr>
        </p:pic>
      </p:grpSp>
      <p:pic>
        <p:nvPicPr>
          <p:cNvPr id="25" name="Picture 24" descr="A group of logos on a white background&#10;&#10;AI-generated content may be incorrect.">
            <a:extLst>
              <a:ext uri="{FF2B5EF4-FFF2-40B4-BE49-F238E27FC236}">
                <a16:creationId xmlns:a16="http://schemas.microsoft.com/office/drawing/2014/main" id="{ABB203D0-3D97-1EDE-DC6D-B67CAA1D37D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030" y="13097822"/>
            <a:ext cx="5116008" cy="3108274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9DC3E09-C608-48EF-34B8-A8C2CC14E4C6}"/>
              </a:ext>
            </a:extLst>
          </p:cNvPr>
          <p:cNvCxnSpPr>
            <a:cxnSpLocks/>
          </p:cNvCxnSpPr>
          <p:nvPr/>
        </p:nvCxnSpPr>
        <p:spPr>
          <a:xfrm>
            <a:off x="2499300" y="12726732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445</TotalTime>
  <Words>174</Words>
  <Application>Microsoft Office PowerPoint</Application>
  <PresentationFormat>Custom</PresentationFormat>
  <Paragraphs>70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High-Level Layered Architecture</vt:lpstr>
      <vt:lpstr>PowerPoint Presentation</vt:lpstr>
      <vt:lpstr>Mapping of TaskTide Components to Pilot Job Model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54</cp:revision>
  <dcterms:created xsi:type="dcterms:W3CDTF">2025-07-22T15:08:42Z</dcterms:created>
  <dcterms:modified xsi:type="dcterms:W3CDTF">2025-09-05T21:34:24Z</dcterms:modified>
</cp:coreProperties>
</file>