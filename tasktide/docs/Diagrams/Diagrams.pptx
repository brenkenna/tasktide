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64" r:id="rId2"/>
    <p:sldId id="262" r:id="rId3"/>
    <p:sldId id="259" r:id="rId4"/>
    <p:sldId id="266" r:id="rId5"/>
    <p:sldId id="256" r:id="rId6"/>
    <p:sldId id="261" r:id="rId7"/>
    <p:sldId id="265" r:id="rId8"/>
    <p:sldId id="263" r:id="rId9"/>
    <p:sldId id="260" r:id="rId10"/>
    <p:sldId id="258" r:id="rId11"/>
  </p:sldIdLst>
  <p:sldSz cx="30240288" cy="16200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D2D8"/>
    <a:srgbClr val="400020"/>
    <a:srgbClr val="800020"/>
    <a:srgbClr val="984A5B"/>
    <a:srgbClr val="4E262F"/>
    <a:srgbClr val="B56576"/>
    <a:srgbClr val="A55163"/>
    <a:srgbClr val="522831"/>
    <a:srgbClr val="4A4A69"/>
    <a:srgbClr val="3B3B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2" autoAdjust="0"/>
    <p:restoredTop sz="95706" autoAdjust="0"/>
  </p:normalViewPr>
  <p:slideViewPr>
    <p:cSldViewPr snapToGrid="0">
      <p:cViewPr>
        <p:scale>
          <a:sx n="32" d="100"/>
          <a:sy n="32" d="100"/>
        </p:scale>
        <p:origin x="792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3200" b="1" dirty="0"/>
            <a:t>ToDo</a:t>
          </a:r>
          <a:endParaRPr lang="en-IE" sz="36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3200" b="1" dirty="0"/>
            <a:t>Locked</a:t>
          </a:r>
          <a:endParaRPr lang="en-IE" sz="3600" b="1" dirty="0"/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3200" b="1" dirty="0"/>
            <a:t>Done/Error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 w="57150"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 w="57150"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 w="57150"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i). 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Bioinformatic workflows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Validates workflow orchestration across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ii). Task Binding Semantics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iii). Containerized Deployment</a:t>
          </a:r>
          <a:endParaRPr lang="en-IE" sz="40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Job environment               attached to tasks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Node label constraints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 custLinFactNeighborY="535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536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6026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 custLinFactNeighborX="65" custLinFactNeighborY="1914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 custLinFactNeighborY="1914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 custLinFactNeighborX="147" custLinFactNeighborY="1914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-82" custLinFactNeighborY="1523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 custLinFactNeighborY="1523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 custLinFactNeighborX="147" custLinFactNeighborY="1523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3312283" y="0"/>
          <a:ext cx="4444852" cy="4445529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4294742" y="1604970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ToDo</a:t>
          </a:r>
          <a:endParaRPr lang="en-IE" sz="3600" b="1" kern="1200" dirty="0"/>
        </a:p>
      </dsp:txBody>
      <dsp:txXfrm>
        <a:off x="4294742" y="1604970"/>
        <a:ext cx="2469919" cy="1234664"/>
      </dsp:txXfrm>
    </dsp:sp>
    <dsp:sp modelId="{668DC389-6720-4236-8011-BFAB07D2AE6E}">
      <dsp:nvSpPr>
        <dsp:cNvPr id="0" name=""/>
        <dsp:cNvSpPr/>
      </dsp:nvSpPr>
      <dsp:spPr>
        <a:xfrm>
          <a:off x="2077741" y="2554286"/>
          <a:ext cx="4444852" cy="4445529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065208" y="4174032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Locked</a:t>
          </a:r>
          <a:endParaRPr lang="en-IE" sz="3600" b="1" kern="1200" dirty="0"/>
        </a:p>
      </dsp:txBody>
      <dsp:txXfrm>
        <a:off x="3065208" y="4174032"/>
        <a:ext cx="2469919" cy="1234664"/>
      </dsp:txXfrm>
    </dsp:sp>
    <dsp:sp modelId="{19D1F821-3860-4F77-A074-BB6401E6326E}">
      <dsp:nvSpPr>
        <dsp:cNvPr id="0" name=""/>
        <dsp:cNvSpPr/>
      </dsp:nvSpPr>
      <dsp:spPr>
        <a:xfrm>
          <a:off x="3628640" y="5414237"/>
          <a:ext cx="3818817" cy="3820347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4300585" y="6746787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Done/Error</a:t>
          </a:r>
        </a:p>
      </dsp:txBody>
      <dsp:txXfrm>
        <a:off x="4300585" y="6746787"/>
        <a:ext cx="2469919" cy="12346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9470716"/>
          <a:ext cx="16775589" cy="310777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iii). Containerized Deployment</a:t>
          </a:r>
          <a:endParaRPr lang="en-IE" sz="4000" b="1" kern="1200" dirty="0"/>
        </a:p>
      </dsp:txBody>
      <dsp:txXfrm>
        <a:off x="0" y="9470716"/>
        <a:ext cx="16775589" cy="1678196"/>
      </dsp:txXfrm>
    </dsp:sp>
    <dsp:sp modelId="{2147C4C3-E4ED-44EA-8A74-5AB07B9224C6}">
      <dsp:nvSpPr>
        <dsp:cNvPr id="0" name=""/>
        <dsp:cNvSpPr/>
      </dsp:nvSpPr>
      <dsp:spPr>
        <a:xfrm>
          <a:off x="0" y="11148907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AI play time optimizer</a:t>
          </a:r>
        </a:p>
      </dsp:txBody>
      <dsp:txXfrm>
        <a:off x="0" y="11148907"/>
        <a:ext cx="5586402" cy="1429574"/>
      </dsp:txXfrm>
    </dsp:sp>
    <dsp:sp modelId="{EF0D8E2E-611F-48CE-B1FC-FF5FEBAA646D}">
      <dsp:nvSpPr>
        <dsp:cNvPr id="0" name=""/>
        <dsp:cNvSpPr/>
      </dsp:nvSpPr>
      <dsp:spPr>
        <a:xfrm>
          <a:off x="5574258" y="11148912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 containerized workloads</a:t>
          </a:r>
        </a:p>
      </dsp:txBody>
      <dsp:txXfrm>
        <a:off x="5574258" y="11148912"/>
        <a:ext cx="5586402" cy="1429574"/>
      </dsp:txXfrm>
    </dsp:sp>
    <dsp:sp modelId="{A26E17A3-6ADC-4207-BAA9-6F37A7025026}">
      <dsp:nvSpPr>
        <dsp:cNvPr id="0" name=""/>
        <dsp:cNvSpPr/>
      </dsp:nvSpPr>
      <dsp:spPr>
        <a:xfrm>
          <a:off x="11180995" y="11148907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Node label constraints</a:t>
          </a:r>
        </a:p>
      </dsp:txBody>
      <dsp:txXfrm>
        <a:off x="11180995" y="11148907"/>
        <a:ext cx="5586402" cy="1429574"/>
      </dsp:txXfrm>
    </dsp:sp>
    <dsp:sp modelId="{B5901160-2EED-4BC1-9CD9-CBC7C725C48E}">
      <dsp:nvSpPr>
        <dsp:cNvPr id="0" name=""/>
        <dsp:cNvSpPr/>
      </dsp:nvSpPr>
      <dsp:spPr>
        <a:xfrm rot="10800000">
          <a:off x="0" y="4735358"/>
          <a:ext cx="16775589" cy="4779751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ii). Task Binding Semantics</a:t>
          </a:r>
        </a:p>
      </dsp:txBody>
      <dsp:txXfrm rot="-10800000">
        <a:off x="0" y="4735358"/>
        <a:ext cx="16775589" cy="1677692"/>
      </dsp:txXfrm>
    </dsp:sp>
    <dsp:sp modelId="{9CE9A027-D096-4DBA-9F41-ACB337DEDCA0}">
      <dsp:nvSpPr>
        <dsp:cNvPr id="0" name=""/>
        <dsp:cNvSpPr/>
      </dsp:nvSpPr>
      <dsp:spPr>
        <a:xfrm>
          <a:off x="11822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Serialized function runner</a:t>
          </a:r>
        </a:p>
      </dsp:txBody>
      <dsp:txXfrm>
        <a:off x="11822" y="6440404"/>
        <a:ext cx="5586402" cy="1429145"/>
      </dsp:txXfrm>
    </dsp:sp>
    <dsp:sp modelId="{87C3872B-7E02-4085-B647-9CD9B06A0313}">
      <dsp:nvSpPr>
        <dsp:cNvPr id="0" name=""/>
        <dsp:cNvSpPr/>
      </dsp:nvSpPr>
      <dsp:spPr>
        <a:xfrm>
          <a:off x="5594593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Validates explicit binding semantics (early vs late)</a:t>
          </a:r>
        </a:p>
      </dsp:txBody>
      <dsp:txXfrm>
        <a:off x="5594593" y="6440404"/>
        <a:ext cx="5586402" cy="1429145"/>
      </dsp:txXfrm>
    </dsp:sp>
    <dsp:sp modelId="{6A9F14BE-80C0-4B02-B21C-6C233AACAF51}">
      <dsp:nvSpPr>
        <dsp:cNvPr id="0" name=""/>
        <dsp:cNvSpPr/>
      </dsp:nvSpPr>
      <dsp:spPr>
        <a:xfrm>
          <a:off x="11189186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Job environment               attached to tasks</a:t>
          </a:r>
        </a:p>
      </dsp:txBody>
      <dsp:txXfrm>
        <a:off x="11189186" y="6440404"/>
        <a:ext cx="5586402" cy="1429145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16775589" cy="4779751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i). Workflow Orchestration</a:t>
          </a:r>
        </a:p>
      </dsp:txBody>
      <dsp:txXfrm rot="-10800000">
        <a:off x="0" y="0"/>
        <a:ext cx="16775589" cy="1677692"/>
      </dsp:txXfrm>
    </dsp:sp>
    <dsp:sp modelId="{07763EBB-4274-4F86-A670-BA07EE7CCAD5}">
      <dsp:nvSpPr>
        <dsp:cNvPr id="0" name=""/>
        <dsp:cNvSpPr/>
      </dsp:nvSpPr>
      <dsp:spPr>
        <a:xfrm>
          <a:off x="3610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Bioinformatic workflows</a:t>
          </a:r>
        </a:p>
      </dsp:txBody>
      <dsp:txXfrm>
        <a:off x="3610" y="1701681"/>
        <a:ext cx="5586402" cy="1429145"/>
      </dsp:txXfrm>
    </dsp:sp>
    <dsp:sp modelId="{A5384461-3C55-409F-A76C-DC6C5CADCFE8}">
      <dsp:nvSpPr>
        <dsp:cNvPr id="0" name=""/>
        <dsp:cNvSpPr/>
      </dsp:nvSpPr>
      <dsp:spPr>
        <a:xfrm>
          <a:off x="5594593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Validates workflow orchestration across pilots</a:t>
          </a:r>
        </a:p>
      </dsp:txBody>
      <dsp:txXfrm>
        <a:off x="5594593" y="1701681"/>
        <a:ext cx="5586402" cy="1429145"/>
      </dsp:txXfrm>
    </dsp:sp>
    <dsp:sp modelId="{1CEB22B1-9A7E-4A91-AF0C-26B893E69FA6}">
      <dsp:nvSpPr>
        <dsp:cNvPr id="0" name=""/>
        <dsp:cNvSpPr/>
      </dsp:nvSpPr>
      <dsp:spPr>
        <a:xfrm>
          <a:off x="11189186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Operational across relational        &amp; non-relational databases</a:t>
          </a:r>
        </a:p>
      </dsp:txBody>
      <dsp:txXfrm>
        <a:off x="11189186" y="1701681"/>
        <a:ext cx="5586402" cy="14291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80036" y="2651323"/>
            <a:ext cx="22680216" cy="5640152"/>
          </a:xfrm>
        </p:spPr>
        <p:txBody>
          <a:bodyPr anchor="b"/>
          <a:lstStyle>
            <a:lvl1pPr algn="ctr">
              <a:defRPr sz="1417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0036" y="8508981"/>
            <a:ext cx="22680216" cy="3911355"/>
          </a:xfrm>
        </p:spPr>
        <p:txBody>
          <a:bodyPr/>
          <a:lstStyle>
            <a:lvl1pPr marL="0" indent="0" algn="ctr">
              <a:buNone/>
              <a:defRPr sz="5670"/>
            </a:lvl1pPr>
            <a:lvl2pPr marL="1080044" indent="0" algn="ctr">
              <a:buNone/>
              <a:defRPr sz="4725"/>
            </a:lvl2pPr>
            <a:lvl3pPr marL="2160087" indent="0" algn="ctr">
              <a:buNone/>
              <a:defRPr sz="4252"/>
            </a:lvl3pPr>
            <a:lvl4pPr marL="3240131" indent="0" algn="ctr">
              <a:buNone/>
              <a:defRPr sz="3780"/>
            </a:lvl4pPr>
            <a:lvl5pPr marL="4320174" indent="0" algn="ctr">
              <a:buNone/>
              <a:defRPr sz="3780"/>
            </a:lvl5pPr>
            <a:lvl6pPr marL="5400218" indent="0" algn="ctr">
              <a:buNone/>
              <a:defRPr sz="3780"/>
            </a:lvl6pPr>
            <a:lvl7pPr marL="6480261" indent="0" algn="ctr">
              <a:buNone/>
              <a:defRPr sz="3780"/>
            </a:lvl7pPr>
            <a:lvl8pPr marL="7560305" indent="0" algn="ctr">
              <a:buNone/>
              <a:defRPr sz="3780"/>
            </a:lvl8pPr>
            <a:lvl9pPr marL="8640348" indent="0" algn="ctr">
              <a:buNone/>
              <a:defRPr sz="37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19/11/2025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26889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19/11/2025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31120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3270" y="4038862"/>
            <a:ext cx="26082248" cy="6738931"/>
          </a:xfrm>
        </p:spPr>
        <p:txBody>
          <a:bodyPr anchor="b"/>
          <a:lstStyle>
            <a:lvl1pPr>
              <a:defRPr sz="1417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3270" y="10841545"/>
            <a:ext cx="26082248" cy="3543845"/>
          </a:xfrm>
        </p:spPr>
        <p:txBody>
          <a:bodyPr/>
          <a:lstStyle>
            <a:lvl1pPr marL="0" indent="0">
              <a:buNone/>
              <a:defRPr sz="5670">
                <a:solidFill>
                  <a:schemeClr val="tx1">
                    <a:tint val="82000"/>
                  </a:schemeClr>
                </a:solidFill>
              </a:defRPr>
            </a:lvl1pPr>
            <a:lvl2pPr marL="1080044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2pPr>
            <a:lvl3pPr marL="2160087" indent="0">
              <a:buNone/>
              <a:defRPr sz="4252">
                <a:solidFill>
                  <a:schemeClr val="tx1">
                    <a:tint val="82000"/>
                  </a:schemeClr>
                </a:solidFill>
              </a:defRPr>
            </a:lvl3pPr>
            <a:lvl4pPr marL="3240131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4pPr>
            <a:lvl5pPr marL="4320174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5pPr>
            <a:lvl6pPr marL="5400218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6pPr>
            <a:lvl7pPr marL="6480261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7pPr>
            <a:lvl8pPr marL="7560305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8pPr>
            <a:lvl9pPr marL="8640348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19/11/2025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07492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9020" y="4312617"/>
            <a:ext cx="1285212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09146" y="4312617"/>
            <a:ext cx="1285212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19/11/2025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65584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862524"/>
            <a:ext cx="26082248" cy="31313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2960" y="3971359"/>
            <a:ext cx="12793058" cy="1946301"/>
          </a:xfrm>
        </p:spPr>
        <p:txBody>
          <a:bodyPr anchor="b"/>
          <a:lstStyle>
            <a:lvl1pPr marL="0" indent="0">
              <a:buNone/>
              <a:defRPr sz="5670" b="1"/>
            </a:lvl1pPr>
            <a:lvl2pPr marL="1080044" indent="0">
              <a:buNone/>
              <a:defRPr sz="4725" b="1"/>
            </a:lvl2pPr>
            <a:lvl3pPr marL="2160087" indent="0">
              <a:buNone/>
              <a:defRPr sz="4252" b="1"/>
            </a:lvl3pPr>
            <a:lvl4pPr marL="3240131" indent="0">
              <a:buNone/>
              <a:defRPr sz="3780" b="1"/>
            </a:lvl4pPr>
            <a:lvl5pPr marL="4320174" indent="0">
              <a:buNone/>
              <a:defRPr sz="3780" b="1"/>
            </a:lvl5pPr>
            <a:lvl6pPr marL="5400218" indent="0">
              <a:buNone/>
              <a:defRPr sz="3780" b="1"/>
            </a:lvl6pPr>
            <a:lvl7pPr marL="6480261" indent="0">
              <a:buNone/>
              <a:defRPr sz="3780" b="1"/>
            </a:lvl7pPr>
            <a:lvl8pPr marL="7560305" indent="0">
              <a:buNone/>
              <a:defRPr sz="3780" b="1"/>
            </a:lvl8pPr>
            <a:lvl9pPr marL="8640348" indent="0">
              <a:buNone/>
              <a:defRPr sz="37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2960" y="5917660"/>
            <a:ext cx="12793058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09146" y="3971359"/>
            <a:ext cx="12856061" cy="1946301"/>
          </a:xfrm>
        </p:spPr>
        <p:txBody>
          <a:bodyPr anchor="b"/>
          <a:lstStyle>
            <a:lvl1pPr marL="0" indent="0">
              <a:buNone/>
              <a:defRPr sz="5670" b="1"/>
            </a:lvl1pPr>
            <a:lvl2pPr marL="1080044" indent="0">
              <a:buNone/>
              <a:defRPr sz="4725" b="1"/>
            </a:lvl2pPr>
            <a:lvl3pPr marL="2160087" indent="0">
              <a:buNone/>
              <a:defRPr sz="4252" b="1"/>
            </a:lvl3pPr>
            <a:lvl4pPr marL="3240131" indent="0">
              <a:buNone/>
              <a:defRPr sz="3780" b="1"/>
            </a:lvl4pPr>
            <a:lvl5pPr marL="4320174" indent="0">
              <a:buNone/>
              <a:defRPr sz="3780" b="1"/>
            </a:lvl5pPr>
            <a:lvl6pPr marL="5400218" indent="0">
              <a:buNone/>
              <a:defRPr sz="3780" b="1"/>
            </a:lvl6pPr>
            <a:lvl7pPr marL="6480261" indent="0">
              <a:buNone/>
              <a:defRPr sz="3780" b="1"/>
            </a:lvl7pPr>
            <a:lvl8pPr marL="7560305" indent="0">
              <a:buNone/>
              <a:defRPr sz="3780" b="1"/>
            </a:lvl8pPr>
            <a:lvl9pPr marL="8640348" indent="0">
              <a:buNone/>
              <a:defRPr sz="37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09146" y="5917660"/>
            <a:ext cx="12856061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19/11/2025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14479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19/11/2025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36411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19/11/2025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27468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60" y="1080029"/>
            <a:ext cx="9753279" cy="3780102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56061" y="2332564"/>
            <a:ext cx="15309146" cy="11512811"/>
          </a:xfrm>
        </p:spPr>
        <p:txBody>
          <a:bodyPr/>
          <a:lstStyle>
            <a:lvl1pPr>
              <a:defRPr sz="7559"/>
            </a:lvl1pPr>
            <a:lvl2pPr>
              <a:defRPr sz="6614"/>
            </a:lvl2pPr>
            <a:lvl3pPr>
              <a:defRPr sz="5670"/>
            </a:lvl3pPr>
            <a:lvl4pPr>
              <a:defRPr sz="4725"/>
            </a:lvl4pPr>
            <a:lvl5pPr>
              <a:defRPr sz="4725"/>
            </a:lvl5pPr>
            <a:lvl6pPr>
              <a:defRPr sz="4725"/>
            </a:lvl6pPr>
            <a:lvl7pPr>
              <a:defRPr sz="4725"/>
            </a:lvl7pPr>
            <a:lvl8pPr>
              <a:defRPr sz="4725"/>
            </a:lvl8pPr>
            <a:lvl9pPr>
              <a:defRPr sz="47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60" y="4860131"/>
            <a:ext cx="9753279" cy="9003995"/>
          </a:xfrm>
        </p:spPr>
        <p:txBody>
          <a:bodyPr/>
          <a:lstStyle>
            <a:lvl1pPr marL="0" indent="0">
              <a:buNone/>
              <a:defRPr sz="3780"/>
            </a:lvl1pPr>
            <a:lvl2pPr marL="1080044" indent="0">
              <a:buNone/>
              <a:defRPr sz="3307"/>
            </a:lvl2pPr>
            <a:lvl3pPr marL="2160087" indent="0">
              <a:buNone/>
              <a:defRPr sz="2835"/>
            </a:lvl3pPr>
            <a:lvl4pPr marL="3240131" indent="0">
              <a:buNone/>
              <a:defRPr sz="2362"/>
            </a:lvl4pPr>
            <a:lvl5pPr marL="4320174" indent="0">
              <a:buNone/>
              <a:defRPr sz="2362"/>
            </a:lvl5pPr>
            <a:lvl6pPr marL="5400218" indent="0">
              <a:buNone/>
              <a:defRPr sz="2362"/>
            </a:lvl6pPr>
            <a:lvl7pPr marL="6480261" indent="0">
              <a:buNone/>
              <a:defRPr sz="2362"/>
            </a:lvl7pPr>
            <a:lvl8pPr marL="7560305" indent="0">
              <a:buNone/>
              <a:defRPr sz="2362"/>
            </a:lvl8pPr>
            <a:lvl9pPr marL="8640348" indent="0">
              <a:buNone/>
              <a:defRPr sz="236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19/11/2025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62085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60" y="1080029"/>
            <a:ext cx="9753279" cy="3780102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56061" y="2332564"/>
            <a:ext cx="15309146" cy="11512811"/>
          </a:xfrm>
        </p:spPr>
        <p:txBody>
          <a:bodyPr anchor="t"/>
          <a:lstStyle>
            <a:lvl1pPr marL="0" indent="0">
              <a:buNone/>
              <a:defRPr sz="7559"/>
            </a:lvl1pPr>
            <a:lvl2pPr marL="1080044" indent="0">
              <a:buNone/>
              <a:defRPr sz="6614"/>
            </a:lvl2pPr>
            <a:lvl3pPr marL="2160087" indent="0">
              <a:buNone/>
              <a:defRPr sz="5670"/>
            </a:lvl3pPr>
            <a:lvl4pPr marL="3240131" indent="0">
              <a:buNone/>
              <a:defRPr sz="4725"/>
            </a:lvl4pPr>
            <a:lvl5pPr marL="4320174" indent="0">
              <a:buNone/>
              <a:defRPr sz="4725"/>
            </a:lvl5pPr>
            <a:lvl6pPr marL="5400218" indent="0">
              <a:buNone/>
              <a:defRPr sz="4725"/>
            </a:lvl6pPr>
            <a:lvl7pPr marL="6480261" indent="0">
              <a:buNone/>
              <a:defRPr sz="4725"/>
            </a:lvl7pPr>
            <a:lvl8pPr marL="7560305" indent="0">
              <a:buNone/>
              <a:defRPr sz="4725"/>
            </a:lvl8pPr>
            <a:lvl9pPr marL="8640348" indent="0">
              <a:buNone/>
              <a:defRPr sz="472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60" y="4860131"/>
            <a:ext cx="9753279" cy="9003995"/>
          </a:xfrm>
        </p:spPr>
        <p:txBody>
          <a:bodyPr/>
          <a:lstStyle>
            <a:lvl1pPr marL="0" indent="0">
              <a:buNone/>
              <a:defRPr sz="3780"/>
            </a:lvl1pPr>
            <a:lvl2pPr marL="1080044" indent="0">
              <a:buNone/>
              <a:defRPr sz="3307"/>
            </a:lvl2pPr>
            <a:lvl3pPr marL="2160087" indent="0">
              <a:buNone/>
              <a:defRPr sz="2835"/>
            </a:lvl3pPr>
            <a:lvl4pPr marL="3240131" indent="0">
              <a:buNone/>
              <a:defRPr sz="2362"/>
            </a:lvl4pPr>
            <a:lvl5pPr marL="4320174" indent="0">
              <a:buNone/>
              <a:defRPr sz="2362"/>
            </a:lvl5pPr>
            <a:lvl6pPr marL="5400218" indent="0">
              <a:buNone/>
              <a:defRPr sz="2362"/>
            </a:lvl6pPr>
            <a:lvl7pPr marL="6480261" indent="0">
              <a:buNone/>
              <a:defRPr sz="2362"/>
            </a:lvl7pPr>
            <a:lvl8pPr marL="7560305" indent="0">
              <a:buNone/>
              <a:defRPr sz="2362"/>
            </a:lvl8pPr>
            <a:lvl9pPr marL="8640348" indent="0">
              <a:buNone/>
              <a:defRPr sz="236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19/11/2025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91661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19/11/2025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71210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40706" y="862524"/>
            <a:ext cx="6520562" cy="137291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9020" y="862524"/>
            <a:ext cx="19183683" cy="137291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19/11/2025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22365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9020" y="862524"/>
            <a:ext cx="26082248" cy="3131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020" y="4312617"/>
            <a:ext cx="26082248" cy="102790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9020" y="15015407"/>
            <a:ext cx="6804065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19/11/2025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17096" y="15015407"/>
            <a:ext cx="10206097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57203" y="15015407"/>
            <a:ext cx="6804065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68879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2160087" rtl="0" eaLnBrk="1" latinLnBrk="0" hangingPunct="1">
        <a:lnSpc>
          <a:spcPct val="90000"/>
        </a:lnSpc>
        <a:spcBef>
          <a:spcPct val="0"/>
        </a:spcBef>
        <a:buNone/>
        <a:defRPr sz="103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0022" indent="-540022" algn="l" defTabSz="2160087" rtl="0" eaLnBrk="1" latinLnBrk="0" hangingPunct="1">
        <a:lnSpc>
          <a:spcPct val="90000"/>
        </a:lnSpc>
        <a:spcBef>
          <a:spcPts val="2362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1pPr>
      <a:lvl2pPr marL="1620065" indent="-540022" algn="l" defTabSz="2160087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5670" kern="1200">
          <a:solidFill>
            <a:schemeClr val="tx1"/>
          </a:solidFill>
          <a:latin typeface="+mn-lt"/>
          <a:ea typeface="+mn-ea"/>
          <a:cs typeface="+mn-cs"/>
        </a:defRPr>
      </a:lvl2pPr>
      <a:lvl3pPr marL="2700109" indent="-540022" algn="l" defTabSz="2160087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3pPr>
      <a:lvl4pPr marL="3780152" indent="-540022" algn="l" defTabSz="2160087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860196" indent="-540022" algn="l" defTabSz="2160087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940240" indent="-540022" algn="l" defTabSz="2160087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7020283" indent="-540022" algn="l" defTabSz="2160087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8100327" indent="-540022" algn="l" defTabSz="2160087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9180370" indent="-540022" algn="l" defTabSz="2160087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1pPr>
      <a:lvl2pPr marL="1080044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2pPr>
      <a:lvl3pPr marL="2160087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3pPr>
      <a:lvl4pPr marL="3240131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320174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400218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6480261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7560305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8640348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426BC-1520-2BF1-B7B3-52FCEB9A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18C-DBE3-415F-7E83-983D6F2F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2132" y="1313313"/>
            <a:ext cx="19380200" cy="11288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High-Level Layered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8AD5DC9-A2B0-E248-2339-42B3ED605801}"/>
              </a:ext>
            </a:extLst>
          </p:cNvPr>
          <p:cNvSpPr/>
          <p:nvPr/>
        </p:nvSpPr>
        <p:spPr>
          <a:xfrm>
            <a:off x="8233094" y="7593261"/>
            <a:ext cx="13370560" cy="2316480"/>
          </a:xfrm>
          <a:prstGeom prst="roundRect">
            <a:avLst/>
          </a:prstGeom>
          <a:solidFill>
            <a:srgbClr val="800020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Orchestration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TaskTide DB Coordinated Clients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Monitoring, Workflow Deployment, Binding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0D624A0-53B8-21B1-C12C-899AF45DC6E2}"/>
              </a:ext>
            </a:extLst>
          </p:cNvPr>
          <p:cNvSpPr/>
          <p:nvPr/>
        </p:nvSpPr>
        <p:spPr>
          <a:xfrm>
            <a:off x="8222933" y="11403261"/>
            <a:ext cx="13370560" cy="2316480"/>
          </a:xfrm>
          <a:prstGeom prst="roundRect">
            <a:avLst/>
          </a:prstGeom>
          <a:solidFill>
            <a:srgbClr val="3B3B98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Infrastructure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Schedulers &amp; Provisioners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(SLURM, Hadoop, </a:t>
            </a:r>
            <a:r>
              <a:rPr lang="en-IE" sz="3200" b="1" i="1" dirty="0" err="1">
                <a:solidFill>
                  <a:schemeClr val="bg1"/>
                </a:solidFill>
              </a:rPr>
              <a:t>gLite</a:t>
            </a:r>
            <a:r>
              <a:rPr lang="en-IE" sz="3200" b="1" i="1" dirty="0">
                <a:solidFill>
                  <a:schemeClr val="bg1"/>
                </a:solidFill>
              </a:rPr>
              <a:t>, Kubernetes)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7F0153C-F87B-D4B9-028C-456E925B336A}"/>
              </a:ext>
            </a:extLst>
          </p:cNvPr>
          <p:cNvSpPr/>
          <p:nvPr/>
        </p:nvSpPr>
        <p:spPr>
          <a:xfrm>
            <a:off x="8233094" y="3691820"/>
            <a:ext cx="13370560" cy="2316480"/>
          </a:xfrm>
          <a:prstGeom prst="roundRect">
            <a:avLst/>
          </a:prstGeom>
          <a:solidFill>
            <a:srgbClr val="2A2A72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Data Application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Domain Specific Workflow Development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(ETL, AI, Spark)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3433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73E130C7-F43E-218E-CFA0-2E472A988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30662" y="5771452"/>
            <a:ext cx="3585819" cy="2254948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3B2EDDBA-81FB-2174-1909-4135281C0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952" y="6145321"/>
            <a:ext cx="3585454" cy="198268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CDAD23B-55A5-E907-1F02-B4E40AB99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3915" y="2325720"/>
            <a:ext cx="4115234" cy="2139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536A531-ACB6-9D4D-412A-8B43D7776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51018" y="542940"/>
            <a:ext cx="2435749" cy="1567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lurm Workload Manager - Wikipedia">
            <a:extLst>
              <a:ext uri="{FF2B5EF4-FFF2-40B4-BE49-F238E27FC236}">
                <a16:creationId xmlns:a16="http://schemas.microsoft.com/office/drawing/2014/main" id="{B310FE77-77EC-EC3C-705C-C79EAD29B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4665" y="11067707"/>
            <a:ext cx="3908804" cy="3579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adoop Consulting and Support Services 🐘">
            <a:extLst>
              <a:ext uri="{FF2B5EF4-FFF2-40B4-BE49-F238E27FC236}">
                <a16:creationId xmlns:a16="http://schemas.microsoft.com/office/drawing/2014/main" id="{CF53062D-BC41-1A84-6CCE-94958EE1D6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85840" y="12792478"/>
            <a:ext cx="4872885" cy="2789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Kubernetes Logo and Wordmark Sticker ...">
            <a:extLst>
              <a:ext uri="{FF2B5EF4-FFF2-40B4-BE49-F238E27FC236}">
                <a16:creationId xmlns:a16="http://schemas.microsoft.com/office/drawing/2014/main" id="{15AB4257-9B6F-5A87-7CEA-CC7E2C014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91501" y="11093020"/>
            <a:ext cx="3371614" cy="3371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ython Logo PNG Vector (SVG) Free Download">
            <a:extLst>
              <a:ext uri="{FF2B5EF4-FFF2-40B4-BE49-F238E27FC236}">
                <a16:creationId xmlns:a16="http://schemas.microsoft.com/office/drawing/2014/main" id="{62B89B67-4639-4806-8F38-BF34A52773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033" y="825421"/>
            <a:ext cx="3227499" cy="3227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815DD6-CF85-CA76-C8C9-BE2CB88C0BC0}"/>
              </a:ext>
            </a:extLst>
          </p:cNvPr>
          <p:cNvSpPr/>
          <p:nvPr/>
        </p:nvSpPr>
        <p:spPr>
          <a:xfrm>
            <a:off x="8172133" y="243840"/>
            <a:ext cx="15544800" cy="4470400"/>
          </a:xfrm>
          <a:prstGeom prst="roundRect">
            <a:avLst/>
          </a:prstGeom>
          <a:noFill/>
          <a:ln w="76200">
            <a:solidFill>
              <a:srgbClr val="2A2A7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361AE9-7B9B-9BA8-B967-A09704AB0BCC}"/>
              </a:ext>
            </a:extLst>
          </p:cNvPr>
          <p:cNvSpPr/>
          <p:nvPr/>
        </p:nvSpPr>
        <p:spPr>
          <a:xfrm>
            <a:off x="8202614" y="5207856"/>
            <a:ext cx="15544800" cy="4909804"/>
          </a:xfrm>
          <a:prstGeom prst="roundRect">
            <a:avLst/>
          </a:prstGeom>
          <a:noFill/>
          <a:ln w="76200">
            <a:solidFill>
              <a:srgbClr val="80002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E4D2371-C54A-9C5B-B216-E076192FB328}"/>
              </a:ext>
            </a:extLst>
          </p:cNvPr>
          <p:cNvSpPr/>
          <p:nvPr/>
        </p:nvSpPr>
        <p:spPr>
          <a:xfrm>
            <a:off x="8233093" y="10586721"/>
            <a:ext cx="15544800" cy="5332300"/>
          </a:xfrm>
          <a:prstGeom prst="roundRect">
            <a:avLst/>
          </a:prstGeom>
          <a:noFill/>
          <a:ln w="76200">
            <a:solidFill>
              <a:srgbClr val="3B3B9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46" name="Picture 22" descr="R Meets Hardware | R-bloggers">
            <a:extLst>
              <a:ext uri="{FF2B5EF4-FFF2-40B4-BE49-F238E27FC236}">
                <a16:creationId xmlns:a16="http://schemas.microsoft.com/office/drawing/2014/main" id="{A71FA59A-7421-FA14-8B69-A08ECC946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38221" y="679142"/>
            <a:ext cx="3478254" cy="347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82E426D-90DF-9E70-8E8B-8220C5D9CE9B}"/>
              </a:ext>
            </a:extLst>
          </p:cNvPr>
          <p:cNvSpPr txBox="1"/>
          <p:nvPr/>
        </p:nvSpPr>
        <p:spPr>
          <a:xfrm rot="16200000">
            <a:off x="5387581" y="168918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2A2A72"/>
                </a:solidFill>
              </a:rPr>
              <a:t>Data Application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024C1-7776-2129-C309-C8FF5AE68EEE}"/>
              </a:ext>
            </a:extLst>
          </p:cNvPr>
          <p:cNvSpPr txBox="1"/>
          <p:nvPr/>
        </p:nvSpPr>
        <p:spPr>
          <a:xfrm rot="16200000">
            <a:off x="5397740" y="696222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800020"/>
                </a:solidFill>
              </a:rPr>
              <a:t>Orchestration    Layer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442966-5C09-8D5B-777A-DC9B15E129F1}"/>
              </a:ext>
            </a:extLst>
          </p:cNvPr>
          <p:cNvSpPr txBox="1"/>
          <p:nvPr/>
        </p:nvSpPr>
        <p:spPr>
          <a:xfrm rot="16200000">
            <a:off x="5509500" y="1262134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3B3B98"/>
                </a:solidFill>
              </a:rPr>
              <a:t>Infrastructure    Layer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0CB8691-6939-E709-3301-C6197E8637E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582994" y="5501394"/>
            <a:ext cx="4877076" cy="435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C593204-5C51-61CB-9B93-20CA3CC9130B}"/>
              </a:ext>
            </a:extLst>
          </p:cNvPr>
          <p:cNvSpPr/>
          <p:nvPr/>
        </p:nvSpPr>
        <p:spPr>
          <a:xfrm>
            <a:off x="12795659" y="3248054"/>
            <a:ext cx="4303049" cy="4136823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4000" b="1" i="1" dirty="0">
              <a:solidFill>
                <a:schemeClr val="bg1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A483FD1-2ED0-F4AB-A3F3-2BA1245E818F}"/>
              </a:ext>
            </a:extLst>
          </p:cNvPr>
          <p:cNvGrpSpPr/>
          <p:nvPr/>
        </p:nvGrpSpPr>
        <p:grpSpPr>
          <a:xfrm>
            <a:off x="6377204" y="10890064"/>
            <a:ext cx="6156256" cy="4800795"/>
            <a:chOff x="225113" y="9141619"/>
            <a:chExt cx="5730786" cy="428154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B1E6658-9A50-53B7-522A-B91C6DE4A836}"/>
                </a:ext>
              </a:extLst>
            </p:cNvPr>
            <p:cNvSpPr/>
            <p:nvPr/>
          </p:nvSpPr>
          <p:spPr>
            <a:xfrm>
              <a:off x="990600" y="9141619"/>
              <a:ext cx="4114801" cy="3578116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4000" b="1" i="1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53DC12C-8069-DABB-86FA-74E7D28D8B99}"/>
                </a:ext>
              </a:extLst>
            </p:cNvPr>
            <p:cNvSpPr txBox="1"/>
            <p:nvPr/>
          </p:nvSpPr>
          <p:spPr>
            <a:xfrm>
              <a:off x="225113" y="12846735"/>
              <a:ext cx="5730786" cy="5764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4A4A69"/>
                  </a:solidFill>
                </a:rPr>
                <a:t>TaskTide Manager Client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81669E7-28FA-74AB-AAF2-D15F49FDBFDA}"/>
              </a:ext>
            </a:extLst>
          </p:cNvPr>
          <p:cNvSpPr txBox="1"/>
          <p:nvPr/>
        </p:nvSpPr>
        <p:spPr>
          <a:xfrm>
            <a:off x="12039255" y="2580459"/>
            <a:ext cx="57307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600" b="1" dirty="0">
                <a:solidFill>
                  <a:srgbClr val="400020"/>
                </a:solidFill>
              </a:rPr>
              <a:t>TaskTide Repository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C64E6B9-19FD-0A28-C46A-500411995680}"/>
              </a:ext>
            </a:extLst>
          </p:cNvPr>
          <p:cNvGrpSpPr/>
          <p:nvPr/>
        </p:nvGrpSpPr>
        <p:grpSpPr>
          <a:xfrm>
            <a:off x="17646323" y="10816938"/>
            <a:ext cx="6156256" cy="4881483"/>
            <a:chOff x="11591831" y="9246292"/>
            <a:chExt cx="6156256" cy="488148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B4C2370-9AAF-48EF-E4FD-131500998CB2}"/>
                </a:ext>
              </a:extLst>
            </p:cNvPr>
            <p:cNvGrpSpPr/>
            <p:nvPr/>
          </p:nvGrpSpPr>
          <p:grpSpPr>
            <a:xfrm>
              <a:off x="12475012" y="9246292"/>
              <a:ext cx="4432254" cy="4040981"/>
              <a:chOff x="11866610" y="9319419"/>
              <a:chExt cx="4432254" cy="4040981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208A7A84-1774-C912-AB85-F801B08D27F6}"/>
                  </a:ext>
                </a:extLst>
              </p:cNvPr>
              <p:cNvSpPr/>
              <p:nvPr/>
            </p:nvSpPr>
            <p:spPr>
              <a:xfrm>
                <a:off x="11866610" y="9319419"/>
                <a:ext cx="4432254" cy="4040981"/>
              </a:xfrm>
              <a:prstGeom prst="roundRect">
                <a:avLst/>
              </a:prstGeom>
              <a:solidFill>
                <a:schemeClr val="bg1"/>
              </a:solidFill>
              <a:ln w="762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4000" b="1" i="1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29" name="Graphic 28" descr="Server with solid fill">
                <a:extLst>
                  <a:ext uri="{FF2B5EF4-FFF2-40B4-BE49-F238E27FC236}">
                    <a16:creationId xmlns:a16="http://schemas.microsoft.com/office/drawing/2014/main" id="{8316283D-7B25-8065-9774-0C00AB121A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372602" y="9457606"/>
                <a:ext cx="3420270" cy="3420270"/>
              </a:xfrm>
              <a:prstGeom prst="rect">
                <a:avLst/>
              </a:prstGeom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</p:pic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C0BC1BF-385F-CF2F-0C38-6F357B388D21}"/>
                </a:ext>
              </a:extLst>
            </p:cNvPr>
            <p:cNvSpPr txBox="1"/>
            <p:nvPr/>
          </p:nvSpPr>
          <p:spPr>
            <a:xfrm>
              <a:off x="11591831" y="13481443"/>
              <a:ext cx="615625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2A2A72"/>
                  </a:solidFill>
                </a:rPr>
                <a:t>TaskTide Engine Client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F9FCBA-4E1C-7234-C161-8A6523B5DD34}"/>
              </a:ext>
            </a:extLst>
          </p:cNvPr>
          <p:cNvGrpSpPr/>
          <p:nvPr/>
        </p:nvGrpSpPr>
        <p:grpSpPr>
          <a:xfrm>
            <a:off x="7816675" y="11312831"/>
            <a:ext cx="3161011" cy="3215018"/>
            <a:chOff x="1594225" y="9742189"/>
            <a:chExt cx="3161011" cy="3215018"/>
          </a:xfrm>
          <a:effectLst/>
        </p:grpSpPr>
        <p:pic>
          <p:nvPicPr>
            <p:cNvPr id="27" name="Graphic 26" descr="Users with solid fill">
              <a:extLst>
                <a:ext uri="{FF2B5EF4-FFF2-40B4-BE49-F238E27FC236}">
                  <a16:creationId xmlns:a16="http://schemas.microsoft.com/office/drawing/2014/main" id="{C595667A-372A-C4AB-5F8D-E34128647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94225" y="9742189"/>
              <a:ext cx="3161011" cy="3161011"/>
            </a:xfrm>
            <a:prstGeom prst="rect">
              <a:avLst/>
            </a:prstGeom>
            <a:ln>
              <a:noFill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82D307F-6BEB-7D2A-6BA7-2370D2763BDE}"/>
                </a:ext>
              </a:extLst>
            </p:cNvPr>
            <p:cNvSpPr txBox="1"/>
            <p:nvPr/>
          </p:nvSpPr>
          <p:spPr>
            <a:xfrm>
              <a:off x="2044096" y="12310876"/>
              <a:ext cx="2229323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4A4A69"/>
                  </a:solidFill>
                </a:rPr>
                <a:t>Users</a:t>
              </a:r>
            </a:p>
          </p:txBody>
        </p: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7CFD93B-E941-33F7-5042-967656AE3163}"/>
              </a:ext>
            </a:extLst>
          </p:cNvPr>
          <p:cNvCxnSpPr>
            <a:cxnSpLocks/>
          </p:cNvCxnSpPr>
          <p:nvPr/>
        </p:nvCxnSpPr>
        <p:spPr>
          <a:xfrm flipV="1">
            <a:off x="9719230" y="7430272"/>
            <a:ext cx="2997323" cy="31397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101EE2E-D242-5A1D-0B22-F09ED2102BB8}"/>
              </a:ext>
            </a:extLst>
          </p:cNvPr>
          <p:cNvCxnSpPr>
            <a:cxnSpLocks/>
          </p:cNvCxnSpPr>
          <p:nvPr/>
        </p:nvCxnSpPr>
        <p:spPr>
          <a:xfrm flipH="1">
            <a:off x="9898712" y="7635549"/>
            <a:ext cx="2960525" cy="311211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64FC3B-2231-AB00-0114-7D3B3E4D57AC}"/>
              </a:ext>
            </a:extLst>
          </p:cNvPr>
          <p:cNvSpPr txBox="1"/>
          <p:nvPr/>
        </p:nvSpPr>
        <p:spPr>
          <a:xfrm rot="18828662">
            <a:off x="9451298" y="8582309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Register Tasks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2CC0E93-2FC7-E32C-8A01-598038EDD30E}"/>
              </a:ext>
            </a:extLst>
          </p:cNvPr>
          <p:cNvSpPr txBox="1"/>
          <p:nvPr/>
        </p:nvSpPr>
        <p:spPr>
          <a:xfrm rot="18828662">
            <a:off x="10099241" y="9005230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Query Tasks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870012A-93A9-A141-B3C1-9A921F3801D6}"/>
              </a:ext>
            </a:extLst>
          </p:cNvPr>
          <p:cNvCxnSpPr>
            <a:cxnSpLocks/>
          </p:cNvCxnSpPr>
          <p:nvPr/>
        </p:nvCxnSpPr>
        <p:spPr>
          <a:xfrm flipH="1" flipV="1">
            <a:off x="16913599" y="7598222"/>
            <a:ext cx="2719222" cy="307746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BA893D8-ADC2-1C69-849B-ACBFE36CE7F6}"/>
              </a:ext>
            </a:extLst>
          </p:cNvPr>
          <p:cNvSpPr txBox="1"/>
          <p:nvPr/>
        </p:nvSpPr>
        <p:spPr>
          <a:xfrm rot="2935289">
            <a:off x="17059215" y="8519780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Consume Tasks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9934AA2-464E-7C46-F454-9C4F19C44E45}"/>
              </a:ext>
            </a:extLst>
          </p:cNvPr>
          <p:cNvCxnSpPr>
            <a:cxnSpLocks/>
          </p:cNvCxnSpPr>
          <p:nvPr/>
        </p:nvCxnSpPr>
        <p:spPr>
          <a:xfrm>
            <a:off x="17173351" y="7542244"/>
            <a:ext cx="2772793" cy="313899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D550E53-A724-EDEC-286E-FCB879197398}"/>
              </a:ext>
            </a:extLst>
          </p:cNvPr>
          <p:cNvSpPr txBox="1"/>
          <p:nvPr/>
        </p:nvSpPr>
        <p:spPr>
          <a:xfrm rot="2912262">
            <a:off x="16379015" y="9061958"/>
            <a:ext cx="34233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Update Task States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2488A-2419-8503-18D0-7ACC535DDBA1}"/>
              </a:ext>
            </a:extLst>
          </p:cNvPr>
          <p:cNvSpPr txBox="1"/>
          <p:nvPr/>
        </p:nvSpPr>
        <p:spPr>
          <a:xfrm>
            <a:off x="19902603" y="14122198"/>
            <a:ext cx="18024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dirty="0">
                <a:solidFill>
                  <a:srgbClr val="2A2A72"/>
                </a:solidFill>
              </a:rPr>
              <a:t>Server </a:t>
            </a:r>
            <a:endParaRPr lang="en-IE" sz="3600" dirty="0"/>
          </a:p>
        </p:txBody>
      </p:sp>
      <p:sp>
        <p:nvSpPr>
          <p:cNvPr id="77" name="Title 1">
            <a:extLst>
              <a:ext uri="{FF2B5EF4-FFF2-40B4-BE49-F238E27FC236}">
                <a16:creationId xmlns:a16="http://schemas.microsoft.com/office/drawing/2014/main" id="{EF357E12-E983-D424-5A83-D4123F56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2733" y="533401"/>
            <a:ext cx="17189847" cy="1665633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TaskTide Operating Principle</a:t>
            </a:r>
          </a:p>
        </p:txBody>
      </p:sp>
      <p:pic>
        <p:nvPicPr>
          <p:cNvPr id="8" name="Graphic 7" descr="Database with solid fill">
            <a:extLst>
              <a:ext uri="{FF2B5EF4-FFF2-40B4-BE49-F238E27FC236}">
                <a16:creationId xmlns:a16="http://schemas.microsoft.com/office/drawing/2014/main" id="{ED8D8A1C-43A2-F999-B330-E1B3A6D456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978692" y="3406574"/>
            <a:ext cx="3893439" cy="34777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57A4EB6-B6C0-EE2C-43D3-54A695091B52}"/>
              </a:ext>
            </a:extLst>
          </p:cNvPr>
          <p:cNvSpPr txBox="1"/>
          <p:nvPr/>
        </p:nvSpPr>
        <p:spPr>
          <a:xfrm>
            <a:off x="13586368" y="6626843"/>
            <a:ext cx="27660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600" b="1" dirty="0">
                <a:solidFill>
                  <a:srgbClr val="400020"/>
                </a:solidFill>
              </a:rPr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E12E96-8C5E-A419-F945-40DB3DCD2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8679781"/>
              </p:ext>
            </p:extLst>
          </p:nvPr>
        </p:nvGraphicFramePr>
        <p:xfrm>
          <a:off x="124849" y="2472659"/>
          <a:ext cx="29988439" cy="11015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60335">
                  <a:extLst>
                    <a:ext uri="{9D8B030D-6E8A-4147-A177-3AD203B41FA5}">
                      <a16:colId xmlns:a16="http://schemas.microsoft.com/office/drawing/2014/main" val="1828399440"/>
                    </a:ext>
                  </a:extLst>
                </a:gridCol>
                <a:gridCol w="7416990">
                  <a:extLst>
                    <a:ext uri="{9D8B030D-6E8A-4147-A177-3AD203B41FA5}">
                      <a16:colId xmlns:a16="http://schemas.microsoft.com/office/drawing/2014/main" val="2244831700"/>
                    </a:ext>
                  </a:extLst>
                </a:gridCol>
                <a:gridCol w="8126639">
                  <a:extLst>
                    <a:ext uri="{9D8B030D-6E8A-4147-A177-3AD203B41FA5}">
                      <a16:colId xmlns:a16="http://schemas.microsoft.com/office/drawing/2014/main" val="3426773098"/>
                    </a:ext>
                  </a:extLst>
                </a:gridCol>
                <a:gridCol w="8584475">
                  <a:extLst>
                    <a:ext uri="{9D8B030D-6E8A-4147-A177-3AD203B41FA5}">
                      <a16:colId xmlns:a16="http://schemas.microsoft.com/office/drawing/2014/main" val="2953560966"/>
                    </a:ext>
                  </a:extLst>
                </a:gridCol>
              </a:tblGrid>
              <a:tr h="1897062">
                <a:tc gridSpan="4">
                  <a:txBody>
                    <a:bodyPr/>
                    <a:lstStyle/>
                    <a:p>
                      <a:pPr algn="ctr"/>
                      <a:r>
                        <a:rPr lang="en-IE" sz="8000" dirty="0"/>
                        <a:t>TaskTide Feature Summary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161320"/>
                  </a:ext>
                </a:extLst>
              </a:tr>
              <a:tr h="1595650"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Component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Purpose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Contributions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Operational Value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3659651"/>
                  </a:ext>
                </a:extLst>
              </a:tr>
              <a:tr h="2365588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Core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 Defines TaskTide data model,</a:t>
                      </a:r>
                    </a:p>
                    <a:p>
                      <a:pPr lvl="0" algn="ctr"/>
                      <a:r>
                        <a:rPr lang="en-IE" sz="3600" dirty="0"/>
                        <a:t>and CRUD operations via the Manager Command interface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Backend agnostic data model; Maps workflow &amp; execution contexts; SQL/NoSQL/File DB Support.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Workflow reproducibility &amp; portability; Heterogenous deployment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310343"/>
                  </a:ext>
                </a:extLst>
              </a:tr>
              <a:tr h="2768600">
                <a:tc>
                  <a:txBody>
                    <a:bodyPr/>
                    <a:lstStyle/>
                    <a:p>
                      <a:pPr algn="ctr"/>
                      <a:r>
                        <a:rPr lang="en-IE" sz="5600" b="1"/>
                        <a:t>Engine Library</a:t>
                      </a:r>
                      <a:endParaRPr lang="en-IE" sz="56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modularized components for consuming registered tasks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Producer-consumer execution;</a:t>
                      </a:r>
                    </a:p>
                    <a:p>
                      <a:pPr lvl="0" algn="ctr"/>
                      <a:r>
                        <a:rPr lang="en-IE" sz="3600" dirty="0"/>
                        <a:t>Pilot-Job semantics; Multi-Level parallelism; Real-time introspection.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Scalable ETL deployment; Late &amp; early task binding semantics; Adaptive workflows; Fault tolerance.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5916412"/>
                  </a:ext>
                </a:extLst>
              </a:tr>
              <a:tr h="2388988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Client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Exposes Manager, and Engine functionality through a single interface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client; Configurable; Extensible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Low-friction adoption; Automation; Multi disciplinary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0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7654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7073" y="75134"/>
            <a:ext cx="6537343" cy="5813137"/>
          </a:xfrm>
          <a:prstGeom prst="rect">
            <a:avLst/>
          </a:prstGeom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F285AACC-9EB5-63E5-DE3D-1984E3D2EA53}"/>
              </a:ext>
            </a:extLst>
          </p:cNvPr>
          <p:cNvGrpSpPr/>
          <p:nvPr/>
        </p:nvGrpSpPr>
        <p:grpSpPr>
          <a:xfrm>
            <a:off x="6253710" y="3173631"/>
            <a:ext cx="17669120" cy="12166530"/>
            <a:chOff x="133892" y="2759406"/>
            <a:chExt cx="17669120" cy="12166530"/>
          </a:xfrm>
        </p:grpSpPr>
        <p:pic>
          <p:nvPicPr>
            <p:cNvPr id="25" name="Picture 24" descr="A group of logos on a white background&#10;&#10;AI-generated content may be incorrect.">
              <a:extLst>
                <a:ext uri="{FF2B5EF4-FFF2-40B4-BE49-F238E27FC236}">
                  <a16:creationId xmlns:a16="http://schemas.microsoft.com/office/drawing/2014/main" id="{ABB203D0-3D97-1EDE-DC6D-B67CAA1D37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030" y="11817662"/>
              <a:ext cx="5116008" cy="3108274"/>
            </a:xfrm>
            <a:prstGeom prst="rect">
              <a:avLst/>
            </a:prstGeom>
          </p:spPr>
        </p:pic>
        <p:sp>
          <p:nvSpPr>
            <p:cNvPr id="7" name="Flowchart: Alternate Process 6">
              <a:extLst>
                <a:ext uri="{FF2B5EF4-FFF2-40B4-BE49-F238E27FC236}">
                  <a16:creationId xmlns:a16="http://schemas.microsoft.com/office/drawing/2014/main" id="{6D46A4F6-A6E6-EEDD-9DAA-C85003898CD6}"/>
                </a:ext>
              </a:extLst>
            </p:cNvPr>
            <p:cNvSpPr/>
            <p:nvPr/>
          </p:nvSpPr>
          <p:spPr>
            <a:xfrm>
              <a:off x="3853559" y="2759406"/>
              <a:ext cx="5147728" cy="979113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 Client</a:t>
              </a:r>
            </a:p>
          </p:txBody>
        </p:sp>
        <p:sp>
          <p:nvSpPr>
            <p:cNvPr id="8" name="Flowchart: Alternate Process 7">
              <a:extLst>
                <a:ext uri="{FF2B5EF4-FFF2-40B4-BE49-F238E27FC236}">
                  <a16:creationId xmlns:a16="http://schemas.microsoft.com/office/drawing/2014/main" id="{483EFC43-8D08-EDDA-C48D-B19EF8145547}"/>
                </a:ext>
              </a:extLst>
            </p:cNvPr>
            <p:cNvSpPr/>
            <p:nvPr/>
          </p:nvSpPr>
          <p:spPr>
            <a:xfrm>
              <a:off x="1156998" y="4666373"/>
              <a:ext cx="380688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ManagerClient</a:t>
              </a:r>
              <a:endParaRPr lang="en-IE" sz="3600" b="1" dirty="0"/>
            </a:p>
          </p:txBody>
        </p:sp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BF743EF5-BB08-F701-6DF6-8EA8AAB63398}"/>
                </a:ext>
              </a:extLst>
            </p:cNvPr>
            <p:cNvSpPr/>
            <p:nvPr/>
          </p:nvSpPr>
          <p:spPr>
            <a:xfrm>
              <a:off x="7115966" y="4676460"/>
              <a:ext cx="3612936" cy="103468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EngineClient</a:t>
              </a:r>
            </a:p>
          </p:txBody>
        </p:sp>
        <p:sp>
          <p:nvSpPr>
            <p:cNvPr id="10" name="Flowchart: Alternate Process 9">
              <a:extLst>
                <a:ext uri="{FF2B5EF4-FFF2-40B4-BE49-F238E27FC236}">
                  <a16:creationId xmlns:a16="http://schemas.microsoft.com/office/drawing/2014/main" id="{A60E3390-6BDF-75B0-676A-C81444615F2C}"/>
                </a:ext>
              </a:extLst>
            </p:cNvPr>
            <p:cNvSpPr/>
            <p:nvPr/>
          </p:nvSpPr>
          <p:spPr>
            <a:xfrm>
              <a:off x="3579677" y="6387837"/>
              <a:ext cx="542160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TaskTideService</a:t>
              </a:r>
            </a:p>
          </p:txBody>
        </p:sp>
        <p:sp>
          <p:nvSpPr>
            <p:cNvPr id="11" name="Flowchart: Alternate Process 10">
              <a:extLst>
                <a:ext uri="{FF2B5EF4-FFF2-40B4-BE49-F238E27FC236}">
                  <a16:creationId xmlns:a16="http://schemas.microsoft.com/office/drawing/2014/main" id="{761A1A9A-FBA2-221A-ED5A-8397CBBF7091}"/>
                </a:ext>
              </a:extLst>
            </p:cNvPr>
            <p:cNvSpPr/>
            <p:nvPr/>
          </p:nvSpPr>
          <p:spPr>
            <a:xfrm>
              <a:off x="3579677" y="8049794"/>
              <a:ext cx="5328306" cy="91581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TaskTideRepository</a:t>
              </a:r>
            </a:p>
          </p:txBody>
        </p:sp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6CF3679C-A42B-BB1A-89A6-3779A8CAC4B0}"/>
                </a:ext>
              </a:extLst>
            </p:cNvPr>
            <p:cNvSpPr/>
            <p:nvPr/>
          </p:nvSpPr>
          <p:spPr>
            <a:xfrm>
              <a:off x="133892" y="10280385"/>
              <a:ext cx="5116008" cy="98431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TemplateRepository</a:t>
              </a:r>
              <a:endParaRPr lang="en-IE" sz="3200" b="1" dirty="0"/>
            </a:p>
          </p:txBody>
        </p:sp>
        <p:sp>
          <p:nvSpPr>
            <p:cNvPr id="13" name="Flowchart: Alternate Process 12">
              <a:extLst>
                <a:ext uri="{FF2B5EF4-FFF2-40B4-BE49-F238E27FC236}">
                  <a16:creationId xmlns:a16="http://schemas.microsoft.com/office/drawing/2014/main" id="{A9DF68DD-9327-AAF2-6D6A-40C7FF82282B}"/>
                </a:ext>
              </a:extLst>
            </p:cNvPr>
            <p:cNvSpPr/>
            <p:nvPr/>
          </p:nvSpPr>
          <p:spPr>
            <a:xfrm>
              <a:off x="10361467" y="10976251"/>
              <a:ext cx="5346042" cy="984185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ItemStoreRepository</a:t>
              </a:r>
            </a:p>
          </p:txBody>
        </p:sp>
        <p:sp>
          <p:nvSpPr>
            <p:cNvPr id="14" name="Flowchart: Alternate Process 13">
              <a:extLst>
                <a:ext uri="{FF2B5EF4-FFF2-40B4-BE49-F238E27FC236}">
                  <a16:creationId xmlns:a16="http://schemas.microsoft.com/office/drawing/2014/main" id="{70F9B6C0-7A11-5126-A2F9-62210095E61E}"/>
                </a:ext>
              </a:extLst>
            </p:cNvPr>
            <p:cNvSpPr/>
            <p:nvPr/>
          </p:nvSpPr>
          <p:spPr>
            <a:xfrm>
              <a:off x="5635002" y="9661714"/>
              <a:ext cx="4010563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JpaRepository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CA40A20D-07AA-3C29-B525-8F054EB395CE}"/>
                </a:ext>
              </a:extLst>
            </p:cNvPr>
            <p:cNvGrpSpPr/>
            <p:nvPr/>
          </p:nvGrpSpPr>
          <p:grpSpPr>
            <a:xfrm>
              <a:off x="11185297" y="12607237"/>
              <a:ext cx="4323882" cy="2162882"/>
              <a:chOff x="8508170" y="11395622"/>
              <a:chExt cx="3773483" cy="1545522"/>
            </a:xfrm>
          </p:grpSpPr>
          <p:pic>
            <p:nvPicPr>
              <p:cNvPr id="18" name="Picture 17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A0EBE8F0-852C-9D44-C282-192E019302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08170" y="1139562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22" name="Picture 21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E6A01908-3616-64D6-439C-842D10A4FB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47570" y="1202410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87161502-6450-2C74-3220-821B827C17C8}"/>
                  </a:ext>
                </a:extLst>
              </p:cNvPr>
              <p:cNvCxnSpPr/>
              <p:nvPr/>
            </p:nvCxnSpPr>
            <p:spPr>
              <a:xfrm flipH="1">
                <a:off x="9485965" y="1141606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A954414-47EC-2512-D52F-172903F25B80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3765098"/>
              <a:ext cx="0" cy="835018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B7E84AA-4EFD-742C-FCF6-2A230C4ECCBB}"/>
                </a:ext>
              </a:extLst>
            </p:cNvPr>
            <p:cNvCxnSpPr>
              <a:cxnSpLocks/>
            </p:cNvCxnSpPr>
            <p:nvPr/>
          </p:nvCxnSpPr>
          <p:spPr>
            <a:xfrm>
              <a:off x="7631694" y="9002584"/>
              <a:ext cx="0" cy="6244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119E524B-4AAF-85A1-2D4B-FCC8F7BBC7CD}"/>
                </a:ext>
              </a:extLst>
            </p:cNvPr>
            <p:cNvCxnSpPr>
              <a:cxnSpLocks/>
            </p:cNvCxnSpPr>
            <p:nvPr/>
          </p:nvCxnSpPr>
          <p:spPr>
            <a:xfrm>
              <a:off x="12862574" y="12003743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8E134E11-C649-29A8-88F0-663EA7E359EC}"/>
                </a:ext>
              </a:extLst>
            </p:cNvPr>
            <p:cNvSpPr/>
            <p:nvPr/>
          </p:nvSpPr>
          <p:spPr>
            <a:xfrm>
              <a:off x="11539544" y="4648271"/>
              <a:ext cx="3964360" cy="1089170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TaskTideEngine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D7A76D2-A199-24BC-3649-24E384805F0D}"/>
                </a:ext>
              </a:extLst>
            </p:cNvPr>
            <p:cNvCxnSpPr>
              <a:cxnSpLocks/>
            </p:cNvCxnSpPr>
            <p:nvPr/>
          </p:nvCxnSpPr>
          <p:spPr>
            <a:xfrm>
              <a:off x="8932653" y="8603919"/>
              <a:ext cx="537536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0" name="Flowchart: Alternate Process 49">
              <a:extLst>
                <a:ext uri="{FF2B5EF4-FFF2-40B4-BE49-F238E27FC236}">
                  <a16:creationId xmlns:a16="http://schemas.microsoft.com/office/drawing/2014/main" id="{B8214C4E-DB36-C2ED-34D2-EDA3242C2D92}"/>
                </a:ext>
              </a:extLst>
            </p:cNvPr>
            <p:cNvSpPr/>
            <p:nvPr/>
          </p:nvSpPr>
          <p:spPr>
            <a:xfrm>
              <a:off x="9470189" y="8061628"/>
              <a:ext cx="3964369" cy="94441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TaskTideModel</a:t>
              </a:r>
            </a:p>
          </p:txBody>
        </p:sp>
        <p:sp>
          <p:nvSpPr>
            <p:cNvPr id="51" name="Flowchart: Alternate Process 50">
              <a:extLst>
                <a:ext uri="{FF2B5EF4-FFF2-40B4-BE49-F238E27FC236}">
                  <a16:creationId xmlns:a16="http://schemas.microsoft.com/office/drawing/2014/main" id="{8AB1BA33-846B-71CB-C4E6-E037EFA3C024}"/>
                </a:ext>
              </a:extLst>
            </p:cNvPr>
            <p:cNvSpPr/>
            <p:nvPr/>
          </p:nvSpPr>
          <p:spPr>
            <a:xfrm>
              <a:off x="14534290" y="6963896"/>
              <a:ext cx="3268722" cy="891629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Workflow</a:t>
              </a:r>
            </a:p>
          </p:txBody>
        </p:sp>
        <p:sp>
          <p:nvSpPr>
            <p:cNvPr id="52" name="Flowchart: Alternate Process 51">
              <a:extLst>
                <a:ext uri="{FF2B5EF4-FFF2-40B4-BE49-F238E27FC236}">
                  <a16:creationId xmlns:a16="http://schemas.microsoft.com/office/drawing/2014/main" id="{5C067697-A9CE-7092-38B5-DE6CF63938F7}"/>
                </a:ext>
              </a:extLst>
            </p:cNvPr>
            <p:cNvSpPr/>
            <p:nvPr/>
          </p:nvSpPr>
          <p:spPr>
            <a:xfrm>
              <a:off x="14532171" y="8169009"/>
              <a:ext cx="3268722" cy="891629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Step</a:t>
              </a:r>
            </a:p>
          </p:txBody>
        </p:sp>
        <p:sp>
          <p:nvSpPr>
            <p:cNvPr id="53" name="Flowchart: Alternate Process 52">
              <a:extLst>
                <a:ext uri="{FF2B5EF4-FFF2-40B4-BE49-F238E27FC236}">
                  <a16:creationId xmlns:a16="http://schemas.microsoft.com/office/drawing/2014/main" id="{CBAA4AFC-3354-A870-0D27-6D1FA8EB9501}"/>
                </a:ext>
              </a:extLst>
            </p:cNvPr>
            <p:cNvSpPr/>
            <p:nvPr/>
          </p:nvSpPr>
          <p:spPr>
            <a:xfrm>
              <a:off x="14519301" y="9359788"/>
              <a:ext cx="3268722" cy="934469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WorkItem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8DCEE48F-962D-A3C4-8DC4-E8DDC6842978}"/>
                </a:ext>
              </a:extLst>
            </p:cNvPr>
            <p:cNvCxnSpPr>
              <a:cxnSpLocks/>
            </p:cNvCxnSpPr>
            <p:nvPr/>
          </p:nvCxnSpPr>
          <p:spPr>
            <a:xfrm>
              <a:off x="8359074" y="3766950"/>
              <a:ext cx="0" cy="83316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0811605E-2E77-4721-BB6A-D96BCA1BBA30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5744863"/>
              <a:ext cx="0" cy="592437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069DBF85-D0D1-E9E2-C786-B27C86649C59}"/>
                </a:ext>
              </a:extLst>
            </p:cNvPr>
            <p:cNvCxnSpPr>
              <a:cxnSpLocks/>
            </p:cNvCxnSpPr>
            <p:nvPr/>
          </p:nvCxnSpPr>
          <p:spPr>
            <a:xfrm>
              <a:off x="8405177" y="5747725"/>
              <a:ext cx="0" cy="605343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DFB149C-0D70-4CAD-66D8-E7D9869E7E35}"/>
                </a:ext>
              </a:extLst>
            </p:cNvPr>
            <p:cNvCxnSpPr>
              <a:cxnSpLocks/>
            </p:cNvCxnSpPr>
            <p:nvPr/>
          </p:nvCxnSpPr>
          <p:spPr>
            <a:xfrm>
              <a:off x="6240474" y="7467039"/>
              <a:ext cx="0" cy="595273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68585F70-3D6B-A57D-56B6-98A008D06323}"/>
                </a:ext>
              </a:extLst>
            </p:cNvPr>
            <p:cNvCxnSpPr>
              <a:cxnSpLocks/>
            </p:cNvCxnSpPr>
            <p:nvPr/>
          </p:nvCxnSpPr>
          <p:spPr>
            <a:xfrm>
              <a:off x="10750669" y="5222783"/>
              <a:ext cx="74596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D5D7C695-DFC6-67D0-DD12-31F6A0348BA4}"/>
                </a:ext>
              </a:extLst>
            </p:cNvPr>
            <p:cNvCxnSpPr>
              <a:cxnSpLocks/>
            </p:cNvCxnSpPr>
            <p:nvPr/>
          </p:nvCxnSpPr>
          <p:spPr>
            <a:xfrm>
              <a:off x="13518693" y="8622576"/>
              <a:ext cx="933104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5F967A5-B59E-7B7D-5E64-512341FD7A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76946" y="7648584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C5069E0D-C152-2D33-9149-D8FB64B0BEE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3509760" y="8655978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AD83134F-275B-B0ED-A2DA-C0BE6509A2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77935" y="9004215"/>
              <a:ext cx="194" cy="1261758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7110645D-7449-3CAF-2FB2-5789C07DA1BC}"/>
                </a:ext>
              </a:extLst>
            </p:cNvPr>
            <p:cNvCxnSpPr>
              <a:cxnSpLocks/>
            </p:cNvCxnSpPr>
            <p:nvPr/>
          </p:nvCxnSpPr>
          <p:spPr>
            <a:xfrm>
              <a:off x="8907983" y="8905416"/>
              <a:ext cx="3759332" cy="200486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B63FC61A-B064-0C71-D47B-6087923E9AA1}"/>
                </a:ext>
              </a:extLst>
            </p:cNvPr>
            <p:cNvCxnSpPr>
              <a:cxnSpLocks/>
            </p:cNvCxnSpPr>
            <p:nvPr/>
          </p:nvCxnSpPr>
          <p:spPr>
            <a:xfrm>
              <a:off x="7616145" y="10553592"/>
              <a:ext cx="0" cy="91213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1788FC1-D1D9-FCA0-8AA7-E335A3FB44E0}"/>
                </a:ext>
              </a:extLst>
            </p:cNvPr>
            <p:cNvGrpSpPr/>
            <p:nvPr/>
          </p:nvGrpSpPr>
          <p:grpSpPr>
            <a:xfrm>
              <a:off x="5930016" y="11455567"/>
              <a:ext cx="3317123" cy="2907635"/>
              <a:chOff x="5892693" y="12674487"/>
              <a:chExt cx="3317123" cy="2907635"/>
            </a:xfrm>
          </p:grpSpPr>
          <p:pic>
            <p:nvPicPr>
              <p:cNvPr id="4" name="Picture 3" descr="A blue circle with white text and a dolphin&#10;&#10;AI-generated content may be incorrect.">
                <a:extLst>
                  <a:ext uri="{FF2B5EF4-FFF2-40B4-BE49-F238E27FC236}">
                    <a16:creationId xmlns:a16="http://schemas.microsoft.com/office/drawing/2014/main" id="{4317112C-5E93-13F6-DEEF-8EAA6FDD08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92693" y="12674487"/>
                <a:ext cx="1409700" cy="1409700"/>
              </a:xfrm>
              <a:prstGeom prst="rect">
                <a:avLst/>
              </a:prstGeom>
            </p:spPr>
          </p:pic>
          <p:pic>
            <p:nvPicPr>
              <p:cNvPr id="15" name="Picture 14" descr="A logo for a company&#10;&#10;AI-generated content may be incorrect.">
                <a:extLst>
                  <a:ext uri="{FF2B5EF4-FFF2-40B4-BE49-F238E27FC236}">
                    <a16:creationId xmlns:a16="http://schemas.microsoft.com/office/drawing/2014/main" id="{B03A0ABC-098B-C812-3DA4-0300D71075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17572" y="14381372"/>
                <a:ext cx="1590182" cy="1200750"/>
              </a:xfrm>
              <a:prstGeom prst="rect">
                <a:avLst/>
              </a:prstGeom>
            </p:spPr>
          </p:pic>
          <p:pic>
            <p:nvPicPr>
              <p:cNvPr id="19" name="Picture 18" descr="A blue elephant logo with white text&#10;&#10;AI-generated content may be incorrect.">
                <a:extLst>
                  <a:ext uri="{FF2B5EF4-FFF2-40B4-BE49-F238E27FC236}">
                    <a16:creationId xmlns:a16="http://schemas.microsoft.com/office/drawing/2014/main" id="{33994AF6-0DEF-2EBD-E76A-01617A7F53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58622" y="12732993"/>
                <a:ext cx="1351194" cy="1351194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9DC3E09-C608-48EF-34B8-A8C2CC14E4C6}"/>
                </a:ext>
              </a:extLst>
            </p:cNvPr>
            <p:cNvCxnSpPr>
              <a:cxnSpLocks/>
            </p:cNvCxnSpPr>
            <p:nvPr/>
          </p:nvCxnSpPr>
          <p:spPr>
            <a:xfrm>
              <a:off x="2499300" y="11304508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BF49BD9-B379-F6AE-5540-EB2CBA3B44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63052942"/>
              </p:ext>
            </p:extLst>
          </p:nvPr>
        </p:nvGraphicFramePr>
        <p:xfrm>
          <a:off x="2954252" y="3993740"/>
          <a:ext cx="9834878" cy="92345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4A4E1F-EF89-55FB-2621-5159F4CECD25}"/>
              </a:ext>
            </a:extLst>
          </p:cNvPr>
          <p:cNvCxnSpPr/>
          <p:nvPr/>
        </p:nvCxnSpPr>
        <p:spPr>
          <a:xfrm>
            <a:off x="11625080" y="2830284"/>
            <a:ext cx="0" cy="1198880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7A510191-D70B-0A09-14B7-C12B6C844E8F}"/>
              </a:ext>
            </a:extLst>
          </p:cNvPr>
          <p:cNvSpPr txBox="1"/>
          <p:nvPr/>
        </p:nvSpPr>
        <p:spPr>
          <a:xfrm>
            <a:off x="4546470" y="812806"/>
            <a:ext cx="170359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b="1" dirty="0"/>
              <a:t>a)											            	b) 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752A5DF-C147-1B7B-022B-925131DB8FA0}"/>
              </a:ext>
            </a:extLst>
          </p:cNvPr>
          <p:cNvGrpSpPr/>
          <p:nvPr/>
        </p:nvGrpSpPr>
        <p:grpSpPr>
          <a:xfrm>
            <a:off x="12985070" y="1402083"/>
            <a:ext cx="12115789" cy="13985556"/>
            <a:chOff x="7489828" y="1402082"/>
            <a:chExt cx="12115789" cy="13985556"/>
          </a:xfrm>
        </p:grpSpPr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A947FBCF-D905-0831-86F1-AD448E1C4D75}"/>
                </a:ext>
              </a:extLst>
            </p:cNvPr>
            <p:cNvSpPr/>
            <p:nvPr/>
          </p:nvSpPr>
          <p:spPr>
            <a:xfrm>
              <a:off x="12259953" y="1402082"/>
              <a:ext cx="2153905" cy="2022695"/>
            </a:xfrm>
            <a:prstGeom prst="can">
              <a:avLst/>
            </a:prstGeom>
            <a:ln w="38100">
              <a:solidFill>
                <a:schemeClr val="tx1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TaskTide</a:t>
              </a:r>
            </a:p>
            <a:p>
              <a:pPr algn="ctr"/>
              <a:r>
                <a:rPr lang="en-IE" sz="2800" b="1" dirty="0"/>
                <a:t>Repository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3CEBE93-DE8F-36D6-D818-053F81620ED2}"/>
                </a:ext>
              </a:extLst>
            </p:cNvPr>
            <p:cNvSpPr/>
            <p:nvPr/>
          </p:nvSpPr>
          <p:spPr>
            <a:xfrm>
              <a:off x="7489828" y="4606002"/>
              <a:ext cx="12115789" cy="10781636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13119DE-8929-C472-8586-3BF55CA1FBAD}"/>
                </a:ext>
              </a:extLst>
            </p:cNvPr>
            <p:cNvCxnSpPr>
              <a:cxnSpLocks/>
            </p:cNvCxnSpPr>
            <p:nvPr/>
          </p:nvCxnSpPr>
          <p:spPr>
            <a:xfrm>
              <a:off x="13180410" y="3558775"/>
              <a:ext cx="0" cy="968362"/>
            </a:xfrm>
            <a:prstGeom prst="straightConnector1">
              <a:avLst/>
            </a:prstGeom>
            <a:ln w="762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80AF89-8AE7-83F1-4A98-E375BFCB6C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468986" y="3500121"/>
              <a:ext cx="1" cy="954107"/>
            </a:xfrm>
            <a:prstGeom prst="straightConnector1">
              <a:avLst/>
            </a:prstGeom>
            <a:ln w="762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ED762018-D3F6-7019-E52D-DF61061EB125}"/>
                </a:ext>
              </a:extLst>
            </p:cNvPr>
            <p:cNvCxnSpPr/>
            <p:nvPr/>
          </p:nvCxnSpPr>
          <p:spPr>
            <a:xfrm>
              <a:off x="9787411" y="7889090"/>
              <a:ext cx="0" cy="1036320"/>
            </a:xfrm>
            <a:prstGeom prst="straightConnector1">
              <a:avLst/>
            </a:prstGeom>
            <a:ln w="76200"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E6D65AD-E43D-3543-0704-6A46F703DC9E}"/>
                </a:ext>
              </a:extLst>
            </p:cNvPr>
            <p:cNvCxnSpPr/>
            <p:nvPr/>
          </p:nvCxnSpPr>
          <p:spPr>
            <a:xfrm>
              <a:off x="9812811" y="11170383"/>
              <a:ext cx="0" cy="1036320"/>
            </a:xfrm>
            <a:prstGeom prst="straightConnector1">
              <a:avLst/>
            </a:prstGeom>
            <a:ln w="76200"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69D4E3FF-3CD6-FEDB-3705-A60718BE9CD1}"/>
                </a:ext>
              </a:extLst>
            </p:cNvPr>
            <p:cNvSpPr/>
            <p:nvPr/>
          </p:nvSpPr>
          <p:spPr>
            <a:xfrm>
              <a:off x="8256421" y="5836920"/>
              <a:ext cx="3152458" cy="1852676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Receives      Tasks</a:t>
              </a:r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8DCAD642-DF61-F4FE-C83B-F5BF13F3DB36}"/>
                </a:ext>
              </a:extLst>
            </p:cNvPr>
            <p:cNvSpPr/>
            <p:nvPr/>
          </p:nvSpPr>
          <p:spPr>
            <a:xfrm>
              <a:off x="8266582" y="9057640"/>
              <a:ext cx="3152458" cy="1852676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Processor distributes over threads</a:t>
              </a: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77A340E3-8AD4-6C9B-AF8B-868695C80E00}"/>
                </a:ext>
              </a:extLst>
            </p:cNvPr>
            <p:cNvSpPr/>
            <p:nvPr/>
          </p:nvSpPr>
          <p:spPr>
            <a:xfrm>
              <a:off x="8266582" y="12319000"/>
              <a:ext cx="3152458" cy="1852676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Executor spawns OS process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DE31B009-805C-03C3-6EF6-2F23BD1282E0}"/>
                </a:ext>
              </a:extLst>
            </p:cNvPr>
            <p:cNvSpPr txBox="1"/>
            <p:nvPr/>
          </p:nvSpPr>
          <p:spPr>
            <a:xfrm>
              <a:off x="9201996" y="4155461"/>
              <a:ext cx="2960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i="1" dirty="0"/>
                <a:t>TaskTide Engine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A83F73D-D09F-B45C-DA3C-EF859F32AFF6}"/>
                </a:ext>
              </a:extLst>
            </p:cNvPr>
            <p:cNvSpPr txBox="1"/>
            <p:nvPr/>
          </p:nvSpPr>
          <p:spPr>
            <a:xfrm>
              <a:off x="13563477" y="3766479"/>
              <a:ext cx="25462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dirty="0">
                  <a:solidFill>
                    <a:schemeClr val="accent5">
                      <a:lumMod val="75000"/>
                    </a:schemeClr>
                  </a:solidFill>
                </a:rPr>
                <a:t>Task Updates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85A324E4-797D-C81C-D94D-9A1161D8568F}"/>
                </a:ext>
              </a:extLst>
            </p:cNvPr>
            <p:cNvSpPr/>
            <p:nvPr/>
          </p:nvSpPr>
          <p:spPr>
            <a:xfrm>
              <a:off x="13768393" y="8367208"/>
              <a:ext cx="2543966" cy="1222090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Event Subscription</a:t>
              </a: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42060813-E48E-35FE-9699-20F5CFE266C0}"/>
                </a:ext>
              </a:extLst>
            </p:cNvPr>
            <p:cNvSpPr/>
            <p:nvPr/>
          </p:nvSpPr>
          <p:spPr>
            <a:xfrm>
              <a:off x="16652882" y="8367208"/>
              <a:ext cx="2543966" cy="1222090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Commit Task Updates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3414C8E5-F857-D9DC-2E6E-E2A94A962D91}"/>
                </a:ext>
              </a:extLst>
            </p:cNvPr>
            <p:cNvSpPr/>
            <p:nvPr/>
          </p:nvSpPr>
          <p:spPr>
            <a:xfrm>
              <a:off x="15256598" y="10040385"/>
              <a:ext cx="2543966" cy="1222090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Process Registry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C1FD7A45-07A6-2A0A-0A15-386687226289}"/>
                </a:ext>
              </a:extLst>
            </p:cNvPr>
            <p:cNvSpPr/>
            <p:nvPr/>
          </p:nvSpPr>
          <p:spPr>
            <a:xfrm>
              <a:off x="13545185" y="7963918"/>
              <a:ext cx="5872474" cy="3643883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DCD5EB-E56D-7692-3FCD-FB91F1955FC4}"/>
                </a:ext>
              </a:extLst>
            </p:cNvPr>
            <p:cNvSpPr txBox="1"/>
            <p:nvPr/>
          </p:nvSpPr>
          <p:spPr>
            <a:xfrm>
              <a:off x="14424026" y="7528430"/>
              <a:ext cx="452119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i="1" dirty="0"/>
                <a:t>TaskTide Observer Chain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2314848-3CAF-6E78-7D60-BEA85E354477}"/>
                </a:ext>
              </a:extLst>
            </p:cNvPr>
            <p:cNvSpPr/>
            <p:nvPr/>
          </p:nvSpPr>
          <p:spPr>
            <a:xfrm>
              <a:off x="7912704" y="5562600"/>
              <a:ext cx="3835958" cy="9042400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79C2CD7-F3A6-A2A4-D43D-69A67E73918A}"/>
                </a:ext>
              </a:extLst>
            </p:cNvPr>
            <p:cNvSpPr txBox="1"/>
            <p:nvPr/>
          </p:nvSpPr>
          <p:spPr>
            <a:xfrm>
              <a:off x="8737718" y="14622217"/>
              <a:ext cx="33600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i="1" dirty="0"/>
                <a:t>TaskTide Processor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B90DD8D-EC71-89A9-DA38-FE6DCDD8BE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775691" y="9735585"/>
              <a:ext cx="1693295" cy="0"/>
            </a:xfrm>
            <a:prstGeom prst="straightConnector1">
              <a:avLst/>
            </a:prstGeom>
            <a:ln w="762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D5D47F-B164-01B3-7D34-6665223CAF89}"/>
                </a:ext>
              </a:extLst>
            </p:cNvPr>
            <p:cNvSpPr txBox="1"/>
            <p:nvPr/>
          </p:nvSpPr>
          <p:spPr>
            <a:xfrm>
              <a:off x="12008864" y="9338995"/>
              <a:ext cx="14952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400" b="1" dirty="0">
                  <a:solidFill>
                    <a:schemeClr val="accent5">
                      <a:lumMod val="75000"/>
                    </a:schemeClr>
                  </a:solidFill>
                </a:rPr>
                <a:t>Validates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70803A-CDA1-1DC7-E6A3-6426FBFBB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257224"/>
              </p:ext>
            </p:extLst>
          </p:nvPr>
        </p:nvGraphicFramePr>
        <p:xfrm>
          <a:off x="2929732" y="2808518"/>
          <a:ext cx="24993600" cy="11457037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379221">
                  <a:extLst>
                    <a:ext uri="{9D8B030D-6E8A-4147-A177-3AD203B41FA5}">
                      <a16:colId xmlns:a16="http://schemas.microsoft.com/office/drawing/2014/main" val="476854940"/>
                    </a:ext>
                  </a:extLst>
                </a:gridCol>
                <a:gridCol w="4833164">
                  <a:extLst>
                    <a:ext uri="{9D8B030D-6E8A-4147-A177-3AD203B41FA5}">
                      <a16:colId xmlns:a16="http://schemas.microsoft.com/office/drawing/2014/main" val="3881593967"/>
                    </a:ext>
                  </a:extLst>
                </a:gridCol>
                <a:gridCol w="5783775">
                  <a:extLst>
                    <a:ext uri="{9D8B030D-6E8A-4147-A177-3AD203B41FA5}">
                      <a16:colId xmlns:a16="http://schemas.microsoft.com/office/drawing/2014/main" val="1034727848"/>
                    </a:ext>
                  </a:extLst>
                </a:gridCol>
                <a:gridCol w="4998720">
                  <a:extLst>
                    <a:ext uri="{9D8B030D-6E8A-4147-A177-3AD203B41FA5}">
                      <a16:colId xmlns:a16="http://schemas.microsoft.com/office/drawing/2014/main" val="520395861"/>
                    </a:ext>
                  </a:extLst>
                </a:gridCol>
                <a:gridCol w="4998720">
                  <a:extLst>
                    <a:ext uri="{9D8B030D-6E8A-4147-A177-3AD203B41FA5}">
                      <a16:colId xmlns:a16="http://schemas.microsoft.com/office/drawing/2014/main" val="2421708485"/>
                    </a:ext>
                  </a:extLst>
                </a:gridCol>
              </a:tblGrid>
              <a:tr h="1687282">
                <a:tc gridSpan="5">
                  <a:txBody>
                    <a:bodyPr/>
                    <a:lstStyle/>
                    <a:p>
                      <a:pPr algn="ctr"/>
                      <a:r>
                        <a:rPr lang="en-IE" sz="6600" dirty="0"/>
                        <a:t>Task Tide Configurations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lumMod val="89000"/>
                          </a:schemeClr>
                        </a:gs>
                        <a:gs pos="23000">
                          <a:schemeClr val="accent1">
                            <a:lumMod val="89000"/>
                          </a:schemeClr>
                        </a:gs>
                        <a:gs pos="69000">
                          <a:schemeClr val="accent1">
                            <a:lumMod val="75000"/>
                          </a:schemeClr>
                        </a:gs>
                        <a:gs pos="97000">
                          <a:schemeClr val="accent1">
                            <a:lumMod val="7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512949"/>
                  </a:ext>
                </a:extLst>
              </a:tr>
              <a:tr h="1505925"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Property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Operand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Example Value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Description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07850"/>
                  </a:ext>
                </a:extLst>
              </a:tr>
              <a:tr h="1272920">
                <a:tc rowSpan="2">
                  <a:txBody>
                    <a:bodyPr/>
                    <a:lstStyle/>
                    <a:p>
                      <a:pPr algn="ctr"/>
                      <a:r>
                        <a:rPr lang="en-IE" sz="4600" b="1" dirty="0"/>
                        <a:t>Global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3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client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179669"/>
                  </a:ext>
                </a:extLst>
              </a:tr>
              <a:tr h="1398182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3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core 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sqlite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Backend DB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676677"/>
                  </a:ext>
                </a:extLst>
              </a:tr>
              <a:tr h="1398182">
                <a:tc rowSpan="2">
                  <a:txBody>
                    <a:bodyPr/>
                    <a:lstStyle/>
                    <a:p>
                      <a:pPr algn="ctr"/>
                      <a:r>
                        <a:rPr lang="en-IE" sz="4600" b="1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3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manager 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WORKITEM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model for CRUD request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9942064"/>
                  </a:ext>
                </a:extLst>
              </a:tr>
              <a:tr h="1398182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manager 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Summarize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Manager CRUD operation to run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3460120"/>
                  </a:ext>
                </a:extLst>
              </a:tr>
              <a:tr h="1398182">
                <a:tc rowSpan="2">
                  <a:txBody>
                    <a:bodyPr/>
                    <a:lstStyle/>
                    <a:p>
                      <a:pPr algn="ctr"/>
                      <a:r>
                        <a:rPr lang="en-IE" sz="4600" b="1" dirty="0"/>
                        <a:t>Engine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engine 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2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Concurrent workers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3402372"/>
                  </a:ext>
                </a:extLst>
              </a:tr>
              <a:tr h="1398182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Execution 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engine execution-policy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BATCH | SERVICE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How engine runs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3048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7806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3132" y="628853"/>
            <a:ext cx="20523200" cy="1489831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5155442"/>
              </p:ext>
            </p:extLst>
          </p:nvPr>
        </p:nvGraphicFramePr>
        <p:xfrm>
          <a:off x="6732355" y="2748605"/>
          <a:ext cx="16775589" cy="125784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2533" y="736919"/>
            <a:ext cx="19521399" cy="237851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Mapping of TaskTide Components      to Pilot Job Model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3B5530-C2C5-432B-8650-01D5F92A1DA7}"/>
              </a:ext>
            </a:extLst>
          </p:cNvPr>
          <p:cNvSpPr/>
          <p:nvPr/>
        </p:nvSpPr>
        <p:spPr>
          <a:xfrm>
            <a:off x="6404293" y="3962400"/>
            <a:ext cx="5303520" cy="3962400"/>
          </a:xfrm>
          <a:prstGeom prst="roundRect">
            <a:avLst/>
          </a:prstGeom>
          <a:solidFill>
            <a:srgbClr val="B56576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Pilot Manager</a:t>
            </a:r>
          </a:p>
          <a:p>
            <a:pPr algn="ctr"/>
            <a:r>
              <a:rPr lang="en-IE" sz="3600" b="1" i="1" dirty="0"/>
              <a:t>(Provisioning)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2C7CA26-DC3F-D8BF-1823-0FC5B1F42429}"/>
              </a:ext>
            </a:extLst>
          </p:cNvPr>
          <p:cNvSpPr/>
          <p:nvPr/>
        </p:nvSpPr>
        <p:spPr>
          <a:xfrm>
            <a:off x="6404293" y="11247120"/>
            <a:ext cx="5303520" cy="3962400"/>
          </a:xfrm>
          <a:prstGeom prst="roundRect">
            <a:avLst/>
          </a:prstGeom>
          <a:solidFill>
            <a:srgbClr val="B56576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Delegate to Schedulers</a:t>
            </a:r>
          </a:p>
          <a:p>
            <a:pPr algn="ctr"/>
            <a:r>
              <a:rPr lang="en-IE" sz="3600" b="1" i="1" dirty="0"/>
              <a:t>(SLURM, K8s etc)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1EACF5-381B-A801-9C56-2B9AA25037CB}"/>
              </a:ext>
            </a:extLst>
          </p:cNvPr>
          <p:cNvSpPr/>
          <p:nvPr/>
        </p:nvSpPr>
        <p:spPr>
          <a:xfrm>
            <a:off x="12449493" y="3952240"/>
            <a:ext cx="5303520" cy="3962400"/>
          </a:xfrm>
          <a:prstGeom prst="roundRect">
            <a:avLst/>
          </a:prstGeom>
          <a:solidFill>
            <a:srgbClr val="4A4E69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Workload Manager</a:t>
            </a:r>
          </a:p>
          <a:p>
            <a:pPr algn="ctr"/>
            <a:r>
              <a:rPr lang="en-IE" sz="3600" b="1" i="1" dirty="0"/>
              <a:t>(Dispatching)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4E2FC9-AA1E-2152-1294-D9B20D8F0939}"/>
              </a:ext>
            </a:extLst>
          </p:cNvPr>
          <p:cNvSpPr/>
          <p:nvPr/>
        </p:nvSpPr>
        <p:spPr>
          <a:xfrm>
            <a:off x="12449493" y="11236960"/>
            <a:ext cx="5303520" cy="3962400"/>
          </a:xfrm>
          <a:prstGeom prst="roundRect">
            <a:avLst/>
          </a:prstGeom>
          <a:solidFill>
            <a:srgbClr val="4A4E69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Manager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Repository</a:t>
            </a:r>
            <a:endParaRPr lang="en-IE" sz="3600" b="1" i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59B431-D851-B80B-F782-CD4578C86502}"/>
              </a:ext>
            </a:extLst>
          </p:cNvPr>
          <p:cNvSpPr/>
          <p:nvPr/>
        </p:nvSpPr>
        <p:spPr>
          <a:xfrm>
            <a:off x="18515013" y="3962400"/>
            <a:ext cx="5303520" cy="3962400"/>
          </a:xfrm>
          <a:prstGeom prst="roundRect">
            <a:avLst/>
          </a:prstGeom>
          <a:solidFill>
            <a:srgbClr val="6B5B95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 Manager</a:t>
            </a:r>
          </a:p>
          <a:p>
            <a:pPr algn="ctr"/>
            <a:r>
              <a:rPr lang="en-IE" sz="3600" b="1" i="1" dirty="0"/>
              <a:t>(Execution)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7D5B73F-21AD-3A0B-09DF-443A8870625A}"/>
              </a:ext>
            </a:extLst>
          </p:cNvPr>
          <p:cNvSpPr/>
          <p:nvPr/>
        </p:nvSpPr>
        <p:spPr>
          <a:xfrm>
            <a:off x="18515013" y="11247120"/>
            <a:ext cx="5303520" cy="3962400"/>
          </a:xfrm>
          <a:prstGeom prst="roundRect">
            <a:avLst/>
          </a:prstGeom>
          <a:solidFill>
            <a:srgbClr val="6B5B95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Client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Engine</a:t>
            </a:r>
            <a:endParaRPr lang="en-IE" sz="3600" b="1" i="1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E8F5C0A-A32A-C17F-9A9A-2B3977313AA9}"/>
              </a:ext>
            </a:extLst>
          </p:cNvPr>
          <p:cNvSpPr/>
          <p:nvPr/>
        </p:nvSpPr>
        <p:spPr>
          <a:xfrm>
            <a:off x="8395653" y="7926253"/>
            <a:ext cx="1178560" cy="389128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627699BF-8C58-A803-0A60-513BDDC3A7C0}"/>
              </a:ext>
            </a:extLst>
          </p:cNvPr>
          <p:cNvSpPr/>
          <p:nvPr/>
        </p:nvSpPr>
        <p:spPr>
          <a:xfrm>
            <a:off x="14420534" y="7937356"/>
            <a:ext cx="1178560" cy="390144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588DFD7E-825B-38AA-50A1-48C819D883EB}"/>
              </a:ext>
            </a:extLst>
          </p:cNvPr>
          <p:cNvSpPr/>
          <p:nvPr/>
        </p:nvSpPr>
        <p:spPr>
          <a:xfrm>
            <a:off x="20526694" y="7926251"/>
            <a:ext cx="1178560" cy="390144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4D49C95C-FB72-FA1E-BEA8-0066A4900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77461" y="29463"/>
            <a:ext cx="5368986" cy="477421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2559AEC-E5C8-6D5D-F208-A00EF8296838}"/>
              </a:ext>
            </a:extLst>
          </p:cNvPr>
          <p:cNvGrpSpPr/>
          <p:nvPr/>
        </p:nvGrpSpPr>
        <p:grpSpPr>
          <a:xfrm>
            <a:off x="6405849" y="3165275"/>
            <a:ext cx="17369977" cy="11751267"/>
            <a:chOff x="286030" y="2947559"/>
            <a:chExt cx="17369977" cy="11751267"/>
          </a:xfrm>
        </p:grpSpPr>
        <p:sp>
          <p:nvSpPr>
            <p:cNvPr id="7" name="Flowchart: Alternate Process 6">
              <a:extLst>
                <a:ext uri="{FF2B5EF4-FFF2-40B4-BE49-F238E27FC236}">
                  <a16:creationId xmlns:a16="http://schemas.microsoft.com/office/drawing/2014/main" id="{A0D5D681-EC19-52DB-E992-0E57F0AEFD3A}"/>
                </a:ext>
              </a:extLst>
            </p:cNvPr>
            <p:cNvSpPr/>
            <p:nvPr/>
          </p:nvSpPr>
          <p:spPr>
            <a:xfrm>
              <a:off x="3853559" y="2947559"/>
              <a:ext cx="5147728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600" b="1" dirty="0"/>
                <a:t>TaskTide Client</a:t>
              </a:r>
            </a:p>
          </p:txBody>
        </p:sp>
        <p:sp>
          <p:nvSpPr>
            <p:cNvPr id="8" name="Flowchart: Alternate Process 7">
              <a:extLst>
                <a:ext uri="{FF2B5EF4-FFF2-40B4-BE49-F238E27FC236}">
                  <a16:creationId xmlns:a16="http://schemas.microsoft.com/office/drawing/2014/main" id="{C9B222C9-BBBA-0888-EF26-AA904B46F6C6}"/>
                </a:ext>
              </a:extLst>
            </p:cNvPr>
            <p:cNvSpPr/>
            <p:nvPr/>
          </p:nvSpPr>
          <p:spPr>
            <a:xfrm>
              <a:off x="1156998" y="4722080"/>
              <a:ext cx="380688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ManagerClient</a:t>
              </a:r>
              <a:endParaRPr lang="en-IE" sz="3600" b="1" dirty="0"/>
            </a:p>
          </p:txBody>
        </p:sp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0088A710-20B0-2142-B5AA-A176FCC79125}"/>
                </a:ext>
              </a:extLst>
            </p:cNvPr>
            <p:cNvSpPr/>
            <p:nvPr/>
          </p:nvSpPr>
          <p:spPr>
            <a:xfrm>
              <a:off x="7274334" y="4732167"/>
              <a:ext cx="3454567" cy="103468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EngineClient</a:t>
              </a:r>
            </a:p>
          </p:txBody>
        </p:sp>
        <p:sp>
          <p:nvSpPr>
            <p:cNvPr id="10" name="Flowchart: Alternate Process 9">
              <a:extLst>
                <a:ext uri="{FF2B5EF4-FFF2-40B4-BE49-F238E27FC236}">
                  <a16:creationId xmlns:a16="http://schemas.microsoft.com/office/drawing/2014/main" id="{C175F32A-56DF-9F7C-9A94-1E7802433A90}"/>
                </a:ext>
              </a:extLst>
            </p:cNvPr>
            <p:cNvSpPr/>
            <p:nvPr/>
          </p:nvSpPr>
          <p:spPr>
            <a:xfrm>
              <a:off x="3579677" y="6443544"/>
              <a:ext cx="542160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TaskTideService</a:t>
              </a:r>
            </a:p>
          </p:txBody>
        </p:sp>
        <p:sp>
          <p:nvSpPr>
            <p:cNvPr id="11" name="Flowchart: Alternate Process 10">
              <a:extLst>
                <a:ext uri="{FF2B5EF4-FFF2-40B4-BE49-F238E27FC236}">
                  <a16:creationId xmlns:a16="http://schemas.microsoft.com/office/drawing/2014/main" id="{BB1892BD-1701-A0BD-82BF-2DE970D0462F}"/>
                </a:ext>
              </a:extLst>
            </p:cNvPr>
            <p:cNvSpPr/>
            <p:nvPr/>
          </p:nvSpPr>
          <p:spPr>
            <a:xfrm>
              <a:off x="3760249" y="8174651"/>
              <a:ext cx="5147734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TaskTideRepository</a:t>
              </a:r>
            </a:p>
          </p:txBody>
        </p:sp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96FC22DE-6644-4604-5F43-438B9F4B6E59}"/>
                </a:ext>
              </a:extLst>
            </p:cNvPr>
            <p:cNvSpPr/>
            <p:nvPr/>
          </p:nvSpPr>
          <p:spPr>
            <a:xfrm>
              <a:off x="286030" y="11070896"/>
              <a:ext cx="4964451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TemplateRepository</a:t>
              </a:r>
              <a:endParaRPr lang="en-IE" sz="3200" b="1" dirty="0"/>
            </a:p>
          </p:txBody>
        </p:sp>
        <p:sp>
          <p:nvSpPr>
            <p:cNvPr id="13" name="Flowchart: Alternate Process 12">
              <a:extLst>
                <a:ext uri="{FF2B5EF4-FFF2-40B4-BE49-F238E27FC236}">
                  <a16:creationId xmlns:a16="http://schemas.microsoft.com/office/drawing/2014/main" id="{D8992BE9-744B-1CD2-6A96-DB2DD3646F8C}"/>
                </a:ext>
              </a:extLst>
            </p:cNvPr>
            <p:cNvSpPr/>
            <p:nvPr/>
          </p:nvSpPr>
          <p:spPr>
            <a:xfrm>
              <a:off x="9595925" y="11031958"/>
              <a:ext cx="5147731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ItemStoreRepository</a:t>
              </a:r>
            </a:p>
          </p:txBody>
        </p:sp>
        <p:sp>
          <p:nvSpPr>
            <p:cNvPr id="14" name="Flowchart: Alternate Process 13">
              <a:extLst>
                <a:ext uri="{FF2B5EF4-FFF2-40B4-BE49-F238E27FC236}">
                  <a16:creationId xmlns:a16="http://schemas.microsoft.com/office/drawing/2014/main" id="{8CC51A4A-40B6-E63F-1196-E1FC3D71AF33}"/>
                </a:ext>
              </a:extLst>
            </p:cNvPr>
            <p:cNvSpPr/>
            <p:nvPr/>
          </p:nvSpPr>
          <p:spPr>
            <a:xfrm>
              <a:off x="5446221" y="10407884"/>
              <a:ext cx="4010563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JpaRepository</a:t>
              </a:r>
            </a:p>
          </p:txBody>
        </p:sp>
        <p:pic>
          <p:nvPicPr>
            <p:cNvPr id="16" name="Picture 15" descr="A logo of a white tooth with a red ball and bow and arrow&#10;&#10;AI-generated content may be incorrect.">
              <a:extLst>
                <a:ext uri="{FF2B5EF4-FFF2-40B4-BE49-F238E27FC236}">
                  <a16:creationId xmlns:a16="http://schemas.microsoft.com/office/drawing/2014/main" id="{E1FE6B74-6CAE-A5DB-C447-6DF730DC7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5575" y="12691507"/>
              <a:ext cx="2990162" cy="1880368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64A8C982-B01F-7D8D-B23D-07252774B370}"/>
                </a:ext>
              </a:extLst>
            </p:cNvPr>
            <p:cNvGrpSpPr/>
            <p:nvPr/>
          </p:nvGrpSpPr>
          <p:grpSpPr>
            <a:xfrm>
              <a:off x="10419762" y="12535944"/>
              <a:ext cx="4323877" cy="2162882"/>
              <a:chOff x="7840081" y="11304872"/>
              <a:chExt cx="3773478" cy="1545522"/>
            </a:xfrm>
          </p:grpSpPr>
          <p:pic>
            <p:nvPicPr>
              <p:cNvPr id="18" name="Picture 17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D166C88F-651A-24E5-32CC-193FBA75BD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40081" y="1130487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22" name="Picture 21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51A207A8-6E9F-F4A9-834A-7B02AE0759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79476" y="1193335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9F910E2-88BD-CE09-B520-B2E23EE50AB1}"/>
                  </a:ext>
                </a:extLst>
              </p:cNvPr>
              <p:cNvCxnSpPr/>
              <p:nvPr/>
            </p:nvCxnSpPr>
            <p:spPr>
              <a:xfrm flipH="1">
                <a:off x="8817871" y="1132531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3D0CB47-95C9-9287-B513-23AE7CF501B2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3805565"/>
              <a:ext cx="0" cy="90951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3503602-132C-5126-AC48-8B5C00F51FA5}"/>
                </a:ext>
              </a:extLst>
            </p:cNvPr>
            <p:cNvCxnSpPr>
              <a:cxnSpLocks/>
            </p:cNvCxnSpPr>
            <p:nvPr/>
          </p:nvCxnSpPr>
          <p:spPr>
            <a:xfrm>
              <a:off x="7371381" y="9031982"/>
              <a:ext cx="0" cy="131058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27D1C97E-F6A7-6691-F346-63827B0E733B}"/>
                </a:ext>
              </a:extLst>
            </p:cNvPr>
            <p:cNvCxnSpPr>
              <a:cxnSpLocks/>
            </p:cNvCxnSpPr>
            <p:nvPr/>
          </p:nvCxnSpPr>
          <p:spPr>
            <a:xfrm>
              <a:off x="2891186" y="11923170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027E634-66C4-03B1-4E47-DE591C9A779D}"/>
                </a:ext>
              </a:extLst>
            </p:cNvPr>
            <p:cNvCxnSpPr>
              <a:cxnSpLocks/>
            </p:cNvCxnSpPr>
            <p:nvPr/>
          </p:nvCxnSpPr>
          <p:spPr>
            <a:xfrm>
              <a:off x="12097033" y="11917562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48609721-8B1B-69B1-984D-5BB20FDBBDEE}"/>
                </a:ext>
              </a:extLst>
            </p:cNvPr>
            <p:cNvSpPr/>
            <p:nvPr/>
          </p:nvSpPr>
          <p:spPr>
            <a:xfrm>
              <a:off x="11503719" y="4865338"/>
              <a:ext cx="3904789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TaskTideEngine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291F7EB-C9AA-46EE-6925-A606E5C11666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212164" y="8400611"/>
              <a:ext cx="0" cy="51803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0" name="Flowchart: Alternate Process 49">
              <a:extLst>
                <a:ext uri="{FF2B5EF4-FFF2-40B4-BE49-F238E27FC236}">
                  <a16:creationId xmlns:a16="http://schemas.microsoft.com/office/drawing/2014/main" id="{8B86FAB3-9839-C40F-481E-72C28CB9B5B7}"/>
                </a:ext>
              </a:extLst>
            </p:cNvPr>
            <p:cNvSpPr/>
            <p:nvPr/>
          </p:nvSpPr>
          <p:spPr>
            <a:xfrm>
              <a:off x="9508504" y="8200927"/>
              <a:ext cx="3904789" cy="86082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TaskTideModel</a:t>
              </a:r>
            </a:p>
          </p:txBody>
        </p:sp>
        <p:sp>
          <p:nvSpPr>
            <p:cNvPr id="51" name="Flowchart: Alternate Process 50">
              <a:extLst>
                <a:ext uri="{FF2B5EF4-FFF2-40B4-BE49-F238E27FC236}">
                  <a16:creationId xmlns:a16="http://schemas.microsoft.com/office/drawing/2014/main" id="{93C3476F-BECE-5A31-EBB9-99B1E6D1940C}"/>
                </a:ext>
              </a:extLst>
            </p:cNvPr>
            <p:cNvSpPr/>
            <p:nvPr/>
          </p:nvSpPr>
          <p:spPr>
            <a:xfrm>
              <a:off x="14534290" y="7159815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Workflow</a:t>
              </a:r>
            </a:p>
          </p:txBody>
        </p:sp>
        <p:sp>
          <p:nvSpPr>
            <p:cNvPr id="52" name="Flowchart: Alternate Process 51">
              <a:extLst>
                <a:ext uri="{FF2B5EF4-FFF2-40B4-BE49-F238E27FC236}">
                  <a16:creationId xmlns:a16="http://schemas.microsoft.com/office/drawing/2014/main" id="{6D5BD79C-6023-5DD8-A46C-0D202E17ADC3}"/>
                </a:ext>
              </a:extLst>
            </p:cNvPr>
            <p:cNvSpPr/>
            <p:nvPr/>
          </p:nvSpPr>
          <p:spPr>
            <a:xfrm>
              <a:off x="14532171" y="8250628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Step</a:t>
              </a:r>
            </a:p>
          </p:txBody>
        </p:sp>
        <p:sp>
          <p:nvSpPr>
            <p:cNvPr id="53" name="Flowchart: Alternate Process 52">
              <a:extLst>
                <a:ext uri="{FF2B5EF4-FFF2-40B4-BE49-F238E27FC236}">
                  <a16:creationId xmlns:a16="http://schemas.microsoft.com/office/drawing/2014/main" id="{B0AF4BAB-8A23-C95C-6BC3-FB64F87E4C32}"/>
                </a:ext>
              </a:extLst>
            </p:cNvPr>
            <p:cNvSpPr/>
            <p:nvPr/>
          </p:nvSpPr>
          <p:spPr>
            <a:xfrm>
              <a:off x="14519301" y="9320245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WorkItem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4076E49-55B1-A2B0-BEFA-D6A05A2329E8}"/>
                </a:ext>
              </a:extLst>
            </p:cNvPr>
            <p:cNvCxnSpPr>
              <a:cxnSpLocks/>
            </p:cNvCxnSpPr>
            <p:nvPr/>
          </p:nvCxnSpPr>
          <p:spPr>
            <a:xfrm>
              <a:off x="8359074" y="3822657"/>
              <a:ext cx="0" cy="90951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B5D0FB4-8766-54ED-E1E9-22B3DD32B981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5762646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EBCAA57-D7A6-1D1B-285B-726ADA57EB72}"/>
                </a:ext>
              </a:extLst>
            </p:cNvPr>
            <p:cNvCxnSpPr>
              <a:cxnSpLocks/>
            </p:cNvCxnSpPr>
            <p:nvPr/>
          </p:nvCxnSpPr>
          <p:spPr>
            <a:xfrm>
              <a:off x="8405177" y="5803080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0F58DA43-F38B-0B4A-C3B4-BB4B0A4E9EE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474" y="7520030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F4A330A-7534-79EC-F357-B91BEED4D649}"/>
                </a:ext>
              </a:extLst>
            </p:cNvPr>
            <p:cNvCxnSpPr>
              <a:cxnSpLocks/>
            </p:cNvCxnSpPr>
            <p:nvPr/>
          </p:nvCxnSpPr>
          <p:spPr>
            <a:xfrm>
              <a:off x="10758389" y="5306500"/>
              <a:ext cx="63647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85DEC262-1AE3-204D-EB04-7473F4578BE5}"/>
                </a:ext>
              </a:extLst>
            </p:cNvPr>
            <p:cNvCxnSpPr>
              <a:cxnSpLocks/>
            </p:cNvCxnSpPr>
            <p:nvPr/>
          </p:nvCxnSpPr>
          <p:spPr>
            <a:xfrm>
              <a:off x="13492023" y="8678283"/>
              <a:ext cx="933104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732FD0A3-1DCF-0EEE-3198-2E002B0C1C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12176" y="7719531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ABBF4229-DE4C-521E-83D4-B150C1247918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3452610" y="8711685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AC0456FA-F655-8574-5ED7-E378122881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77936" y="9031982"/>
              <a:ext cx="194" cy="197360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CD1BE198-26FE-5274-F102-FE3EBDC0655C}"/>
                </a:ext>
              </a:extLst>
            </p:cNvPr>
            <p:cNvCxnSpPr>
              <a:cxnSpLocks/>
            </p:cNvCxnSpPr>
            <p:nvPr/>
          </p:nvCxnSpPr>
          <p:spPr>
            <a:xfrm>
              <a:off x="8886407" y="8999546"/>
              <a:ext cx="3261614" cy="201064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DD7FEEE1-2571-A927-F403-D3F4FACDFA4F}"/>
                </a:ext>
              </a:extLst>
            </p:cNvPr>
            <p:cNvCxnSpPr>
              <a:cxnSpLocks/>
            </p:cNvCxnSpPr>
            <p:nvPr/>
          </p:nvCxnSpPr>
          <p:spPr>
            <a:xfrm>
              <a:off x="7390042" y="11268425"/>
              <a:ext cx="0" cy="1093607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6" name="Picture 5" descr="A close-up of a logo&#10;&#10;AI-generated content may be incorrect.">
              <a:extLst>
                <a:ext uri="{FF2B5EF4-FFF2-40B4-BE49-F238E27FC236}">
                  <a16:creationId xmlns:a16="http://schemas.microsoft.com/office/drawing/2014/main" id="{06C3043E-52E1-11EF-906B-59D487C072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37175" y="12547234"/>
              <a:ext cx="2876550" cy="15906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2021</TotalTime>
  <Words>436</Words>
  <Application>Microsoft Office PowerPoint</Application>
  <PresentationFormat>Custom</PresentationFormat>
  <Paragraphs>147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High-Level Layered Architecture</vt:lpstr>
      <vt:lpstr>PowerPoint Presentation</vt:lpstr>
      <vt:lpstr>TaskTide Operating Principle</vt:lpstr>
      <vt:lpstr>PowerPoint Presentation</vt:lpstr>
      <vt:lpstr>PowerPoint Presentation</vt:lpstr>
      <vt:lpstr>PowerPoint Presentation</vt:lpstr>
      <vt:lpstr>PowerPoint Presentation</vt:lpstr>
      <vt:lpstr>High Level Development Approach</vt:lpstr>
      <vt:lpstr>Mapping of TaskTide Components      to Pilot Job Model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194</cp:revision>
  <dcterms:created xsi:type="dcterms:W3CDTF">2025-07-22T15:08:42Z</dcterms:created>
  <dcterms:modified xsi:type="dcterms:W3CDTF">2025-11-19T15:26:05Z</dcterms:modified>
</cp:coreProperties>
</file>