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9" r:id="rId2"/>
    <p:sldId id="262" r:id="rId3"/>
    <p:sldId id="260" r:id="rId4"/>
    <p:sldId id="261" r:id="rId5"/>
    <p:sldId id="263" r:id="rId6"/>
    <p:sldId id="258" r:id="rId7"/>
    <p:sldId id="256" r:id="rId8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3B98"/>
    <a:srgbClr val="800020"/>
    <a:srgbClr val="2A2A72"/>
    <a:srgbClr val="4A6FA5"/>
    <a:srgbClr val="6B5B95"/>
    <a:srgbClr val="4A4E69"/>
    <a:srgbClr val="B56576"/>
    <a:srgbClr val="006400"/>
    <a:srgbClr val="4B0082"/>
    <a:srgbClr val="8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47" d="100"/>
          <a:sy n="47" d="100"/>
        </p:scale>
        <p:origin x="21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600" b="1" dirty="0" err="1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600" b="1" dirty="0"/>
            <a:t>Locked</a:t>
          </a:r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600" b="1" dirty="0"/>
            <a:t>Done / 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/>
      <dgm:t>
        <a:bodyPr/>
        <a:lstStyle/>
        <a:p>
          <a:r>
            <a:rPr lang="en-IE" sz="4800" b="1" dirty="0"/>
            <a:t>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Bioinformatic workflow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Validates workflow orchestration across generic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Task Binding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Job environment attached            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364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4503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364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 err="1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Locked</a:t>
          </a:r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Done / 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8791101"/>
          <a:ext cx="16775589" cy="288543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Deployment</a:t>
          </a:r>
          <a:endParaRPr lang="en-IE" sz="4000" b="1" kern="1200" dirty="0"/>
        </a:p>
      </dsp:txBody>
      <dsp:txXfrm>
        <a:off x="0" y="8791101"/>
        <a:ext cx="16775589" cy="1558135"/>
      </dsp:txXfrm>
    </dsp:sp>
    <dsp:sp modelId="{2147C4C3-E4ED-44EA-8A74-5AB07B9224C6}">
      <dsp:nvSpPr>
        <dsp:cNvPr id="0" name=""/>
        <dsp:cNvSpPr/>
      </dsp:nvSpPr>
      <dsp:spPr>
        <a:xfrm>
          <a:off x="0" y="10351295"/>
          <a:ext cx="5586402" cy="13273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AI play time optimizer</a:t>
          </a:r>
        </a:p>
      </dsp:txBody>
      <dsp:txXfrm>
        <a:off x="0" y="10351295"/>
        <a:ext cx="5586402" cy="1327300"/>
      </dsp:txXfrm>
    </dsp:sp>
    <dsp:sp modelId="{EF0D8E2E-611F-48CE-B1FC-FF5FEBAA646D}">
      <dsp:nvSpPr>
        <dsp:cNvPr id="0" name=""/>
        <dsp:cNvSpPr/>
      </dsp:nvSpPr>
      <dsp:spPr>
        <a:xfrm>
          <a:off x="5574258" y="10351295"/>
          <a:ext cx="5586402" cy="13273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Validate containerized workloads</a:t>
          </a:r>
        </a:p>
      </dsp:txBody>
      <dsp:txXfrm>
        <a:off x="5574258" y="10351295"/>
        <a:ext cx="5586402" cy="1327300"/>
      </dsp:txXfrm>
    </dsp:sp>
    <dsp:sp modelId="{A26E17A3-6ADC-4207-BAA9-6F37A7025026}">
      <dsp:nvSpPr>
        <dsp:cNvPr id="0" name=""/>
        <dsp:cNvSpPr/>
      </dsp:nvSpPr>
      <dsp:spPr>
        <a:xfrm>
          <a:off x="11180995" y="10351295"/>
          <a:ext cx="5586402" cy="13273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Node label constraints</a:t>
          </a:r>
        </a:p>
      </dsp:txBody>
      <dsp:txXfrm>
        <a:off x="11180995" y="10351295"/>
        <a:ext cx="5586402" cy="1327300"/>
      </dsp:txXfrm>
    </dsp:sp>
    <dsp:sp modelId="{B5901160-2EED-4BC1-9CD9-CBC7C725C48E}">
      <dsp:nvSpPr>
        <dsp:cNvPr id="0" name=""/>
        <dsp:cNvSpPr/>
      </dsp:nvSpPr>
      <dsp:spPr>
        <a:xfrm rot="10800000">
          <a:off x="0" y="4396582"/>
          <a:ext cx="16775589" cy="4437799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Task Binding</a:t>
          </a:r>
        </a:p>
      </dsp:txBody>
      <dsp:txXfrm rot="-10800000">
        <a:off x="0" y="4396582"/>
        <a:ext cx="16775589" cy="1557667"/>
      </dsp:txXfrm>
    </dsp:sp>
    <dsp:sp modelId="{9CE9A027-D096-4DBA-9F41-ACB337DEDCA0}">
      <dsp:nvSpPr>
        <dsp:cNvPr id="0" name=""/>
        <dsp:cNvSpPr/>
      </dsp:nvSpPr>
      <dsp:spPr>
        <a:xfrm>
          <a:off x="8191" y="5954250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Serialized function runner</a:t>
          </a:r>
        </a:p>
      </dsp:txBody>
      <dsp:txXfrm>
        <a:off x="8191" y="5954250"/>
        <a:ext cx="5586402" cy="1326902"/>
      </dsp:txXfrm>
    </dsp:sp>
    <dsp:sp modelId="{87C3872B-7E02-4085-B647-9CD9B06A0313}">
      <dsp:nvSpPr>
        <dsp:cNvPr id="0" name=""/>
        <dsp:cNvSpPr/>
      </dsp:nvSpPr>
      <dsp:spPr>
        <a:xfrm>
          <a:off x="5594593" y="5954250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Validates explicit binding semantics (early vs late)</a:t>
          </a:r>
        </a:p>
      </dsp:txBody>
      <dsp:txXfrm>
        <a:off x="5594593" y="5954250"/>
        <a:ext cx="5586402" cy="1326902"/>
      </dsp:txXfrm>
    </dsp:sp>
    <dsp:sp modelId="{6A9F14BE-80C0-4B02-B21C-6C233AACAF51}">
      <dsp:nvSpPr>
        <dsp:cNvPr id="0" name=""/>
        <dsp:cNvSpPr/>
      </dsp:nvSpPr>
      <dsp:spPr>
        <a:xfrm>
          <a:off x="11180995" y="5954250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Job environment attached             to tasks</a:t>
          </a:r>
        </a:p>
      </dsp:txBody>
      <dsp:txXfrm>
        <a:off x="11180995" y="5954250"/>
        <a:ext cx="5586402" cy="1326902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437799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Workflow Orchestration</a:t>
          </a:r>
        </a:p>
      </dsp:txBody>
      <dsp:txXfrm rot="-10800000">
        <a:off x="0" y="0"/>
        <a:ext cx="16775589" cy="1557667"/>
      </dsp:txXfrm>
    </dsp:sp>
    <dsp:sp modelId="{07763EBB-4274-4F86-A670-BA07EE7CCAD5}">
      <dsp:nvSpPr>
        <dsp:cNvPr id="0" name=""/>
        <dsp:cNvSpPr/>
      </dsp:nvSpPr>
      <dsp:spPr>
        <a:xfrm>
          <a:off x="28525" y="1559732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Bioinformatic workflow</a:t>
          </a:r>
        </a:p>
      </dsp:txBody>
      <dsp:txXfrm>
        <a:off x="28525" y="1559732"/>
        <a:ext cx="5586402" cy="1326902"/>
      </dsp:txXfrm>
    </dsp:sp>
    <dsp:sp modelId="{A5384461-3C55-409F-A76C-DC6C5CADCFE8}">
      <dsp:nvSpPr>
        <dsp:cNvPr id="0" name=""/>
        <dsp:cNvSpPr/>
      </dsp:nvSpPr>
      <dsp:spPr>
        <a:xfrm>
          <a:off x="5594593" y="1559732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Validates workflow orchestration across generic pilots</a:t>
          </a:r>
        </a:p>
      </dsp:txBody>
      <dsp:txXfrm>
        <a:off x="5594593" y="1559732"/>
        <a:ext cx="5586402" cy="1326902"/>
      </dsp:txXfrm>
    </dsp:sp>
    <dsp:sp modelId="{1CEB22B1-9A7E-4A91-AF0C-26B893E69FA6}">
      <dsp:nvSpPr>
        <dsp:cNvPr id="0" name=""/>
        <dsp:cNvSpPr/>
      </dsp:nvSpPr>
      <dsp:spPr>
        <a:xfrm>
          <a:off x="11180995" y="1559732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Operational across relational        &amp; non-relational databases</a:t>
          </a:r>
        </a:p>
      </dsp:txBody>
      <dsp:txXfrm>
        <a:off x="11180995" y="1559732"/>
        <a:ext cx="5586402" cy="13269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18/09/2025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8A3C1-2870-92B1-5CC6-E638ED553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1313307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1C6F3C-673D-4567-143B-2DE6272FFD6C}"/>
              </a:ext>
            </a:extLst>
          </p:cNvPr>
          <p:cNvSpPr/>
          <p:nvPr/>
        </p:nvSpPr>
        <p:spPr>
          <a:xfrm>
            <a:off x="2113281" y="7593261"/>
            <a:ext cx="13370560" cy="2316480"/>
          </a:xfrm>
          <a:prstGeom prst="roundRect">
            <a:avLst/>
          </a:prstGeom>
          <a:solidFill>
            <a:srgbClr val="800020"/>
          </a:soli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15261D-C021-2C0A-C8D9-E644EBC71F8F}"/>
              </a:ext>
            </a:extLst>
          </p:cNvPr>
          <p:cNvSpPr/>
          <p:nvPr/>
        </p:nvSpPr>
        <p:spPr>
          <a:xfrm>
            <a:off x="2103120" y="11403261"/>
            <a:ext cx="13370560" cy="2316480"/>
          </a:xfrm>
          <a:prstGeom prst="roundRect">
            <a:avLst/>
          </a:prstGeom>
          <a:solidFill>
            <a:srgbClr val="3B3B98"/>
          </a:soli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Kubernetes, Cloud)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1E6658-9A50-53B7-522A-B91C6DE4A836}"/>
              </a:ext>
            </a:extLst>
          </p:cNvPr>
          <p:cNvSpPr/>
          <p:nvPr/>
        </p:nvSpPr>
        <p:spPr>
          <a:xfrm>
            <a:off x="2113281" y="3691820"/>
            <a:ext cx="13370560" cy="2316480"/>
          </a:xfrm>
          <a:prstGeom prst="roundRect">
            <a:avLst/>
          </a:prstGeom>
          <a:solidFill>
            <a:srgbClr val="2A2A72"/>
          </a:soli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0843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7139" y="6145315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101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1200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4852" y="11067701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021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1688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214" y="825415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2052320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2082800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2113280" y="10586720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8408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-732238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-722078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-610318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63180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284480" y="396240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284480" y="1124712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6329680" y="395224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6329680" y="1123696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2395200" y="396240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2395200" y="1124712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2275840" y="7904481"/>
            <a:ext cx="1178560" cy="389128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8300720" y="789432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14406880" y="790448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40689850"/>
              </p:ext>
            </p:extLst>
          </p:nvPr>
        </p:nvGraphicFramePr>
        <p:xfrm>
          <a:off x="-2113278" y="3993735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5831840" y="2743200"/>
            <a:ext cx="0" cy="11988800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ylinder 5">
            <a:extLst>
              <a:ext uri="{FF2B5EF4-FFF2-40B4-BE49-F238E27FC236}">
                <a16:creationId xmlns:a16="http://schemas.microsoft.com/office/drawing/2014/main" id="{A947FBCF-D905-0831-86F1-AD448E1C4D75}"/>
              </a:ext>
            </a:extLst>
          </p:cNvPr>
          <p:cNvSpPr/>
          <p:nvPr/>
        </p:nvSpPr>
        <p:spPr>
          <a:xfrm>
            <a:off x="10789927" y="2113281"/>
            <a:ext cx="2153905" cy="2022695"/>
          </a:xfrm>
          <a:prstGeom prst="can">
            <a:avLst/>
          </a:prstGeom>
          <a:ln w="38100">
            <a:solidFill>
              <a:schemeClr val="tx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TaskTide</a:t>
            </a:r>
          </a:p>
          <a:p>
            <a:pPr algn="ctr"/>
            <a:r>
              <a:rPr lang="en-IE" sz="2800" b="1" dirty="0"/>
              <a:t>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CEBE93-DE8F-36D6-D818-053F81620ED2}"/>
              </a:ext>
            </a:extLst>
          </p:cNvPr>
          <p:cNvSpPr/>
          <p:nvPr/>
        </p:nvSpPr>
        <p:spPr>
          <a:xfrm>
            <a:off x="6461767" y="5425441"/>
            <a:ext cx="11155674" cy="9384150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3119DE-8929-C472-8586-3BF55CA1FBAD}"/>
              </a:ext>
            </a:extLst>
          </p:cNvPr>
          <p:cNvCxnSpPr>
            <a:cxnSpLocks/>
          </p:cNvCxnSpPr>
          <p:nvPr/>
        </p:nvCxnSpPr>
        <p:spPr>
          <a:xfrm>
            <a:off x="11532585" y="4346175"/>
            <a:ext cx="0" cy="96836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80AF89-8AE7-83F1-4A98-E375BFCB6C49}"/>
              </a:ext>
            </a:extLst>
          </p:cNvPr>
          <p:cNvCxnSpPr>
            <a:cxnSpLocks/>
          </p:cNvCxnSpPr>
          <p:nvPr/>
        </p:nvCxnSpPr>
        <p:spPr>
          <a:xfrm flipH="1" flipV="1">
            <a:off x="11998960" y="4287520"/>
            <a:ext cx="1" cy="95410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ight Brace 24">
            <a:extLst>
              <a:ext uri="{FF2B5EF4-FFF2-40B4-BE49-F238E27FC236}">
                <a16:creationId xmlns:a16="http://schemas.microsoft.com/office/drawing/2014/main" id="{D824E922-C84C-7CA7-48D4-0D4C189A40F0}"/>
              </a:ext>
            </a:extLst>
          </p:cNvPr>
          <p:cNvSpPr/>
          <p:nvPr/>
        </p:nvSpPr>
        <p:spPr>
          <a:xfrm>
            <a:off x="10830560" y="6674266"/>
            <a:ext cx="1767841" cy="6797894"/>
          </a:xfrm>
          <a:prstGeom prst="rightBrace">
            <a:avLst/>
          </a:prstGeom>
          <a:ln w="38100">
            <a:solidFill>
              <a:srgbClr val="8B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D762018-D3F6-7019-E52D-DF61061EB125}"/>
              </a:ext>
            </a:extLst>
          </p:cNvPr>
          <p:cNvCxnSpPr/>
          <p:nvPr/>
        </p:nvCxnSpPr>
        <p:spPr>
          <a:xfrm>
            <a:off x="8869680" y="8090917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6D65AD-E43D-3543-0704-6A46F703DC9E}"/>
              </a:ext>
            </a:extLst>
          </p:cNvPr>
          <p:cNvCxnSpPr/>
          <p:nvPr/>
        </p:nvCxnSpPr>
        <p:spPr>
          <a:xfrm>
            <a:off x="8891426" y="11273886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BE23F6-3E62-EEA6-9EC5-A37AB8CCE7C9}"/>
              </a:ext>
            </a:extLst>
          </p:cNvPr>
          <p:cNvCxnSpPr>
            <a:cxnSpLocks/>
          </p:cNvCxnSpPr>
          <p:nvPr/>
        </p:nvCxnSpPr>
        <p:spPr>
          <a:xfrm flipH="1">
            <a:off x="13292134" y="9844550"/>
            <a:ext cx="1284683" cy="904731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1FBED5D-201B-FA8F-D00F-68E2D09F3003}"/>
              </a:ext>
            </a:extLst>
          </p:cNvPr>
          <p:cNvCxnSpPr>
            <a:cxnSpLocks/>
          </p:cNvCxnSpPr>
          <p:nvPr/>
        </p:nvCxnSpPr>
        <p:spPr>
          <a:xfrm>
            <a:off x="13236734" y="12290706"/>
            <a:ext cx="1340082" cy="1026324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A609447-70C2-50CB-DC4B-87DAD8A21A89}"/>
              </a:ext>
            </a:extLst>
          </p:cNvPr>
          <p:cNvCxnSpPr>
            <a:cxnSpLocks/>
          </p:cNvCxnSpPr>
          <p:nvPr/>
        </p:nvCxnSpPr>
        <p:spPr>
          <a:xfrm flipV="1">
            <a:off x="14917727" y="12305033"/>
            <a:ext cx="1282078" cy="978690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9D4E3FF-3CD6-FEDB-3705-A60718BE9CD1}"/>
              </a:ext>
            </a:extLst>
          </p:cNvPr>
          <p:cNvSpPr/>
          <p:nvPr/>
        </p:nvSpPr>
        <p:spPr>
          <a:xfrm>
            <a:off x="7370596" y="611632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Fetch Tasks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DCAD642-DF61-F4FE-C83B-F5BF13F3DB36}"/>
              </a:ext>
            </a:extLst>
          </p:cNvPr>
          <p:cNvSpPr/>
          <p:nvPr/>
        </p:nvSpPr>
        <p:spPr>
          <a:xfrm>
            <a:off x="7380757" y="923544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Processor distributes over threads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7A340E3-8AD4-6C9B-AF8B-868695C80E00}"/>
              </a:ext>
            </a:extLst>
          </p:cNvPr>
          <p:cNvSpPr/>
          <p:nvPr/>
        </p:nvSpPr>
        <p:spPr>
          <a:xfrm>
            <a:off x="7380757" y="1244600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Executor spawns OS process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E0071F6-BA5F-3FEC-E3DE-D2CC750CF257}"/>
              </a:ext>
            </a:extLst>
          </p:cNvPr>
          <p:cNvSpPr/>
          <p:nvPr/>
        </p:nvSpPr>
        <p:spPr>
          <a:xfrm>
            <a:off x="13037428" y="7847345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Observer chain monitors &amp; validates processing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9F64589-FDB2-FFA2-2E31-78535D5A4CBB}"/>
              </a:ext>
            </a:extLst>
          </p:cNvPr>
          <p:cNvSpPr/>
          <p:nvPr/>
        </p:nvSpPr>
        <p:spPr>
          <a:xfrm>
            <a:off x="12126512" y="10916382"/>
            <a:ext cx="2220444" cy="115824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onTaskStart</a:t>
            </a:r>
            <a:r>
              <a:rPr lang="en-IE" sz="2400" b="1" dirty="0"/>
              <a:t> subscription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0126D41A-8577-F29D-5055-C0DABEB861D7}"/>
              </a:ext>
            </a:extLst>
          </p:cNvPr>
          <p:cNvSpPr/>
          <p:nvPr/>
        </p:nvSpPr>
        <p:spPr>
          <a:xfrm>
            <a:off x="13292133" y="13445368"/>
            <a:ext cx="2897752" cy="115824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onTaskProcessing</a:t>
            </a:r>
            <a:r>
              <a:rPr lang="en-IE" sz="2400" b="1" dirty="0"/>
              <a:t> subscription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15A5339F-07AD-32CF-9AED-29D280649A1E}"/>
              </a:ext>
            </a:extLst>
          </p:cNvPr>
          <p:cNvSpPr/>
          <p:nvPr/>
        </p:nvSpPr>
        <p:spPr>
          <a:xfrm>
            <a:off x="15079663" y="10917427"/>
            <a:ext cx="2220444" cy="115824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onTaskEnd</a:t>
            </a:r>
            <a:r>
              <a:rPr lang="en-IE" sz="2400" b="1" dirty="0"/>
              <a:t> subscription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386080" y="812800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	b)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31B009-805C-03C3-6EF6-2F23BD1282E0}"/>
              </a:ext>
            </a:extLst>
          </p:cNvPr>
          <p:cNvSpPr txBox="1"/>
          <p:nvPr/>
        </p:nvSpPr>
        <p:spPr>
          <a:xfrm>
            <a:off x="7604971" y="4942861"/>
            <a:ext cx="296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/>
              <a:t>TaskTide Engine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D0EACC-283C-9CE1-7867-92E543D131B1}"/>
              </a:ext>
            </a:extLst>
          </p:cNvPr>
          <p:cNvSpPr txBox="1"/>
          <p:nvPr/>
        </p:nvSpPr>
        <p:spPr>
          <a:xfrm>
            <a:off x="13807786" y="6314604"/>
            <a:ext cx="29606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Commits task updates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3F73D-D09F-B45C-DA3C-EF859F32AFF6}"/>
              </a:ext>
            </a:extLst>
          </p:cNvPr>
          <p:cNvSpPr txBox="1"/>
          <p:nvPr/>
        </p:nvSpPr>
        <p:spPr>
          <a:xfrm>
            <a:off x="12296651" y="4630079"/>
            <a:ext cx="2546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/>
              <a:t>Task Updates</a:t>
            </a:r>
          </a:p>
        </p:txBody>
      </p: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4874910"/>
              </p:ext>
            </p:extLst>
          </p:nvPr>
        </p:nvGraphicFramePr>
        <p:xfrm>
          <a:off x="612536" y="2748599"/>
          <a:ext cx="16775589" cy="116786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30" y="1229009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1" y="11627081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316492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11198925" y="608453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 rot="16200000">
            <a:off x="10973862" y="626668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6" y="10316492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574706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5" y="13766431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30" y="1169293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2" y="10936618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8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11278285" y="605652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11053222" y="623867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>
            <a:off x="4278129" y="10316492"/>
            <a:ext cx="0" cy="142246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6" y="12730471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  <p:pic>
        <p:nvPicPr>
          <p:cNvPr id="25" name="Picture 2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BB203D0-3D97-1EDE-DC6D-B67CAA1D37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30" y="13097822"/>
            <a:ext cx="5116008" cy="3108274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499300" y="12726732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530</TotalTime>
  <Words>224</Words>
  <Application>Microsoft Office PowerPoint</Application>
  <PresentationFormat>Custom</PresentationFormat>
  <Paragraphs>83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Mapping of TaskTide Components to Pilot Job Model</vt:lpstr>
      <vt:lpstr>PowerPoint Presentation</vt:lpstr>
      <vt:lpstr>High Level Development Approach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70</cp:revision>
  <dcterms:created xsi:type="dcterms:W3CDTF">2025-07-22T15:08:42Z</dcterms:created>
  <dcterms:modified xsi:type="dcterms:W3CDTF">2025-09-18T10:43:31Z</dcterms:modified>
</cp:coreProperties>
</file>