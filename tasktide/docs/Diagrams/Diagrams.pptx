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63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30/01/2026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132" y="4912971"/>
            <a:ext cx="19380200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8233094" y="11192917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8222933" y="15002917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8233094" y="7291476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0664" y="9371108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952" y="9744979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3915" y="5925376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1020" y="4142596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4665" y="14667365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5842" y="16392134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501" y="14692676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35" y="4425079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8172133" y="3843496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8202614" y="8807512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8233093" y="14186377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8221" y="4278798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5387583" y="528884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5397742" y="1056188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5509502" y="1622100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2994" y="9101050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12795661" y="6847712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6377204" y="14489722"/>
            <a:ext cx="6156256" cy="4800795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12039255" y="6180117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7646323" y="14416596"/>
            <a:ext cx="6156256" cy="4881483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7816677" y="14912487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9719232" y="11029928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9898714" y="11235207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9451300" y="12181965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10099243" y="1260488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6913599" y="11197878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7059217" y="1211943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7173353" y="11141902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6379015" y="12661614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9902605" y="17721856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2735" y="4133059"/>
            <a:ext cx="17189847" cy="16656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978694" y="7006230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13586368" y="10226501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7075" y="3674792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6253710" y="6773287"/>
            <a:ext cx="17669120" cy="12166530"/>
            <a:chOff x="133892" y="2759406"/>
            <a:chExt cx="17669120" cy="12166530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759406"/>
              <a:ext cx="5147728" cy="979113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115966" y="4676460"/>
              <a:ext cx="3612936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579677" y="8049794"/>
              <a:ext cx="5328306" cy="9158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133892" y="10280385"/>
              <a:ext cx="5116008" cy="98431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7" y="10976251"/>
              <a:ext cx="5346042" cy="98418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607237"/>
              <a:ext cx="4323882" cy="2162882"/>
              <a:chOff x="8508170" y="1139562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90025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20037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648271"/>
              <a:ext cx="3964360" cy="108917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470189" y="8061628"/>
              <a:ext cx="3964369" cy="94441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6963896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69009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359788"/>
              <a:ext cx="3268722" cy="93446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448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477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670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51869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7694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50976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9004215"/>
              <a:ext cx="194" cy="126175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535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3045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3052942"/>
              </p:ext>
            </p:extLst>
          </p:nvPr>
        </p:nvGraphicFramePr>
        <p:xfrm>
          <a:off x="2954252" y="7593398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11625080" y="642994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4546472" y="4412464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            	b)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A5DF-C147-1B7B-022B-925131DB8FA0}"/>
              </a:ext>
            </a:extLst>
          </p:cNvPr>
          <p:cNvGrpSpPr/>
          <p:nvPr/>
        </p:nvGrpSpPr>
        <p:grpSpPr>
          <a:xfrm>
            <a:off x="12985072" y="5001739"/>
            <a:ext cx="12115789" cy="13985556"/>
            <a:chOff x="7489828" y="1402082"/>
            <a:chExt cx="12115789" cy="13985556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A947FBCF-D905-0831-86F1-AD448E1C4D75}"/>
                </a:ext>
              </a:extLst>
            </p:cNvPr>
            <p:cNvSpPr/>
            <p:nvPr/>
          </p:nvSpPr>
          <p:spPr>
            <a:xfrm>
              <a:off x="12259953" y="1402082"/>
              <a:ext cx="2153905" cy="2022695"/>
            </a:xfrm>
            <a:prstGeom prst="can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TaskTide</a:t>
              </a:r>
            </a:p>
            <a:p>
              <a:pPr algn="ctr"/>
              <a:r>
                <a:rPr lang="en-IE" sz="2800" b="1" dirty="0"/>
                <a:t>Repository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3CEBE93-DE8F-36D6-D818-053F81620ED2}"/>
                </a:ext>
              </a:extLst>
            </p:cNvPr>
            <p:cNvSpPr/>
            <p:nvPr/>
          </p:nvSpPr>
          <p:spPr>
            <a:xfrm>
              <a:off x="7489828" y="4606002"/>
              <a:ext cx="12115789" cy="10781636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13119DE-8929-C472-8586-3BF55CA1FBAD}"/>
                </a:ext>
              </a:extLst>
            </p:cNvPr>
            <p:cNvCxnSpPr>
              <a:cxnSpLocks/>
            </p:cNvCxnSpPr>
            <p:nvPr/>
          </p:nvCxnSpPr>
          <p:spPr>
            <a:xfrm>
              <a:off x="13180410" y="3558775"/>
              <a:ext cx="0" cy="968362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80AF89-8AE7-83F1-4A98-E375BFCB6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468986" y="3500121"/>
              <a:ext cx="1" cy="954107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D762018-D3F6-7019-E52D-DF61061EB125}"/>
                </a:ext>
              </a:extLst>
            </p:cNvPr>
            <p:cNvCxnSpPr/>
            <p:nvPr/>
          </p:nvCxnSpPr>
          <p:spPr>
            <a:xfrm>
              <a:off x="9787411" y="7889090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E6D65AD-E43D-3543-0704-6A46F703DC9E}"/>
                </a:ext>
              </a:extLst>
            </p:cNvPr>
            <p:cNvCxnSpPr/>
            <p:nvPr/>
          </p:nvCxnSpPr>
          <p:spPr>
            <a:xfrm>
              <a:off x="9812811" y="11170383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9D4E3FF-3CD6-FEDB-3705-A60718BE9CD1}"/>
                </a:ext>
              </a:extLst>
            </p:cNvPr>
            <p:cNvSpPr/>
            <p:nvPr/>
          </p:nvSpPr>
          <p:spPr>
            <a:xfrm>
              <a:off x="8256421" y="583692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Receives      Tasks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8DCAD642-DF61-F4FE-C83B-F5BF13F3DB36}"/>
                </a:ext>
              </a:extLst>
            </p:cNvPr>
            <p:cNvSpPr/>
            <p:nvPr/>
          </p:nvSpPr>
          <p:spPr>
            <a:xfrm>
              <a:off x="8266582" y="905764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Processor distributes over threads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7A340E3-8AD4-6C9B-AF8B-868695C80E00}"/>
                </a:ext>
              </a:extLst>
            </p:cNvPr>
            <p:cNvSpPr/>
            <p:nvPr/>
          </p:nvSpPr>
          <p:spPr>
            <a:xfrm>
              <a:off x="8266582" y="1231900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Executor spawns OS process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E31B009-805C-03C3-6EF6-2F23BD1282E0}"/>
                </a:ext>
              </a:extLst>
            </p:cNvPr>
            <p:cNvSpPr txBox="1"/>
            <p:nvPr/>
          </p:nvSpPr>
          <p:spPr>
            <a:xfrm>
              <a:off x="9201996" y="4155461"/>
              <a:ext cx="2960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Engine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83F73D-D09F-B45C-DA3C-EF859F32AFF6}"/>
                </a:ext>
              </a:extLst>
            </p:cNvPr>
            <p:cNvSpPr txBox="1"/>
            <p:nvPr/>
          </p:nvSpPr>
          <p:spPr>
            <a:xfrm>
              <a:off x="13563477" y="3766479"/>
              <a:ext cx="25462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dirty="0">
                  <a:solidFill>
                    <a:schemeClr val="accent5">
                      <a:lumMod val="75000"/>
                    </a:schemeClr>
                  </a:solidFill>
                </a:rPr>
                <a:t>Task Updates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5A324E4-797D-C81C-D94D-9A1161D8568F}"/>
                </a:ext>
              </a:extLst>
            </p:cNvPr>
            <p:cNvSpPr/>
            <p:nvPr/>
          </p:nvSpPr>
          <p:spPr>
            <a:xfrm>
              <a:off x="13768393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Event Subscription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2060813-E48E-35FE-9699-20F5CFE266C0}"/>
                </a:ext>
              </a:extLst>
            </p:cNvPr>
            <p:cNvSpPr/>
            <p:nvPr/>
          </p:nvSpPr>
          <p:spPr>
            <a:xfrm>
              <a:off x="16652882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Commit Task Updates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414C8E5-F857-D9DC-2E6E-E2A94A962D91}"/>
                </a:ext>
              </a:extLst>
            </p:cNvPr>
            <p:cNvSpPr/>
            <p:nvPr/>
          </p:nvSpPr>
          <p:spPr>
            <a:xfrm>
              <a:off x="15256598" y="10040385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 Registry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C1FD7A45-07A6-2A0A-0A15-386687226289}"/>
                </a:ext>
              </a:extLst>
            </p:cNvPr>
            <p:cNvSpPr/>
            <p:nvPr/>
          </p:nvSpPr>
          <p:spPr>
            <a:xfrm>
              <a:off x="13545185" y="7963918"/>
              <a:ext cx="5872474" cy="3643883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DCD5EB-E56D-7692-3FCD-FB91F1955FC4}"/>
                </a:ext>
              </a:extLst>
            </p:cNvPr>
            <p:cNvSpPr txBox="1"/>
            <p:nvPr/>
          </p:nvSpPr>
          <p:spPr>
            <a:xfrm>
              <a:off x="14424026" y="7528430"/>
              <a:ext cx="45211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Observer Chain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2314848-3CAF-6E78-7D60-BEA85E354477}"/>
                </a:ext>
              </a:extLst>
            </p:cNvPr>
            <p:cNvSpPr/>
            <p:nvPr/>
          </p:nvSpPr>
          <p:spPr>
            <a:xfrm>
              <a:off x="7912704" y="5562600"/>
              <a:ext cx="3835958" cy="904240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9C2CD7-F3A6-A2A4-D43D-69A67E73918A}"/>
                </a:ext>
              </a:extLst>
            </p:cNvPr>
            <p:cNvSpPr txBox="1"/>
            <p:nvPr/>
          </p:nvSpPr>
          <p:spPr>
            <a:xfrm>
              <a:off x="8737718" y="14622217"/>
              <a:ext cx="33600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Processor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B90DD8D-EC71-89A9-DA38-FE6DCDD8BE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75691" y="9735585"/>
              <a:ext cx="1693295" cy="0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5D47F-B164-01B3-7D34-6665223CAF89}"/>
                </a:ext>
              </a:extLst>
            </p:cNvPr>
            <p:cNvSpPr txBox="1"/>
            <p:nvPr/>
          </p:nvSpPr>
          <p:spPr>
            <a:xfrm>
              <a:off x="12008864" y="9338995"/>
              <a:ext cx="14952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400" b="1" dirty="0">
                  <a:solidFill>
                    <a:schemeClr val="accent5">
                      <a:lumMod val="75000"/>
                    </a:schemeClr>
                  </a:solidFill>
                </a:rPr>
                <a:t>Validates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7224"/>
              </p:ext>
            </p:extLst>
          </p:nvPr>
        </p:nvGraphicFramePr>
        <p:xfrm>
          <a:off x="2929732" y="6408176"/>
          <a:ext cx="24993600" cy="11457037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379221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4833164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5783775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1687282">
                <a:tc gridSpan="5">
                  <a:txBody>
                    <a:bodyPr/>
                    <a:lstStyle/>
                    <a:p>
                      <a:pPr algn="ctr"/>
                      <a:r>
                        <a:rPr lang="en-IE" sz="66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1505925"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272920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132" y="4228511"/>
            <a:ext cx="20523200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732357" y="6348263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7AF9FA-7438-5E00-C10B-5BDCEAA71E27}"/>
              </a:ext>
            </a:extLst>
          </p:cNvPr>
          <p:cNvSpPr/>
          <p:nvPr/>
        </p:nvSpPr>
        <p:spPr>
          <a:xfrm>
            <a:off x="190500" y="3825969"/>
            <a:ext cx="29851350" cy="6923211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DF24C-6E41-99FF-7335-D2539468AD92}"/>
              </a:ext>
            </a:extLst>
          </p:cNvPr>
          <p:cNvSpPr txBox="1"/>
          <p:nvPr/>
        </p:nvSpPr>
        <p:spPr>
          <a:xfrm>
            <a:off x="423801" y="4198046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1). Enqueue Election Ballot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0E05E10-B54C-55AA-F4C5-B5805511BA2C}"/>
              </a:ext>
            </a:extLst>
          </p:cNvPr>
          <p:cNvGrpSpPr/>
          <p:nvPr/>
        </p:nvGrpSpPr>
        <p:grpSpPr>
          <a:xfrm>
            <a:off x="495300" y="5132799"/>
            <a:ext cx="9277350" cy="5044882"/>
            <a:chOff x="609600" y="4232468"/>
            <a:chExt cx="9277350" cy="504488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98F1016-6507-D524-42D1-7AB16F226F63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  <a:p>
              <a:r>
                <a:rPr lang="en-IE" sz="3200" b="1" dirty="0"/>
                <a:t>  Mutex {</a:t>
              </a:r>
            </a:p>
            <a:p>
              <a:r>
                <a:rPr lang="en-IE" sz="3200" b="1" dirty="0"/>
                <a:t>         Id: &lt;Random UUID&gt;,</a:t>
              </a:r>
            </a:p>
            <a:p>
              <a:r>
                <a:rPr lang="en-IE" sz="3200" b="1" dirty="0"/>
                <a:t>         Time Stamp: &lt; EPOCH Time&gt;,</a:t>
              </a:r>
            </a:p>
            <a:p>
              <a:r>
                <a:rPr lang="en-IE" sz="3200" b="1" dirty="0"/>
                <a:t>         Lock File: &lt;Full File Path&gt;,</a:t>
              </a:r>
            </a:p>
            <a:p>
              <a:r>
                <a:rPr lang="en-IE" sz="3200" b="1" dirty="0"/>
                <a:t>         Election File: &lt;Full File Path&gt;,</a:t>
              </a:r>
            </a:p>
            <a:p>
              <a:r>
                <a:rPr lang="en-IE" sz="3200" b="1" dirty="0"/>
                <a:t>         Mutex State: &lt;INIT | WAIT | LOCKED&gt;</a:t>
              </a:r>
            </a:p>
            <a:p>
              <a:r>
                <a:rPr lang="en-IE" sz="3200" b="1" dirty="0"/>
                <a:t>  }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65AB9DE-E928-5C65-E445-AC34F60D20B4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529234"/>
              <a:chOff x="914400" y="4442816"/>
              <a:chExt cx="9048750" cy="529234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D526A3C-335E-5F13-5100-FB52658BE261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1769689749-HostA-InstanceA.json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94C1588-459B-325B-CB2C-AF92EF1C0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497205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BF690E4-2BAC-371E-4F36-F3BB9D5CB4E8}"/>
              </a:ext>
            </a:extLst>
          </p:cNvPr>
          <p:cNvSpPr txBox="1"/>
          <p:nvPr/>
        </p:nvSpPr>
        <p:spPr>
          <a:xfrm>
            <a:off x="11316463" y="4198046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2). Discover FIFO Position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6F972B-C4A3-ADE2-9B28-D6F6A4C141B6}"/>
              </a:ext>
            </a:extLst>
          </p:cNvPr>
          <p:cNvSpPr/>
          <p:nvPr/>
        </p:nvSpPr>
        <p:spPr>
          <a:xfrm>
            <a:off x="11887200" y="5501099"/>
            <a:ext cx="7905750" cy="403724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3200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4CC6A90-C0EB-A4B6-BC65-86380C1FB3C9}"/>
              </a:ext>
            </a:extLst>
          </p:cNvPr>
          <p:cNvGrpSpPr/>
          <p:nvPr/>
        </p:nvGrpSpPr>
        <p:grpSpPr>
          <a:xfrm>
            <a:off x="12017069" y="5623699"/>
            <a:ext cx="7710947" cy="499728"/>
            <a:chOff x="914400" y="4442816"/>
            <a:chExt cx="9048750" cy="62445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019241-98B9-86DF-7A70-BAC7C03C6376}"/>
                </a:ext>
              </a:extLst>
            </p:cNvPr>
            <p:cNvSpPr txBox="1"/>
            <p:nvPr/>
          </p:nvSpPr>
          <p:spPr>
            <a:xfrm>
              <a:off x="914400" y="4442816"/>
              <a:ext cx="9048750" cy="5546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800" b="1" dirty="0">
                  <a:solidFill>
                    <a:schemeClr val="bg1"/>
                  </a:solidFill>
                </a:rPr>
                <a:t>Configured Election Directory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DE96AB-CD56-E5FA-7030-6F555209E755}"/>
                </a:ext>
              </a:extLst>
            </p:cNvPr>
            <p:cNvCxnSpPr>
              <a:cxnSpLocks/>
            </p:cNvCxnSpPr>
            <p:nvPr/>
          </p:nvCxnSpPr>
          <p:spPr>
            <a:xfrm>
              <a:off x="1412270" y="5067269"/>
              <a:ext cx="8112730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34B9CB4-2681-327E-1546-41998D4C06E8}"/>
              </a:ext>
            </a:extLst>
          </p:cNvPr>
          <p:cNvSpPr/>
          <p:nvPr/>
        </p:nvSpPr>
        <p:spPr>
          <a:xfrm>
            <a:off x="10063163" y="6792275"/>
            <a:ext cx="1619250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A4E8B60-330B-1FB5-0943-17C11E0380CE}"/>
              </a:ext>
            </a:extLst>
          </p:cNvPr>
          <p:cNvSpPr/>
          <p:nvPr/>
        </p:nvSpPr>
        <p:spPr>
          <a:xfrm>
            <a:off x="20059650" y="6765384"/>
            <a:ext cx="1619250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2DD160-6B4C-56D8-D2E7-C83E10664427}"/>
              </a:ext>
            </a:extLst>
          </p:cNvPr>
          <p:cNvSpPr txBox="1"/>
          <p:nvPr/>
        </p:nvSpPr>
        <p:spPr>
          <a:xfrm>
            <a:off x="22412325" y="4217096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3). Wait Until Leader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A6E0309-BA76-2C37-BF97-83DA109EC708}"/>
              </a:ext>
            </a:extLst>
          </p:cNvPr>
          <p:cNvGrpSpPr/>
          <p:nvPr/>
        </p:nvGrpSpPr>
        <p:grpSpPr>
          <a:xfrm>
            <a:off x="21839238" y="5539998"/>
            <a:ext cx="7905750" cy="3770158"/>
            <a:chOff x="12363450" y="4232467"/>
            <a:chExt cx="9277350" cy="50448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2E450F5-1EAF-54A9-2874-39442B8A056D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E3BF374-E77C-233B-E92F-4758AAD130B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65187"/>
              <a:chOff x="914400" y="4442816"/>
              <a:chExt cx="9048750" cy="665187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381B058-26BE-BAB2-79EA-A327C72E9DF2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Wait &amp; Retry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9B4F2D9-FA43-58DF-241A-59FC646CE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08003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pic>
        <p:nvPicPr>
          <p:cNvPr id="39" name="Graphic 38" descr="Alarm Ringing outline">
            <a:extLst>
              <a:ext uri="{FF2B5EF4-FFF2-40B4-BE49-F238E27FC236}">
                <a16:creationId xmlns:a16="http://schemas.microsoft.com/office/drawing/2014/main" id="{A06521CE-5F19-1FCB-0285-A48FE6ADAE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17170" y="6637894"/>
            <a:ext cx="2105025" cy="2105025"/>
          </a:xfrm>
          <a:prstGeom prst="rect">
            <a:avLst/>
          </a:prstGeom>
        </p:spPr>
      </p:pic>
      <p:pic>
        <p:nvPicPr>
          <p:cNvPr id="41" name="Graphic 40" descr="Snooze outline">
            <a:extLst>
              <a:ext uri="{FF2B5EF4-FFF2-40B4-BE49-F238E27FC236}">
                <a16:creationId xmlns:a16="http://schemas.microsoft.com/office/drawing/2014/main" id="{05D21A47-FEE5-33CD-5150-CCD8C98322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468970" y="6390244"/>
            <a:ext cx="2105025" cy="2105025"/>
          </a:xfrm>
          <a:prstGeom prst="rect">
            <a:avLst/>
          </a:prstGeom>
        </p:spPr>
      </p:pic>
      <p:sp>
        <p:nvSpPr>
          <p:cNvPr id="43" name="Arrow: Right 42">
            <a:extLst>
              <a:ext uri="{FF2B5EF4-FFF2-40B4-BE49-F238E27FC236}">
                <a16:creationId xmlns:a16="http://schemas.microsoft.com/office/drawing/2014/main" id="{A2F234AD-9CCE-B2A5-133D-DF97E9659C03}"/>
              </a:ext>
            </a:extLst>
          </p:cNvPr>
          <p:cNvSpPr/>
          <p:nvPr/>
        </p:nvSpPr>
        <p:spPr>
          <a:xfrm>
            <a:off x="24806275" y="7142286"/>
            <a:ext cx="1828800" cy="981939"/>
          </a:xfrm>
          <a:prstGeom prst="rightArrow">
            <a:avLst/>
          </a:prstGeom>
          <a:solidFill>
            <a:schemeClr val="accent2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438DC7B-472C-B3E3-A01D-765CC1D09460}"/>
              </a:ext>
            </a:extLst>
          </p:cNvPr>
          <p:cNvGrpSpPr/>
          <p:nvPr/>
        </p:nvGrpSpPr>
        <p:grpSpPr>
          <a:xfrm>
            <a:off x="5122141" y="2606098"/>
            <a:ext cx="20817737" cy="1143120"/>
            <a:chOff x="4899243" y="2108980"/>
            <a:chExt cx="18821400" cy="1107996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17CA91-6386-7A67-939A-4EBB6125772E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14435C2-F2C9-4CB1-DFE2-178BD5F92F20}"/>
                </a:ext>
              </a:extLst>
            </p:cNvPr>
            <p:cNvSpPr txBox="1"/>
            <p:nvPr/>
          </p:nvSpPr>
          <p:spPr>
            <a:xfrm>
              <a:off x="4899243" y="210898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i). Leader Election Coordinated Across HPC Jobs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415DE28-1A6C-8362-F4F8-741555000F08}"/>
              </a:ext>
            </a:extLst>
          </p:cNvPr>
          <p:cNvGrpSpPr/>
          <p:nvPr/>
        </p:nvGrpSpPr>
        <p:grpSpPr>
          <a:xfrm>
            <a:off x="5280891" y="14747296"/>
            <a:ext cx="18859500" cy="1107996"/>
            <a:chOff x="4953000" y="2082800"/>
            <a:chExt cx="18859500" cy="1107996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A8FEBA9-B1C8-76B3-0138-002F653CAB8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C04D604-5EE5-1D96-7D9A-76504BC438EE}"/>
                </a:ext>
              </a:extLst>
            </p:cNvPr>
            <p:cNvSpPr txBox="1"/>
            <p:nvPr/>
          </p:nvSpPr>
          <p:spPr>
            <a:xfrm>
              <a:off x="4991100" y="208280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ii). Hosting Node of Leader Owns the OS Lock</a:t>
              </a:r>
            </a:p>
          </p:txBody>
        </p:sp>
      </p:grp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9F6B5165-62F2-45C5-C2B0-48352441AE46}"/>
              </a:ext>
            </a:extLst>
          </p:cNvPr>
          <p:cNvSpPr/>
          <p:nvPr/>
        </p:nvSpPr>
        <p:spPr>
          <a:xfrm>
            <a:off x="188191" y="15944275"/>
            <a:ext cx="29851350" cy="5918192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58CC51-694B-6303-6B7E-1DE40BCD20AB}"/>
              </a:ext>
            </a:extLst>
          </p:cNvPr>
          <p:cNvSpPr txBox="1"/>
          <p:nvPr/>
        </p:nvSpPr>
        <p:spPr>
          <a:xfrm>
            <a:off x="-289708" y="16186844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4). Acquire File Lock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04CF6E-B326-E521-B77C-B4D210C04B06}"/>
              </a:ext>
            </a:extLst>
          </p:cNvPr>
          <p:cNvSpPr txBox="1"/>
          <p:nvPr/>
        </p:nvSpPr>
        <p:spPr>
          <a:xfrm>
            <a:off x="10337075" y="16186844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5). Execute Work Under Lock</a:t>
            </a:r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AE345429-4113-2B59-9FBD-F7FEC818DA28}"/>
              </a:ext>
            </a:extLst>
          </p:cNvPr>
          <p:cNvSpPr/>
          <p:nvPr/>
        </p:nvSpPr>
        <p:spPr>
          <a:xfrm>
            <a:off x="8768936" y="18429630"/>
            <a:ext cx="1979305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9A92287C-9ADC-C5E8-F927-2ABB19F06159}"/>
              </a:ext>
            </a:extLst>
          </p:cNvPr>
          <p:cNvSpPr/>
          <p:nvPr/>
        </p:nvSpPr>
        <p:spPr>
          <a:xfrm>
            <a:off x="18640529" y="18322382"/>
            <a:ext cx="2242312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31B3FA-AD41-3E67-4907-5195F0A775AF}"/>
              </a:ext>
            </a:extLst>
          </p:cNvPr>
          <p:cNvSpPr txBox="1"/>
          <p:nvPr/>
        </p:nvSpPr>
        <p:spPr>
          <a:xfrm>
            <a:off x="22365661" y="16186844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6). Dequeue Mutex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EB964F5-01B5-3919-71C3-72F33580F0AB}"/>
              </a:ext>
            </a:extLst>
          </p:cNvPr>
          <p:cNvGrpSpPr/>
          <p:nvPr/>
        </p:nvGrpSpPr>
        <p:grpSpPr>
          <a:xfrm>
            <a:off x="21325242" y="17001638"/>
            <a:ext cx="8392038" cy="4236049"/>
            <a:chOff x="12363450" y="4232467"/>
            <a:chExt cx="9277350" cy="5044882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D1D4EDCD-A5D1-874D-2060-507433C888D5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C38E234-E7AC-FB28-218C-CCAB9770B5A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80484"/>
              <a:chOff x="914400" y="4442816"/>
              <a:chExt cx="9048750" cy="68048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D892C4A-C8B2-E3B3-2102-90A87CEA6E3D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Clear Central then Election Lock</a:t>
                </a: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8F177FCE-694E-26FC-3BDF-DA48A7D41C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2330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5235A552-AB28-96C9-9D25-FE98C601670A}"/>
              </a:ext>
            </a:extLst>
          </p:cNvPr>
          <p:cNvSpPr/>
          <p:nvPr/>
        </p:nvSpPr>
        <p:spPr>
          <a:xfrm rot="5400000">
            <a:off x="13797988" y="11983555"/>
            <a:ext cx="2656859" cy="161925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24AFED-603D-7D8E-5651-3778581935FE}"/>
              </a:ext>
            </a:extLst>
          </p:cNvPr>
          <p:cNvGrpSpPr/>
          <p:nvPr/>
        </p:nvGrpSpPr>
        <p:grpSpPr>
          <a:xfrm>
            <a:off x="734291" y="17127947"/>
            <a:ext cx="7521575" cy="3842943"/>
            <a:chOff x="609600" y="4232468"/>
            <a:chExt cx="9277350" cy="5044882"/>
          </a:xfrm>
        </p:grpSpPr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63642D35-62E7-4F25-2914-F20F10C76A8C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C706FEC-6D43-6EF3-8962-CE9C89EDB1A5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689940"/>
              <a:chOff x="914400" y="4442816"/>
              <a:chExt cx="9048750" cy="689940"/>
            </a:xfrm>
          </p:grpSpPr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FB26764-FE71-E2BA-81BD-1A41BC916065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FileChannel Lock on Central LockFile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438D6CE-796E-F0D7-2297-DD9F25BC0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7160" y="5132756"/>
                <a:ext cx="8032762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E5359AA-2A23-D204-F4FF-03D4CC2A86B1}"/>
              </a:ext>
            </a:extLst>
          </p:cNvPr>
          <p:cNvGrpSpPr/>
          <p:nvPr/>
        </p:nvGrpSpPr>
        <p:grpSpPr>
          <a:xfrm>
            <a:off x="2801215" y="17976379"/>
            <a:ext cx="3140911" cy="2301407"/>
            <a:chOff x="1939924" y="18109350"/>
            <a:chExt cx="3573819" cy="2536825"/>
          </a:xfrm>
        </p:grpSpPr>
        <p:pic>
          <p:nvPicPr>
            <p:cNvPr id="120" name="Graphic 119" descr="Lock outline">
              <a:extLst>
                <a:ext uri="{FF2B5EF4-FFF2-40B4-BE49-F238E27FC236}">
                  <a16:creationId xmlns:a16="http://schemas.microsoft.com/office/drawing/2014/main" id="{7B630FEC-92E0-4756-D730-8992B2121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986" y="18584802"/>
              <a:ext cx="1676757" cy="1676757"/>
            </a:xfrm>
            <a:prstGeom prst="rect">
              <a:avLst/>
            </a:prstGeom>
          </p:spPr>
        </p:pic>
        <p:pic>
          <p:nvPicPr>
            <p:cNvPr id="121" name="Graphic 120" descr="Document with solid fill">
              <a:extLst>
                <a:ext uri="{FF2B5EF4-FFF2-40B4-BE49-F238E27FC236}">
                  <a16:creationId xmlns:a16="http://schemas.microsoft.com/office/drawing/2014/main" id="{9A7FF259-FA79-C04A-27C7-5666BA552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939924" y="18109350"/>
              <a:ext cx="2536825" cy="253682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AADD96-942D-E95B-B1E7-25F4E2905E02}"/>
              </a:ext>
            </a:extLst>
          </p:cNvPr>
          <p:cNvGrpSpPr/>
          <p:nvPr/>
        </p:nvGrpSpPr>
        <p:grpSpPr>
          <a:xfrm>
            <a:off x="11122891" y="17127947"/>
            <a:ext cx="7023100" cy="3919143"/>
            <a:chOff x="12363450" y="4232467"/>
            <a:chExt cx="9277350" cy="5044882"/>
          </a:xfrm>
        </p:grpSpPr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8CE5F9D7-906C-B109-E9C5-E0D38401E58F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FB25828-2711-D2B1-17B2-15EC5A261F83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92714"/>
              <a:chOff x="914400" y="4442816"/>
              <a:chExt cx="9048750" cy="692714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1BD3F1-B161-5045-06D8-A48535812444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Run Job</a:t>
                </a: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6133D7E-94E1-7137-40DE-0C6131EF1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69" y="513553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7E449F-558E-2A82-83D0-0DD18C718BCB}"/>
              </a:ext>
            </a:extLst>
          </p:cNvPr>
          <p:cNvGrpSpPr/>
          <p:nvPr/>
        </p:nvGrpSpPr>
        <p:grpSpPr>
          <a:xfrm>
            <a:off x="12985467" y="17813790"/>
            <a:ext cx="4074674" cy="2638970"/>
            <a:chOff x="15089626" y="18117665"/>
            <a:chExt cx="2911547" cy="2214581"/>
          </a:xfrm>
        </p:grpSpPr>
        <p:pic>
          <p:nvPicPr>
            <p:cNvPr id="130" name="Graphic 129" descr="Database outline">
              <a:extLst>
                <a:ext uri="{FF2B5EF4-FFF2-40B4-BE49-F238E27FC236}">
                  <a16:creationId xmlns:a16="http://schemas.microsoft.com/office/drawing/2014/main" id="{A1B2ADF8-6F5C-75F1-C094-9E6AE9F71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5089626" y="18117665"/>
              <a:ext cx="2214581" cy="2214581"/>
            </a:xfrm>
            <a:prstGeom prst="rect">
              <a:avLst/>
            </a:prstGeom>
          </p:spPr>
        </p:pic>
        <p:pic>
          <p:nvPicPr>
            <p:cNvPr id="131" name="Graphic 130" descr="Gears outline">
              <a:extLst>
                <a:ext uri="{FF2B5EF4-FFF2-40B4-BE49-F238E27FC236}">
                  <a16:creationId xmlns:a16="http://schemas.microsoft.com/office/drawing/2014/main" id="{728D8DAC-7377-4510-7121-8CD0C52F6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6511777" y="18356709"/>
              <a:ext cx="1489396" cy="1489396"/>
            </a:xfrm>
            <a:prstGeom prst="rect">
              <a:avLst/>
            </a:prstGeom>
          </p:spPr>
        </p:pic>
      </p:grpSp>
      <p:sp>
        <p:nvSpPr>
          <p:cNvPr id="138" name="Minus Sign 137">
            <a:extLst>
              <a:ext uri="{FF2B5EF4-FFF2-40B4-BE49-F238E27FC236}">
                <a16:creationId xmlns:a16="http://schemas.microsoft.com/office/drawing/2014/main" id="{C48D16BE-8A2E-3ACD-419B-BB62C0A67363}"/>
              </a:ext>
            </a:extLst>
          </p:cNvPr>
          <p:cNvSpPr/>
          <p:nvPr/>
        </p:nvSpPr>
        <p:spPr>
          <a:xfrm rot="2461338">
            <a:off x="25800995" y="18867001"/>
            <a:ext cx="4601827" cy="763631"/>
          </a:xfrm>
          <a:prstGeom prst="mathMin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E2729AB-7D31-09EC-B6D4-DD02446E99F7}"/>
              </a:ext>
            </a:extLst>
          </p:cNvPr>
          <p:cNvGrpSpPr/>
          <p:nvPr/>
        </p:nvGrpSpPr>
        <p:grpSpPr>
          <a:xfrm>
            <a:off x="20892445" y="18258842"/>
            <a:ext cx="8251657" cy="2105025"/>
            <a:chOff x="20920154" y="17681571"/>
            <a:chExt cx="8251657" cy="2105025"/>
          </a:xfrm>
        </p:grpSpPr>
        <p:sp>
          <p:nvSpPr>
            <p:cNvPr id="99" name="Arrow: Right 98">
              <a:extLst>
                <a:ext uri="{FF2B5EF4-FFF2-40B4-BE49-F238E27FC236}">
                  <a16:creationId xmlns:a16="http://schemas.microsoft.com/office/drawing/2014/main" id="{9BFB6834-0C7D-E9A4-ED0F-4C588162AC49}"/>
                </a:ext>
              </a:extLst>
            </p:cNvPr>
            <p:cNvSpPr/>
            <p:nvPr/>
          </p:nvSpPr>
          <p:spPr>
            <a:xfrm>
              <a:off x="24851915" y="18210209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8D3338D0-9143-5ED2-2FAA-962AD88F8957}"/>
                </a:ext>
              </a:extLst>
            </p:cNvPr>
            <p:cNvGrpSpPr/>
            <p:nvPr/>
          </p:nvGrpSpPr>
          <p:grpSpPr>
            <a:xfrm>
              <a:off x="21995031" y="17702978"/>
              <a:ext cx="2427822" cy="1996402"/>
              <a:chOff x="26375777" y="17930059"/>
              <a:chExt cx="3573819" cy="2536825"/>
            </a:xfrm>
          </p:grpSpPr>
          <p:pic>
            <p:nvPicPr>
              <p:cNvPr id="133" name="Graphic 132" descr="Lock outline">
                <a:extLst>
                  <a:ext uri="{FF2B5EF4-FFF2-40B4-BE49-F238E27FC236}">
                    <a16:creationId xmlns:a16="http://schemas.microsoft.com/office/drawing/2014/main" id="{A193D7A6-EA2C-4556-C775-0E301B7079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8272839" y="18405511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34" name="Graphic 133" descr="Document with solid fill">
                <a:extLst>
                  <a:ext uri="{FF2B5EF4-FFF2-40B4-BE49-F238E27FC236}">
                    <a16:creationId xmlns:a16="http://schemas.microsoft.com/office/drawing/2014/main" id="{45B2C3B3-84ED-56A1-57A4-39CBF959E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6375777" y="17930059"/>
                <a:ext cx="2536825" cy="2536825"/>
              </a:xfrm>
              <a:prstGeom prst="rect">
                <a:avLst/>
              </a:prstGeom>
            </p:spPr>
          </p:pic>
        </p:grpSp>
        <p:pic>
          <p:nvPicPr>
            <p:cNvPr id="97" name="Graphic 96" descr="Alarm Ringing outline">
              <a:extLst>
                <a:ext uri="{FF2B5EF4-FFF2-40B4-BE49-F238E27FC236}">
                  <a16:creationId xmlns:a16="http://schemas.microsoft.com/office/drawing/2014/main" id="{7DD1699D-8A5C-2C89-E485-D1DE7EA63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7066786" y="17681571"/>
              <a:ext cx="2105025" cy="2105025"/>
            </a:xfrm>
            <a:prstGeom prst="rect">
              <a:avLst/>
            </a:prstGeom>
          </p:spPr>
        </p:pic>
        <p:sp>
          <p:nvSpPr>
            <p:cNvPr id="141" name="Minus Sign 140">
              <a:extLst>
                <a:ext uri="{FF2B5EF4-FFF2-40B4-BE49-F238E27FC236}">
                  <a16:creationId xmlns:a16="http://schemas.microsoft.com/office/drawing/2014/main" id="{D1BB6AE0-ED32-E388-CB7C-69E78586C5B7}"/>
                </a:ext>
              </a:extLst>
            </p:cNvPr>
            <p:cNvSpPr/>
            <p:nvPr/>
          </p:nvSpPr>
          <p:spPr>
            <a:xfrm rot="2461338">
              <a:off x="20920154" y="18264330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779D6EF5-6E71-750C-C968-275F246CB369}"/>
              </a:ext>
            </a:extLst>
          </p:cNvPr>
          <p:cNvSpPr txBox="1"/>
          <p:nvPr/>
        </p:nvSpPr>
        <p:spPr>
          <a:xfrm>
            <a:off x="13082300" y="20477304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Read/Write ItemStore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163D558-D9CF-EB15-A543-67E9B490F9E6}"/>
              </a:ext>
            </a:extLst>
          </p:cNvPr>
          <p:cNvSpPr txBox="1"/>
          <p:nvPr/>
        </p:nvSpPr>
        <p:spPr>
          <a:xfrm>
            <a:off x="24093343" y="8718149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Commits HostLock File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88BA0E4-2698-AA4F-33BC-437205A939A7}"/>
              </a:ext>
            </a:extLst>
          </p:cNvPr>
          <p:cNvSpPr txBox="1"/>
          <p:nvPr/>
        </p:nvSpPr>
        <p:spPr>
          <a:xfrm>
            <a:off x="22975262" y="20665264"/>
            <a:ext cx="55263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Clears lock files for the next elected leader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B8E43E1-7436-194E-48AB-E1CA8307367E}"/>
              </a:ext>
            </a:extLst>
          </p:cNvPr>
          <p:cNvSpPr txBox="1"/>
          <p:nvPr/>
        </p:nvSpPr>
        <p:spPr>
          <a:xfrm>
            <a:off x="2527706" y="20340796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Host holds OS lock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60B3236-5E5F-740E-7BF1-6307428B9C13}"/>
              </a:ext>
            </a:extLst>
          </p:cNvPr>
          <p:cNvSpPr txBox="1"/>
          <p:nvPr/>
        </p:nvSpPr>
        <p:spPr>
          <a:xfrm>
            <a:off x="12017069" y="6390244"/>
            <a:ext cx="751978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1769689749.HostA-InstanceA.json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1769689809.HostA-InstanceB.json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1769689869.HostB-InstanceZ.json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1769689929.HostR-InstanceG.json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1769689989.HostA-InstanceF.json</a:t>
            </a:r>
          </a:p>
        </p:txBody>
      </p: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535" y="4336577"/>
            <a:ext cx="19521399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    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6404293" y="756205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6404293" y="1484677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12449493" y="755189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12449493" y="1483661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8515013" y="756205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8515013" y="1484677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8395653" y="11525909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14420534" y="11537012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20526694" y="11525907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61" y="3629119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6405851" y="6764933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3598</TotalTime>
  <Words>599</Words>
  <Application>Microsoft Office PowerPoint</Application>
  <PresentationFormat>Custom</PresentationFormat>
  <Paragraphs>182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    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255</cp:revision>
  <dcterms:created xsi:type="dcterms:W3CDTF">2025-07-22T15:08:42Z</dcterms:created>
  <dcterms:modified xsi:type="dcterms:W3CDTF">2026-01-30T14:18:55Z</dcterms:modified>
</cp:coreProperties>
</file>