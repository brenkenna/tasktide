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9" r:id="rId2"/>
    <p:sldId id="264" r:id="rId3"/>
    <p:sldId id="262" r:id="rId4"/>
    <p:sldId id="260" r:id="rId5"/>
    <p:sldId id="261" r:id="rId6"/>
    <p:sldId id="263" r:id="rId7"/>
    <p:sldId id="258" r:id="rId8"/>
    <p:sldId id="256" r:id="rId9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4A69"/>
    <a:srgbClr val="800020"/>
    <a:srgbClr val="3B3B98"/>
    <a:srgbClr val="2A2A72"/>
    <a:srgbClr val="400020"/>
    <a:srgbClr val="4A6FA5"/>
    <a:srgbClr val="6B5B95"/>
    <a:srgbClr val="4A4E69"/>
    <a:srgbClr val="B56576"/>
    <a:srgbClr val="006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35" d="100"/>
          <a:sy n="35" d="100"/>
        </p:scale>
        <p:origin x="182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200" b="1" dirty="0" err="1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200" b="1" dirty="0"/>
            <a:t>Locked</a:t>
          </a:r>
          <a:endParaRPr lang="en-IE" sz="36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2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Bioinformatic workflow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Task Binding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147" custLinFactNeighborY="6417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417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Y="6026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455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390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 err="1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Locked</a:t>
          </a:r>
          <a:endParaRPr lang="en-IE" sz="3600" b="1" kern="1200" dirty="0"/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Done/Error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9470716"/>
          <a:ext cx="16775589" cy="31077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Deployment</a:t>
          </a:r>
          <a:endParaRPr lang="en-IE" sz="4000" b="1" kern="1200" dirty="0"/>
        </a:p>
      </dsp:txBody>
      <dsp:txXfrm>
        <a:off x="0" y="9470716"/>
        <a:ext cx="16775589" cy="1678196"/>
      </dsp:txXfrm>
    </dsp:sp>
    <dsp:sp modelId="{2147C4C3-E4ED-44EA-8A74-5AB07B9224C6}">
      <dsp:nvSpPr>
        <dsp:cNvPr id="0" name=""/>
        <dsp:cNvSpPr/>
      </dsp:nvSpPr>
      <dsp:spPr>
        <a:xfrm>
          <a:off x="0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AI play time optimizer</a:t>
          </a:r>
        </a:p>
      </dsp:txBody>
      <dsp:txXfrm>
        <a:off x="0" y="11148912"/>
        <a:ext cx="5586402" cy="1429574"/>
      </dsp:txXfrm>
    </dsp:sp>
    <dsp:sp modelId="{EF0D8E2E-611F-48CE-B1FC-FF5FEBAA646D}">
      <dsp:nvSpPr>
        <dsp:cNvPr id="0" name=""/>
        <dsp:cNvSpPr/>
      </dsp:nvSpPr>
      <dsp:spPr>
        <a:xfrm>
          <a:off x="5574258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 containerized workloads</a:t>
          </a:r>
        </a:p>
      </dsp:txBody>
      <dsp:txXfrm>
        <a:off x="5574258" y="11148912"/>
        <a:ext cx="5586402" cy="1429574"/>
      </dsp:txXfrm>
    </dsp:sp>
    <dsp:sp modelId="{A26E17A3-6ADC-4207-BAA9-6F37A7025026}">
      <dsp:nvSpPr>
        <dsp:cNvPr id="0" name=""/>
        <dsp:cNvSpPr/>
      </dsp:nvSpPr>
      <dsp:spPr>
        <a:xfrm>
          <a:off x="11180995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Node label constraints</a:t>
          </a:r>
        </a:p>
      </dsp:txBody>
      <dsp:txXfrm>
        <a:off x="11180995" y="11148912"/>
        <a:ext cx="5586402" cy="1429574"/>
      </dsp:txXfrm>
    </dsp:sp>
    <dsp:sp modelId="{B5901160-2EED-4BC1-9CD9-CBC7C725C48E}">
      <dsp:nvSpPr>
        <dsp:cNvPr id="0" name=""/>
        <dsp:cNvSpPr/>
      </dsp:nvSpPr>
      <dsp:spPr>
        <a:xfrm rot="10800000">
          <a:off x="0" y="4735358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Task Binding</a:t>
          </a:r>
        </a:p>
      </dsp:txBody>
      <dsp:txXfrm rot="-10800000">
        <a:off x="0" y="4735358"/>
        <a:ext cx="16775589" cy="1677692"/>
      </dsp:txXfrm>
    </dsp:sp>
    <dsp:sp modelId="{9CE9A027-D096-4DBA-9F41-ACB337DEDCA0}">
      <dsp:nvSpPr>
        <dsp:cNvPr id="0" name=""/>
        <dsp:cNvSpPr/>
      </dsp:nvSpPr>
      <dsp:spPr>
        <a:xfrm>
          <a:off x="11822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Serialized function runner</a:t>
          </a:r>
        </a:p>
      </dsp:txBody>
      <dsp:txXfrm>
        <a:off x="11822" y="6440404"/>
        <a:ext cx="5586402" cy="1429145"/>
      </dsp:txXfrm>
    </dsp:sp>
    <dsp:sp modelId="{87C3872B-7E02-4085-B647-9CD9B06A0313}">
      <dsp:nvSpPr>
        <dsp:cNvPr id="0" name=""/>
        <dsp:cNvSpPr/>
      </dsp:nvSpPr>
      <dsp:spPr>
        <a:xfrm>
          <a:off x="5594593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explicit binding semantics (early vs late)</a:t>
          </a:r>
        </a:p>
      </dsp:txBody>
      <dsp:txXfrm>
        <a:off x="5594593" y="6440404"/>
        <a:ext cx="5586402" cy="1429145"/>
      </dsp:txXfrm>
    </dsp:sp>
    <dsp:sp modelId="{6A9F14BE-80C0-4B02-B21C-6C233AACAF51}">
      <dsp:nvSpPr>
        <dsp:cNvPr id="0" name=""/>
        <dsp:cNvSpPr/>
      </dsp:nvSpPr>
      <dsp:spPr>
        <a:xfrm>
          <a:off x="11189186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Job environment               attached to tasks</a:t>
          </a:r>
        </a:p>
      </dsp:txBody>
      <dsp:txXfrm>
        <a:off x="11189186" y="6440404"/>
        <a:ext cx="5586402" cy="1429145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Workflow Orchestration</a:t>
          </a:r>
        </a:p>
      </dsp:txBody>
      <dsp:txXfrm rot="-10800000">
        <a:off x="0" y="0"/>
        <a:ext cx="16775589" cy="1677692"/>
      </dsp:txXfrm>
    </dsp:sp>
    <dsp:sp modelId="{07763EBB-4274-4F86-A670-BA07EE7CCAD5}">
      <dsp:nvSpPr>
        <dsp:cNvPr id="0" name=""/>
        <dsp:cNvSpPr/>
      </dsp:nvSpPr>
      <dsp:spPr>
        <a:xfrm>
          <a:off x="3610" y="1679916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Bioinformatic workflow</a:t>
          </a:r>
        </a:p>
      </dsp:txBody>
      <dsp:txXfrm>
        <a:off x="3610" y="1679916"/>
        <a:ext cx="5586402" cy="1429145"/>
      </dsp:txXfrm>
    </dsp:sp>
    <dsp:sp modelId="{A5384461-3C55-409F-A76C-DC6C5CADCFE8}">
      <dsp:nvSpPr>
        <dsp:cNvPr id="0" name=""/>
        <dsp:cNvSpPr/>
      </dsp:nvSpPr>
      <dsp:spPr>
        <a:xfrm>
          <a:off x="5594593" y="1679916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workflow orchestration across pilots</a:t>
          </a:r>
        </a:p>
      </dsp:txBody>
      <dsp:txXfrm>
        <a:off x="5594593" y="1679916"/>
        <a:ext cx="5586402" cy="1429145"/>
      </dsp:txXfrm>
    </dsp:sp>
    <dsp:sp modelId="{1CEB22B1-9A7E-4A91-AF0C-26B893E69FA6}">
      <dsp:nvSpPr>
        <dsp:cNvPr id="0" name=""/>
        <dsp:cNvSpPr/>
      </dsp:nvSpPr>
      <dsp:spPr>
        <a:xfrm>
          <a:off x="11189186" y="1679916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Operational across relational        &amp; non-relational databases</a:t>
          </a:r>
        </a:p>
      </dsp:txBody>
      <dsp:txXfrm>
        <a:off x="11189186" y="1679916"/>
        <a:ext cx="5586402" cy="1429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13/11/2025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jpeg"/><Relationship Id="rId4" Type="http://schemas.openxmlformats.org/officeDocument/2006/relationships/image" Target="../media/image7.png"/><Relationship Id="rId9" Type="http://schemas.openxmlformats.org/officeDocument/2006/relationships/image" Target="../media/image12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jpeg"/><Relationship Id="rId7" Type="http://schemas.openxmlformats.org/officeDocument/2006/relationships/image" Target="../media/image20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593204-5C51-61CB-9B93-20CA3CC9130B}"/>
              </a:ext>
            </a:extLst>
          </p:cNvPr>
          <p:cNvSpPr/>
          <p:nvPr/>
        </p:nvSpPr>
        <p:spPr>
          <a:xfrm>
            <a:off x="6675840" y="3248049"/>
            <a:ext cx="4303049" cy="4136823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4000" b="1" i="1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483FD1-2ED0-F4AB-A3F3-2BA1245E818F}"/>
              </a:ext>
            </a:extLst>
          </p:cNvPr>
          <p:cNvGrpSpPr/>
          <p:nvPr/>
        </p:nvGrpSpPr>
        <p:grpSpPr>
          <a:xfrm>
            <a:off x="448776" y="10890061"/>
            <a:ext cx="6156256" cy="4800796"/>
            <a:chOff x="403269" y="9141619"/>
            <a:chExt cx="5730786" cy="428154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1E6658-9A50-53B7-522A-B91C6DE4A836}"/>
                </a:ext>
              </a:extLst>
            </p:cNvPr>
            <p:cNvSpPr/>
            <p:nvPr/>
          </p:nvSpPr>
          <p:spPr>
            <a:xfrm>
              <a:off x="990600" y="9141619"/>
              <a:ext cx="4114801" cy="3578116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3DC12C-8069-DABB-86FA-74E7D28D8B99}"/>
                </a:ext>
              </a:extLst>
            </p:cNvPr>
            <p:cNvSpPr txBox="1"/>
            <p:nvPr/>
          </p:nvSpPr>
          <p:spPr>
            <a:xfrm>
              <a:off x="403269" y="12846735"/>
              <a:ext cx="5730786" cy="576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TaskTide Manager Client</a:t>
              </a:r>
            </a:p>
          </p:txBody>
        </p:sp>
      </p:grpSp>
      <p:sp>
        <p:nvSpPr>
          <p:cNvPr id="14" name="Cylinder 13">
            <a:extLst>
              <a:ext uri="{FF2B5EF4-FFF2-40B4-BE49-F238E27FC236}">
                <a16:creationId xmlns:a16="http://schemas.microsoft.com/office/drawing/2014/main" id="{D0BBDB7D-B1CF-0BD7-3CC6-E05CC1245F0F}"/>
              </a:ext>
            </a:extLst>
          </p:cNvPr>
          <p:cNvSpPr/>
          <p:nvPr/>
        </p:nvSpPr>
        <p:spPr>
          <a:xfrm>
            <a:off x="7482943" y="3894380"/>
            <a:ext cx="2726479" cy="2646489"/>
          </a:xfrm>
          <a:prstGeom prst="can">
            <a:avLst/>
          </a:prstGeom>
          <a:solidFill>
            <a:srgbClr val="400020"/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Database</a:t>
            </a:r>
            <a:endParaRPr lang="en-IE" sz="28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1669E7-28FA-74AB-AAF2-D15F49FDBFDA}"/>
              </a:ext>
            </a:extLst>
          </p:cNvPr>
          <p:cNvSpPr txBox="1"/>
          <p:nvPr/>
        </p:nvSpPr>
        <p:spPr>
          <a:xfrm>
            <a:off x="5961972" y="2601718"/>
            <a:ext cx="5730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TaskTide Repository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C64E6B9-19FD-0A28-C46A-500411995680}"/>
              </a:ext>
            </a:extLst>
          </p:cNvPr>
          <p:cNvGrpSpPr/>
          <p:nvPr/>
        </p:nvGrpSpPr>
        <p:grpSpPr>
          <a:xfrm>
            <a:off x="11760425" y="10816934"/>
            <a:ext cx="6156256" cy="4881482"/>
            <a:chOff x="11825746" y="9246292"/>
            <a:chExt cx="6156256" cy="4881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B4C2370-9AAF-48EF-E4FD-131500998CB2}"/>
                </a:ext>
              </a:extLst>
            </p:cNvPr>
            <p:cNvGrpSpPr/>
            <p:nvPr/>
          </p:nvGrpSpPr>
          <p:grpSpPr>
            <a:xfrm>
              <a:off x="12475012" y="9246292"/>
              <a:ext cx="4432254" cy="4040981"/>
              <a:chOff x="11866610" y="9319419"/>
              <a:chExt cx="4432254" cy="4040981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208A7A84-1774-C912-AB85-F801B08D27F6}"/>
                  </a:ext>
                </a:extLst>
              </p:cNvPr>
              <p:cNvSpPr/>
              <p:nvPr/>
            </p:nvSpPr>
            <p:spPr>
              <a:xfrm>
                <a:off x="11866610" y="9319419"/>
                <a:ext cx="4432254" cy="4040981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29" name="Graphic 28" descr="Server with solid fill">
                <a:extLst>
                  <a:ext uri="{FF2B5EF4-FFF2-40B4-BE49-F238E27FC236}">
                    <a16:creationId xmlns:a16="http://schemas.microsoft.com/office/drawing/2014/main" id="{8316283D-7B25-8065-9774-0C00AB121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372602" y="9457606"/>
                <a:ext cx="3420270" cy="3420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C0BC1BF-385F-CF2F-0C38-6F357B388D21}"/>
                </a:ext>
              </a:extLst>
            </p:cNvPr>
            <p:cNvSpPr txBox="1"/>
            <p:nvPr/>
          </p:nvSpPr>
          <p:spPr>
            <a:xfrm>
              <a:off x="11825746" y="13481443"/>
              <a:ext cx="6156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2A2A72"/>
                  </a:solidFill>
                </a:rPr>
                <a:t>TaskTide Engine Client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F9FCBA-4E1C-7234-C161-8A6523B5DD34}"/>
              </a:ext>
            </a:extLst>
          </p:cNvPr>
          <p:cNvGrpSpPr/>
          <p:nvPr/>
        </p:nvGrpSpPr>
        <p:grpSpPr>
          <a:xfrm>
            <a:off x="1696857" y="11312831"/>
            <a:ext cx="3161011" cy="3215018"/>
            <a:chOff x="1594225" y="9742189"/>
            <a:chExt cx="3161011" cy="3215018"/>
          </a:xfrm>
          <a:effectLst/>
        </p:grpSpPr>
        <p:pic>
          <p:nvPicPr>
            <p:cNvPr id="27" name="Graphic 26" descr="Users with solid fill">
              <a:extLst>
                <a:ext uri="{FF2B5EF4-FFF2-40B4-BE49-F238E27FC236}">
                  <a16:creationId xmlns:a16="http://schemas.microsoft.com/office/drawing/2014/main" id="{C595667A-372A-C4AB-5F8D-E34128647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4225" y="9742189"/>
              <a:ext cx="3161011" cy="3161011"/>
            </a:xfrm>
            <a:prstGeom prst="rect">
              <a:avLst/>
            </a:prstGeom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2D307F-6BEB-7D2A-6BA7-2370D2763BDE}"/>
                </a:ext>
              </a:extLst>
            </p:cNvPr>
            <p:cNvSpPr txBox="1"/>
            <p:nvPr/>
          </p:nvSpPr>
          <p:spPr>
            <a:xfrm>
              <a:off x="2044096" y="12310876"/>
              <a:ext cx="222932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Users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D93B-E941-33F7-5042-967656AE3163}"/>
              </a:ext>
            </a:extLst>
          </p:cNvPr>
          <p:cNvCxnSpPr>
            <a:cxnSpLocks/>
          </p:cNvCxnSpPr>
          <p:nvPr/>
        </p:nvCxnSpPr>
        <p:spPr>
          <a:xfrm flipV="1">
            <a:off x="3599412" y="7430272"/>
            <a:ext cx="2997323" cy="31397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01EE2E-D242-5A1D-0B22-F09ED2102BB8}"/>
              </a:ext>
            </a:extLst>
          </p:cNvPr>
          <p:cNvCxnSpPr>
            <a:cxnSpLocks/>
          </p:cNvCxnSpPr>
          <p:nvPr/>
        </p:nvCxnSpPr>
        <p:spPr>
          <a:xfrm flipH="1">
            <a:off x="3778893" y="7635543"/>
            <a:ext cx="2960525" cy="311211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64FC3B-2231-AB00-0114-7D3B3E4D57AC}"/>
              </a:ext>
            </a:extLst>
          </p:cNvPr>
          <p:cNvSpPr txBox="1"/>
          <p:nvPr/>
        </p:nvSpPr>
        <p:spPr>
          <a:xfrm rot="18828662">
            <a:off x="3331480" y="8582309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Register Tasks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C0E93-2FC7-E32C-8A01-598038EDD30E}"/>
              </a:ext>
            </a:extLst>
          </p:cNvPr>
          <p:cNvSpPr txBox="1"/>
          <p:nvPr/>
        </p:nvSpPr>
        <p:spPr>
          <a:xfrm rot="18828662">
            <a:off x="3979422" y="900523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Query Tasks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870012A-93A9-A141-B3C1-9A921F3801D6}"/>
              </a:ext>
            </a:extLst>
          </p:cNvPr>
          <p:cNvCxnSpPr>
            <a:cxnSpLocks/>
          </p:cNvCxnSpPr>
          <p:nvPr/>
        </p:nvCxnSpPr>
        <p:spPr>
          <a:xfrm flipH="1" flipV="1">
            <a:off x="10793786" y="7598222"/>
            <a:ext cx="2719222" cy="307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BA893D8-ADC2-1C69-849B-ACBFE36CE7F6}"/>
              </a:ext>
            </a:extLst>
          </p:cNvPr>
          <p:cNvSpPr txBox="1"/>
          <p:nvPr/>
        </p:nvSpPr>
        <p:spPr>
          <a:xfrm rot="2935289">
            <a:off x="10939397" y="851978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Consume Tasks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9934AA2-464E-7C46-F454-9C4F19C44E45}"/>
              </a:ext>
            </a:extLst>
          </p:cNvPr>
          <p:cNvCxnSpPr>
            <a:cxnSpLocks/>
          </p:cNvCxnSpPr>
          <p:nvPr/>
        </p:nvCxnSpPr>
        <p:spPr>
          <a:xfrm>
            <a:off x="11053533" y="7542238"/>
            <a:ext cx="2772793" cy="31389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D550E53-A724-EDEC-286E-FCB879197398}"/>
              </a:ext>
            </a:extLst>
          </p:cNvPr>
          <p:cNvSpPr txBox="1"/>
          <p:nvPr/>
        </p:nvSpPr>
        <p:spPr>
          <a:xfrm rot="2912262">
            <a:off x="10259202" y="9061958"/>
            <a:ext cx="34233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Update Task States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2488A-2419-8503-18D0-7ACC535DDBA1}"/>
              </a:ext>
            </a:extLst>
          </p:cNvPr>
          <p:cNvSpPr txBox="1"/>
          <p:nvPr/>
        </p:nvSpPr>
        <p:spPr>
          <a:xfrm>
            <a:off x="13782784" y="14122192"/>
            <a:ext cx="180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dirty="0">
                <a:solidFill>
                  <a:srgbClr val="2A2A72"/>
                </a:solidFill>
              </a:rPr>
              <a:t>Server </a:t>
            </a:r>
            <a:endParaRPr lang="en-IE" sz="3600" dirty="0"/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790795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TaskTide Workflow Engine</a:t>
            </a: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1313307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AD5DC9-A2B0-E248-2339-42B3ED605801}"/>
              </a:ext>
            </a:extLst>
          </p:cNvPr>
          <p:cNvSpPr/>
          <p:nvPr/>
        </p:nvSpPr>
        <p:spPr>
          <a:xfrm>
            <a:off x="2113281" y="7593261"/>
            <a:ext cx="13370560" cy="2316480"/>
          </a:xfrm>
          <a:prstGeom prst="roundRect">
            <a:avLst/>
          </a:prstGeom>
          <a:solidFill>
            <a:srgbClr val="800020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0D624A0-53B8-21B1-C12C-899AF45DC6E2}"/>
              </a:ext>
            </a:extLst>
          </p:cNvPr>
          <p:cNvSpPr/>
          <p:nvPr/>
        </p:nvSpPr>
        <p:spPr>
          <a:xfrm>
            <a:off x="2103120" y="11403261"/>
            <a:ext cx="13370560" cy="2316480"/>
          </a:xfrm>
          <a:prstGeom prst="roundRect">
            <a:avLst/>
          </a:prstGeom>
          <a:solidFill>
            <a:srgbClr val="3B3B98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Kubernetes, Cloud)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F0153C-F87B-D4B9-028C-456E925B336A}"/>
              </a:ext>
            </a:extLst>
          </p:cNvPr>
          <p:cNvSpPr/>
          <p:nvPr/>
        </p:nvSpPr>
        <p:spPr>
          <a:xfrm>
            <a:off x="2113281" y="3691820"/>
            <a:ext cx="13370560" cy="2316480"/>
          </a:xfrm>
          <a:prstGeom prst="roundRect">
            <a:avLst/>
          </a:prstGeom>
          <a:solidFill>
            <a:srgbClr val="2A2A72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0843" y="5771452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7139" y="6145315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4101" y="2325720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1200" y="542940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4852" y="11067701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021" y="12792478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1688" y="11093020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214" y="825415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2052320" y="243840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2082800" y="5207856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2113280" y="10586720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8408" y="679142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-732238" y="168918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-722078" y="696222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-610318" y="1262134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63180" y="5501394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284480" y="396240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284480" y="1124712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6329680" y="395224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6329680" y="1123696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2395200" y="396240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2395200" y="1124712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2275840" y="7926252"/>
            <a:ext cx="1178560" cy="389128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8300720" y="7916091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14406880" y="7926251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0423314"/>
              </p:ext>
            </p:extLst>
          </p:nvPr>
        </p:nvGraphicFramePr>
        <p:xfrm>
          <a:off x="-2316478" y="3993735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5374640" y="2743200"/>
            <a:ext cx="0" cy="1198880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ylinder 5">
            <a:extLst>
              <a:ext uri="{FF2B5EF4-FFF2-40B4-BE49-F238E27FC236}">
                <a16:creationId xmlns:a16="http://schemas.microsoft.com/office/drawing/2014/main" id="{A947FBCF-D905-0831-86F1-AD448E1C4D75}"/>
              </a:ext>
            </a:extLst>
          </p:cNvPr>
          <p:cNvSpPr/>
          <p:nvPr/>
        </p:nvSpPr>
        <p:spPr>
          <a:xfrm>
            <a:off x="10459727" y="1402081"/>
            <a:ext cx="2153905" cy="2022695"/>
          </a:xfrm>
          <a:prstGeom prst="can">
            <a:avLst/>
          </a:prstGeom>
          <a:ln w="38100">
            <a:solidFill>
              <a:schemeClr val="tx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TaskTide</a:t>
            </a:r>
          </a:p>
          <a:p>
            <a:pPr algn="ctr"/>
            <a:r>
              <a:rPr lang="en-IE" sz="2800" b="1" dirty="0"/>
              <a:t>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CEBE93-DE8F-36D6-D818-053F81620ED2}"/>
              </a:ext>
            </a:extLst>
          </p:cNvPr>
          <p:cNvSpPr/>
          <p:nvPr/>
        </p:nvSpPr>
        <p:spPr>
          <a:xfrm>
            <a:off x="5689602" y="4606002"/>
            <a:ext cx="12115789" cy="107816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3119DE-8929-C472-8586-3BF55CA1FBAD}"/>
              </a:ext>
            </a:extLst>
          </p:cNvPr>
          <p:cNvCxnSpPr>
            <a:cxnSpLocks/>
          </p:cNvCxnSpPr>
          <p:nvPr/>
        </p:nvCxnSpPr>
        <p:spPr>
          <a:xfrm>
            <a:off x="11380185" y="3558775"/>
            <a:ext cx="0" cy="968362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80AF89-8AE7-83F1-4A98-E375BFCB6C49}"/>
              </a:ext>
            </a:extLst>
          </p:cNvPr>
          <p:cNvCxnSpPr>
            <a:cxnSpLocks/>
          </p:cNvCxnSpPr>
          <p:nvPr/>
        </p:nvCxnSpPr>
        <p:spPr>
          <a:xfrm flipH="1" flipV="1">
            <a:off x="11668760" y="3500120"/>
            <a:ext cx="1" cy="954107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D762018-D3F6-7019-E52D-DF61061EB125}"/>
              </a:ext>
            </a:extLst>
          </p:cNvPr>
          <p:cNvCxnSpPr/>
          <p:nvPr/>
        </p:nvCxnSpPr>
        <p:spPr>
          <a:xfrm>
            <a:off x="7987186" y="7889090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E6D65AD-E43D-3543-0704-6A46F703DC9E}"/>
              </a:ext>
            </a:extLst>
          </p:cNvPr>
          <p:cNvCxnSpPr/>
          <p:nvPr/>
        </p:nvCxnSpPr>
        <p:spPr>
          <a:xfrm>
            <a:off x="8012586" y="11170383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9D4E3FF-3CD6-FEDB-3705-A60718BE9CD1}"/>
              </a:ext>
            </a:extLst>
          </p:cNvPr>
          <p:cNvSpPr/>
          <p:nvPr/>
        </p:nvSpPr>
        <p:spPr>
          <a:xfrm>
            <a:off x="6456196" y="583692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Receives      Tasks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8DCAD642-DF61-F4FE-C83B-F5BF13F3DB36}"/>
              </a:ext>
            </a:extLst>
          </p:cNvPr>
          <p:cNvSpPr/>
          <p:nvPr/>
        </p:nvSpPr>
        <p:spPr>
          <a:xfrm>
            <a:off x="6466357" y="905764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Processor distributes over threads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7A340E3-8AD4-6C9B-AF8B-868695C80E00}"/>
              </a:ext>
            </a:extLst>
          </p:cNvPr>
          <p:cNvSpPr/>
          <p:nvPr/>
        </p:nvSpPr>
        <p:spPr>
          <a:xfrm>
            <a:off x="6466357" y="1231900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Executor spawns OS process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386080" y="812800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	b)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31B009-805C-03C3-6EF6-2F23BD1282E0}"/>
              </a:ext>
            </a:extLst>
          </p:cNvPr>
          <p:cNvSpPr txBox="1"/>
          <p:nvPr/>
        </p:nvSpPr>
        <p:spPr>
          <a:xfrm>
            <a:off x="7401771" y="4155461"/>
            <a:ext cx="2960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3F73D-D09F-B45C-DA3C-EF859F32AFF6}"/>
              </a:ext>
            </a:extLst>
          </p:cNvPr>
          <p:cNvSpPr txBox="1"/>
          <p:nvPr/>
        </p:nvSpPr>
        <p:spPr>
          <a:xfrm>
            <a:off x="11763251" y="3766479"/>
            <a:ext cx="2546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solidFill>
                  <a:schemeClr val="accent5">
                    <a:lumMod val="75000"/>
                  </a:schemeClr>
                </a:solidFill>
              </a:rPr>
              <a:t>Task Updates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5A324E4-797D-C81C-D94D-9A1161D8568F}"/>
              </a:ext>
            </a:extLst>
          </p:cNvPr>
          <p:cNvSpPr/>
          <p:nvPr/>
        </p:nvSpPr>
        <p:spPr>
          <a:xfrm>
            <a:off x="11968168" y="8367208"/>
            <a:ext cx="2543966" cy="122209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Event Subscription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2060813-E48E-35FE-9699-20F5CFE266C0}"/>
              </a:ext>
            </a:extLst>
          </p:cNvPr>
          <p:cNvSpPr/>
          <p:nvPr/>
        </p:nvSpPr>
        <p:spPr>
          <a:xfrm>
            <a:off x="14852657" y="8367208"/>
            <a:ext cx="2543966" cy="122209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Commit Task Updates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14C8E5-F857-D9DC-2E6E-E2A94A962D91}"/>
              </a:ext>
            </a:extLst>
          </p:cNvPr>
          <p:cNvSpPr/>
          <p:nvPr/>
        </p:nvSpPr>
        <p:spPr>
          <a:xfrm>
            <a:off x="13456373" y="10040385"/>
            <a:ext cx="2543966" cy="122209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 Registry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1FD7A45-07A6-2A0A-0A15-386687226289}"/>
              </a:ext>
            </a:extLst>
          </p:cNvPr>
          <p:cNvSpPr/>
          <p:nvPr/>
        </p:nvSpPr>
        <p:spPr>
          <a:xfrm>
            <a:off x="11744960" y="7963917"/>
            <a:ext cx="5872474" cy="3643883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DCD5EB-E56D-7692-3FCD-FB91F1955FC4}"/>
              </a:ext>
            </a:extLst>
          </p:cNvPr>
          <p:cNvSpPr txBox="1"/>
          <p:nvPr/>
        </p:nvSpPr>
        <p:spPr>
          <a:xfrm>
            <a:off x="12623800" y="7528430"/>
            <a:ext cx="4521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Observer Chain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314848-3CAF-6E78-7D60-BEA85E354477}"/>
              </a:ext>
            </a:extLst>
          </p:cNvPr>
          <p:cNvSpPr/>
          <p:nvPr/>
        </p:nvSpPr>
        <p:spPr>
          <a:xfrm>
            <a:off x="6112479" y="5562600"/>
            <a:ext cx="3835958" cy="90424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9C2CD7-F3A6-A2A4-D43D-69A67E73918A}"/>
              </a:ext>
            </a:extLst>
          </p:cNvPr>
          <p:cNvSpPr txBox="1"/>
          <p:nvPr/>
        </p:nvSpPr>
        <p:spPr>
          <a:xfrm>
            <a:off x="6937492" y="14622217"/>
            <a:ext cx="33600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Processor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90DD8D-EC71-89A9-DA38-FE6DCDD8BED5}"/>
              </a:ext>
            </a:extLst>
          </p:cNvPr>
          <p:cNvCxnSpPr>
            <a:cxnSpLocks/>
          </p:cNvCxnSpPr>
          <p:nvPr/>
        </p:nvCxnSpPr>
        <p:spPr>
          <a:xfrm flipH="1">
            <a:off x="9975465" y="9735585"/>
            <a:ext cx="1693295" cy="0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0D5D47F-B164-01B3-7D34-6665223CAF89}"/>
              </a:ext>
            </a:extLst>
          </p:cNvPr>
          <p:cNvSpPr txBox="1"/>
          <p:nvPr/>
        </p:nvSpPr>
        <p:spPr>
          <a:xfrm>
            <a:off x="10208639" y="9338994"/>
            <a:ext cx="14952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chemeClr val="accent5">
                    <a:lumMod val="75000"/>
                  </a:schemeClr>
                </a:solidFill>
              </a:rPr>
              <a:t>Validates</a:t>
            </a:r>
          </a:p>
        </p:txBody>
      </p: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4130534"/>
              </p:ext>
            </p:extLst>
          </p:nvPr>
        </p:nvGraphicFramePr>
        <p:xfrm>
          <a:off x="612536" y="2748599"/>
          <a:ext cx="16775589" cy="12578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0D5D681-EC19-52DB-E992-0E57F0AEFD3A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9B222C9-BBBA-0888-EF26-AA904B46F6C6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0088A710-20B0-2142-B5AA-A176FCC79125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C175F32A-56DF-9F7C-9A94-1E7802433A90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BB1892BD-1701-A0BD-82BF-2DE970D0462F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6FC22DE-6644-4604-5F43-438B9F4B6E59}"/>
              </a:ext>
            </a:extLst>
          </p:cNvPr>
          <p:cNvSpPr/>
          <p:nvPr/>
        </p:nvSpPr>
        <p:spPr>
          <a:xfrm>
            <a:off x="286030" y="1229009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D8992BE9-744B-1CD2-6A96-DB2DD3646F8C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8CC51A4A-40B6-E63F-1196-E1FC3D71AF33}"/>
              </a:ext>
            </a:extLst>
          </p:cNvPr>
          <p:cNvSpPr/>
          <p:nvPr/>
        </p:nvSpPr>
        <p:spPr>
          <a:xfrm>
            <a:off x="5446221" y="11627081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64A8C982-B01F-7D8D-B23D-07252774B370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166C88F-651A-24E5-32CC-193FBA75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51A207A8-6E9F-F4A9-834A-7B02AE075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9F910E2-88BD-CE09-B520-B2E23EE50AB1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D0CB47-95C9-9287-B513-23AE7CF501B2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503602-132C-5126-AC48-8B5C00F51FA5}"/>
              </a:ext>
            </a:extLst>
          </p:cNvPr>
          <p:cNvCxnSpPr>
            <a:cxnSpLocks/>
          </p:cNvCxnSpPr>
          <p:nvPr/>
        </p:nvCxnSpPr>
        <p:spPr>
          <a:xfrm>
            <a:off x="7371381" y="10251179"/>
            <a:ext cx="0" cy="13105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D1C97E-F6A7-6691-F346-63827B0E733B}"/>
              </a:ext>
            </a:extLst>
          </p:cNvPr>
          <p:cNvCxnSpPr>
            <a:cxnSpLocks/>
          </p:cNvCxnSpPr>
          <p:nvPr/>
        </p:nvCxnSpPr>
        <p:spPr>
          <a:xfrm>
            <a:off x="2891186" y="13142367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27E634-66C4-03B1-4E47-DE591C9A779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48609721-8B1B-69B1-984D-5BB20FDBBDEE}"/>
              </a:ext>
            </a:extLst>
          </p:cNvPr>
          <p:cNvSpPr/>
          <p:nvPr/>
        </p:nvSpPr>
        <p:spPr>
          <a:xfrm>
            <a:off x="11503719" y="608453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91F7EB-C9AA-46EE-6925-A606E5C11666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B86FAB3-9839-C40F-481E-72C28CB9B5B7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3C3476F-BECE-5A31-EBB9-99B1E6D1940C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D5BD79C-6023-5DD8-A46C-0D202E17ADC3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B0AF4BAB-8A23-C95C-6BC3-FB64F87E4C32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4076E49-55B1-A2B0-BEFA-D6A05A2329E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5D0FB4-8766-54ED-E1E9-22B3DD32B981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EBCAA57-D7A6-1D1B-285B-726ADA57EB72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F58DA43-F38B-0B4A-C3B4-BB4B0A4E9EE2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4A330A-7534-79EC-F357-B91BEED4D649}"/>
              </a:ext>
            </a:extLst>
          </p:cNvPr>
          <p:cNvCxnSpPr>
            <a:cxnSpLocks/>
          </p:cNvCxnSpPr>
          <p:nvPr/>
        </p:nvCxnSpPr>
        <p:spPr>
          <a:xfrm>
            <a:off x="10758389" y="6525697"/>
            <a:ext cx="636475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DEC262-1AE3-204D-EB04-7473F4578BE5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933104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32FD0A3-1DCF-0EEE-3198-2E002B0C1CF2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BBF4229-DE4C-521E-83D4-B150C124791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C0456FA-F655-8574-5ED7-E37812288102}"/>
              </a:ext>
            </a:extLst>
          </p:cNvPr>
          <p:cNvCxnSpPr>
            <a:cxnSpLocks/>
          </p:cNvCxnSpPr>
          <p:nvPr/>
        </p:nvCxnSpPr>
        <p:spPr>
          <a:xfrm flipH="1">
            <a:off x="4277936" y="10251179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D1BE198-26FE-5274-F102-FE3EBDC0655C}"/>
              </a:ext>
            </a:extLst>
          </p:cNvPr>
          <p:cNvCxnSpPr>
            <a:cxnSpLocks/>
          </p:cNvCxnSpPr>
          <p:nvPr/>
        </p:nvCxnSpPr>
        <p:spPr>
          <a:xfrm>
            <a:off x="8886407" y="10218743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7FEEE1-2571-A927-F403-D3F4FACDFA4F}"/>
              </a:ext>
            </a:extLst>
          </p:cNvPr>
          <p:cNvCxnSpPr>
            <a:cxnSpLocks/>
          </p:cNvCxnSpPr>
          <p:nvPr/>
        </p:nvCxnSpPr>
        <p:spPr>
          <a:xfrm>
            <a:off x="7390042" y="12487622"/>
            <a:ext cx="0" cy="109360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175" y="13766431"/>
            <a:ext cx="28765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30" y="1169293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2" y="10936618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8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11278285" y="605652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11053222" y="623867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>
            <a:off x="4278129" y="10316492"/>
            <a:ext cx="0" cy="142246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63FC61A-B064-0C71-D47B-6087923E9AA1}"/>
              </a:ext>
            </a:extLst>
          </p:cNvPr>
          <p:cNvCxnSpPr>
            <a:cxnSpLocks/>
          </p:cNvCxnSpPr>
          <p:nvPr/>
        </p:nvCxnSpPr>
        <p:spPr>
          <a:xfrm>
            <a:off x="7446025" y="11818336"/>
            <a:ext cx="0" cy="9121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788FC1-D1D9-FCA0-8AA7-E335A3FB44E0}"/>
              </a:ext>
            </a:extLst>
          </p:cNvPr>
          <p:cNvGrpSpPr/>
          <p:nvPr/>
        </p:nvGrpSpPr>
        <p:grpSpPr>
          <a:xfrm>
            <a:off x="5759896" y="12730471"/>
            <a:ext cx="3317123" cy="2907635"/>
            <a:chOff x="5722573" y="12674487"/>
            <a:chExt cx="3317123" cy="2907635"/>
          </a:xfrm>
        </p:grpSpPr>
        <p:pic>
          <p:nvPicPr>
            <p:cNvPr id="4" name="Picture 3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4317112C-5E93-13F6-DEEF-8EAA6FDD0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22573" y="12674487"/>
              <a:ext cx="1409700" cy="1409700"/>
            </a:xfrm>
            <a:prstGeom prst="rect">
              <a:avLst/>
            </a:prstGeom>
          </p:spPr>
        </p:pic>
        <p:pic>
          <p:nvPicPr>
            <p:cNvPr id="15" name="Picture 14" descr="A logo for a company&#10;&#10;AI-generated content may be incorrect.">
              <a:extLst>
                <a:ext uri="{FF2B5EF4-FFF2-40B4-BE49-F238E27FC236}">
                  <a16:creationId xmlns:a16="http://schemas.microsoft.com/office/drawing/2014/main" id="{B03A0ABC-098B-C812-3DA4-0300D7107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7452" y="14381372"/>
              <a:ext cx="1590182" cy="1200750"/>
            </a:xfrm>
            <a:prstGeom prst="rect">
              <a:avLst/>
            </a:prstGeom>
          </p:spPr>
        </p:pic>
        <p:pic>
          <p:nvPicPr>
            <p:cNvPr id="19" name="Picture 1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33994AF6-0DEF-2EBD-E76A-01617A7F5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8502" y="12732993"/>
              <a:ext cx="1351194" cy="1351194"/>
            </a:xfrm>
            <a:prstGeom prst="rect">
              <a:avLst/>
            </a:prstGeom>
          </p:spPr>
        </p:pic>
      </p:grpSp>
      <p:pic>
        <p:nvPicPr>
          <p:cNvPr id="25" name="Picture 24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BB203D0-3D97-1EDE-DC6D-B67CAA1D37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30" y="13097822"/>
            <a:ext cx="5116008" cy="3108274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499300" y="12726732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1418</TotalTime>
  <Words>244</Words>
  <Application>Microsoft Office PowerPoint</Application>
  <PresentationFormat>Custom</PresentationFormat>
  <Paragraphs>95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TaskTide Workflow Engine</vt:lpstr>
      <vt:lpstr>High-Level Layered Architecture</vt:lpstr>
      <vt:lpstr>PowerPoint Presentation</vt:lpstr>
      <vt:lpstr>Mapping of TaskTide Components to Pilot Job Model</vt:lpstr>
      <vt:lpstr>PowerPoint Presentation</vt:lpstr>
      <vt:lpstr>High Level Development Approach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105</cp:revision>
  <dcterms:created xsi:type="dcterms:W3CDTF">2025-07-22T15:08:42Z</dcterms:created>
  <dcterms:modified xsi:type="dcterms:W3CDTF">2025-11-13T19:29:51Z</dcterms:modified>
</cp:coreProperties>
</file>