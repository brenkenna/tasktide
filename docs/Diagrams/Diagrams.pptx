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14"/>
  </p:notesMasterIdLst>
  <p:sldIdLst>
    <p:sldId id="264" r:id="rId2"/>
    <p:sldId id="262" r:id="rId3"/>
    <p:sldId id="259" r:id="rId4"/>
    <p:sldId id="266" r:id="rId5"/>
    <p:sldId id="268" r:id="rId6"/>
    <p:sldId id="256" r:id="rId7"/>
    <p:sldId id="261" r:id="rId8"/>
    <p:sldId id="265" r:id="rId9"/>
    <p:sldId id="263" r:id="rId10"/>
    <p:sldId id="267" r:id="rId11"/>
    <p:sldId id="260" r:id="rId12"/>
    <p:sldId id="258" r:id="rId13"/>
  </p:sldIdLst>
  <p:sldSz cx="32399288" cy="233997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D2D8"/>
    <a:srgbClr val="E6EAED"/>
    <a:srgbClr val="CCD2D8"/>
    <a:srgbClr val="400020"/>
    <a:srgbClr val="800020"/>
    <a:srgbClr val="984A5B"/>
    <a:srgbClr val="4E262F"/>
    <a:srgbClr val="B56576"/>
    <a:srgbClr val="A55163"/>
    <a:srgbClr val="5228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48" autoAdjust="0"/>
    <p:restoredTop sz="95706" autoAdjust="0"/>
  </p:normalViewPr>
  <p:slideViewPr>
    <p:cSldViewPr snapToGrid="0">
      <p:cViewPr varScale="1">
        <p:scale>
          <a:sx n="28" d="100"/>
          <a:sy n="28" d="100"/>
        </p:scale>
        <p:origin x="144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77AFE8-5B80-4FD9-ACBE-C7D752115AD9}" type="doc">
      <dgm:prSet loTypeId="urn:microsoft.com/office/officeart/2009/layout/CircleArrowProcess" loCatId="cycle" qsTypeId="urn:microsoft.com/office/officeart/2005/8/quickstyle/3d1#1" qsCatId="3D" csTypeId="urn:microsoft.com/office/officeart/2005/8/colors/colorful1#1" csCatId="colorful" phldr="1"/>
      <dgm:spPr/>
      <dgm:t>
        <a:bodyPr/>
        <a:lstStyle/>
        <a:p>
          <a:endParaRPr lang="en-IE"/>
        </a:p>
      </dgm:t>
    </dgm:pt>
    <dgm:pt modelId="{4725363A-B69F-4FF0-AC74-23D7A1D4A150}">
      <dgm:prSet phldrT="[Text]" custT="1"/>
      <dgm:spPr/>
      <dgm:t>
        <a:bodyPr/>
        <a:lstStyle/>
        <a:p>
          <a:r>
            <a:rPr lang="en-IE" sz="4000" b="1" dirty="0"/>
            <a:t>ToDo</a:t>
          </a:r>
          <a:endParaRPr lang="en-IE" sz="4400" b="1" dirty="0"/>
        </a:p>
      </dgm:t>
    </dgm:pt>
    <dgm:pt modelId="{F7930E47-A171-44BB-99E0-4C749D9FF695}" type="parTrans" cxnId="{5471D4F0-C758-4091-B075-83832B982B4D}">
      <dgm:prSet/>
      <dgm:spPr/>
      <dgm:t>
        <a:bodyPr/>
        <a:lstStyle/>
        <a:p>
          <a:endParaRPr lang="en-IE"/>
        </a:p>
      </dgm:t>
    </dgm:pt>
    <dgm:pt modelId="{D513AA3E-9B9B-4AA4-87D8-CFFF650F815A}" type="sibTrans" cxnId="{5471D4F0-C758-4091-B075-83832B982B4D}">
      <dgm:prSet/>
      <dgm:spPr/>
      <dgm:t>
        <a:bodyPr/>
        <a:lstStyle/>
        <a:p>
          <a:endParaRPr lang="en-IE"/>
        </a:p>
      </dgm:t>
    </dgm:pt>
    <dgm:pt modelId="{DFC53582-58F9-4F3D-B75A-A00A5F4DA501}">
      <dgm:prSet phldrT="[Text]" custT="1"/>
      <dgm:spPr/>
      <dgm:t>
        <a:bodyPr/>
        <a:lstStyle/>
        <a:p>
          <a:r>
            <a:rPr lang="en-IE" sz="4000" b="1" dirty="0"/>
            <a:t>Locked</a:t>
          </a:r>
          <a:endParaRPr lang="en-IE" sz="4400" b="1" dirty="0"/>
        </a:p>
      </dgm:t>
    </dgm:pt>
    <dgm:pt modelId="{7FF46F2C-C396-4A15-A2B3-2E6DD1777535}" type="parTrans" cxnId="{EB9AEC57-954F-41DF-9489-4ED1358C5B41}">
      <dgm:prSet/>
      <dgm:spPr/>
      <dgm:t>
        <a:bodyPr/>
        <a:lstStyle/>
        <a:p>
          <a:endParaRPr lang="en-IE"/>
        </a:p>
      </dgm:t>
    </dgm:pt>
    <dgm:pt modelId="{1A3F3FEB-3B95-476C-B3E4-A78F6327E282}" type="sibTrans" cxnId="{EB9AEC57-954F-41DF-9489-4ED1358C5B41}">
      <dgm:prSet/>
      <dgm:spPr/>
      <dgm:t>
        <a:bodyPr/>
        <a:lstStyle/>
        <a:p>
          <a:endParaRPr lang="en-IE"/>
        </a:p>
      </dgm:t>
    </dgm:pt>
    <dgm:pt modelId="{82B2E3DA-6C6C-4017-BB49-39C721A45AC6}">
      <dgm:prSet phldrT="[Text]" custT="1"/>
      <dgm:spPr/>
      <dgm:t>
        <a:bodyPr/>
        <a:lstStyle/>
        <a:p>
          <a:r>
            <a:rPr lang="en-IE" sz="4000" b="1" dirty="0"/>
            <a:t>Done/Error</a:t>
          </a:r>
        </a:p>
      </dgm:t>
    </dgm:pt>
    <dgm:pt modelId="{571235EE-29BB-405D-ABC1-9078F1CFCAE1}" type="parTrans" cxnId="{0753B9B9-F54C-459B-BCA9-AE569D4D9D24}">
      <dgm:prSet/>
      <dgm:spPr/>
      <dgm:t>
        <a:bodyPr/>
        <a:lstStyle/>
        <a:p>
          <a:endParaRPr lang="en-IE"/>
        </a:p>
      </dgm:t>
    </dgm:pt>
    <dgm:pt modelId="{A5DEDA01-4554-443A-8154-382507D608B3}" type="sibTrans" cxnId="{0753B9B9-F54C-459B-BCA9-AE569D4D9D24}">
      <dgm:prSet/>
      <dgm:spPr/>
      <dgm:t>
        <a:bodyPr/>
        <a:lstStyle/>
        <a:p>
          <a:endParaRPr lang="en-IE"/>
        </a:p>
      </dgm:t>
    </dgm:pt>
    <dgm:pt modelId="{DC7235EC-DAE7-4F50-B016-999E9E528E8F}" type="pres">
      <dgm:prSet presAssocID="{AD77AFE8-5B80-4FD9-ACBE-C7D752115AD9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01F4B4D2-4D9A-4E50-963F-14A681614191}" type="pres">
      <dgm:prSet presAssocID="{4725363A-B69F-4FF0-AC74-23D7A1D4A150}" presName="Accent1" presStyleCnt="0"/>
      <dgm:spPr/>
    </dgm:pt>
    <dgm:pt modelId="{30AB2770-B492-48AD-84C5-695BDA28E134}" type="pres">
      <dgm:prSet presAssocID="{4725363A-B69F-4FF0-AC74-23D7A1D4A150}" presName="Accent" presStyleLbl="node1" presStyleIdx="0" presStyleCnt="3"/>
      <dgm:spPr>
        <a:ln w="57150">
          <a:solidFill>
            <a:schemeClr val="tx1"/>
          </a:solidFill>
        </a:ln>
      </dgm:spPr>
    </dgm:pt>
    <dgm:pt modelId="{37706D51-2842-4F8A-80D2-54D86E34456B}" type="pres">
      <dgm:prSet presAssocID="{4725363A-B69F-4FF0-AC74-23D7A1D4A150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606FEBF6-ACE7-4AF8-B41C-B0C7ED28D7A7}" type="pres">
      <dgm:prSet presAssocID="{DFC53582-58F9-4F3D-B75A-A00A5F4DA501}" presName="Accent2" presStyleCnt="0"/>
      <dgm:spPr/>
    </dgm:pt>
    <dgm:pt modelId="{668DC389-6720-4236-8011-BFAB07D2AE6E}" type="pres">
      <dgm:prSet presAssocID="{DFC53582-58F9-4F3D-B75A-A00A5F4DA501}" presName="Accent" presStyleLbl="node1" presStyleIdx="1" presStyleCnt="3"/>
      <dgm:spPr>
        <a:ln w="57150">
          <a:solidFill>
            <a:schemeClr val="tx1"/>
          </a:solidFill>
        </a:ln>
      </dgm:spPr>
    </dgm:pt>
    <dgm:pt modelId="{1EF67315-41CD-4E1F-B065-C474DA2F6D76}" type="pres">
      <dgm:prSet presAssocID="{DFC53582-58F9-4F3D-B75A-A00A5F4DA501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65B900D4-05FC-4429-A661-2DA5F4F67EE0}" type="pres">
      <dgm:prSet presAssocID="{82B2E3DA-6C6C-4017-BB49-39C721A45AC6}" presName="Accent3" presStyleCnt="0"/>
      <dgm:spPr/>
    </dgm:pt>
    <dgm:pt modelId="{19D1F821-3860-4F77-A074-BB6401E6326E}" type="pres">
      <dgm:prSet presAssocID="{82B2E3DA-6C6C-4017-BB49-39C721A45AC6}" presName="Accent" presStyleLbl="node1" presStyleIdx="2" presStyleCnt="3"/>
      <dgm:spPr>
        <a:ln w="57150">
          <a:solidFill>
            <a:schemeClr val="tx1"/>
          </a:solidFill>
        </a:ln>
      </dgm:spPr>
    </dgm:pt>
    <dgm:pt modelId="{FA32A094-D9B4-4A76-8D4C-335142121065}" type="pres">
      <dgm:prSet presAssocID="{82B2E3DA-6C6C-4017-BB49-39C721A45AC6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F4D5153A-41B4-4DF8-863A-9B2CF56D9FEC}" type="presOf" srcId="{82B2E3DA-6C6C-4017-BB49-39C721A45AC6}" destId="{FA32A094-D9B4-4A76-8D4C-335142121065}" srcOrd="0" destOrd="0" presId="urn:microsoft.com/office/officeart/2009/layout/CircleArrowProcess"/>
    <dgm:cxn modelId="{EB9AEC57-954F-41DF-9489-4ED1358C5B41}" srcId="{AD77AFE8-5B80-4FD9-ACBE-C7D752115AD9}" destId="{DFC53582-58F9-4F3D-B75A-A00A5F4DA501}" srcOrd="1" destOrd="0" parTransId="{7FF46F2C-C396-4A15-A2B3-2E6DD1777535}" sibTransId="{1A3F3FEB-3B95-476C-B3E4-A78F6327E282}"/>
    <dgm:cxn modelId="{2A893E82-CD69-4576-A463-31CD685214CF}" type="presOf" srcId="{4725363A-B69F-4FF0-AC74-23D7A1D4A150}" destId="{37706D51-2842-4F8A-80D2-54D86E34456B}" srcOrd="0" destOrd="0" presId="urn:microsoft.com/office/officeart/2009/layout/CircleArrowProcess"/>
    <dgm:cxn modelId="{0753B9B9-F54C-459B-BCA9-AE569D4D9D24}" srcId="{AD77AFE8-5B80-4FD9-ACBE-C7D752115AD9}" destId="{82B2E3DA-6C6C-4017-BB49-39C721A45AC6}" srcOrd="2" destOrd="0" parTransId="{571235EE-29BB-405D-ABC1-9078F1CFCAE1}" sibTransId="{A5DEDA01-4554-443A-8154-382507D608B3}"/>
    <dgm:cxn modelId="{2CE083BE-9DAB-4202-B4EA-89E927E28510}" type="presOf" srcId="{DFC53582-58F9-4F3D-B75A-A00A5F4DA501}" destId="{1EF67315-41CD-4E1F-B065-C474DA2F6D76}" srcOrd="0" destOrd="0" presId="urn:microsoft.com/office/officeart/2009/layout/CircleArrowProcess"/>
    <dgm:cxn modelId="{1B5038D8-DE7B-4465-B919-D84C22F902C7}" type="presOf" srcId="{AD77AFE8-5B80-4FD9-ACBE-C7D752115AD9}" destId="{DC7235EC-DAE7-4F50-B016-999E9E528E8F}" srcOrd="0" destOrd="0" presId="urn:microsoft.com/office/officeart/2009/layout/CircleArrowProcess"/>
    <dgm:cxn modelId="{5471D4F0-C758-4091-B075-83832B982B4D}" srcId="{AD77AFE8-5B80-4FD9-ACBE-C7D752115AD9}" destId="{4725363A-B69F-4FF0-AC74-23D7A1D4A150}" srcOrd="0" destOrd="0" parTransId="{F7930E47-A171-44BB-99E0-4C749D9FF695}" sibTransId="{D513AA3E-9B9B-4AA4-87D8-CFFF650F815A}"/>
    <dgm:cxn modelId="{5803C2A3-28FB-45C2-AD89-817509F98779}" type="presParOf" srcId="{DC7235EC-DAE7-4F50-B016-999E9E528E8F}" destId="{01F4B4D2-4D9A-4E50-963F-14A681614191}" srcOrd="0" destOrd="0" presId="urn:microsoft.com/office/officeart/2009/layout/CircleArrowProcess"/>
    <dgm:cxn modelId="{383EEC82-5719-40A3-91DB-F8244E54E50A}" type="presParOf" srcId="{01F4B4D2-4D9A-4E50-963F-14A681614191}" destId="{30AB2770-B492-48AD-84C5-695BDA28E134}" srcOrd="0" destOrd="0" presId="urn:microsoft.com/office/officeart/2009/layout/CircleArrowProcess"/>
    <dgm:cxn modelId="{4334CCDE-68B8-4EDB-BF84-4B5E4C654668}" type="presParOf" srcId="{DC7235EC-DAE7-4F50-B016-999E9E528E8F}" destId="{37706D51-2842-4F8A-80D2-54D86E34456B}" srcOrd="1" destOrd="0" presId="urn:microsoft.com/office/officeart/2009/layout/CircleArrowProcess"/>
    <dgm:cxn modelId="{68AE6C51-DA5C-44CD-BA10-CDAFC42A789A}" type="presParOf" srcId="{DC7235EC-DAE7-4F50-B016-999E9E528E8F}" destId="{606FEBF6-ACE7-4AF8-B41C-B0C7ED28D7A7}" srcOrd="2" destOrd="0" presId="urn:microsoft.com/office/officeart/2009/layout/CircleArrowProcess"/>
    <dgm:cxn modelId="{1AC86658-2F7A-4CF0-8F66-5227A407259A}" type="presParOf" srcId="{606FEBF6-ACE7-4AF8-B41C-B0C7ED28D7A7}" destId="{668DC389-6720-4236-8011-BFAB07D2AE6E}" srcOrd="0" destOrd="0" presId="urn:microsoft.com/office/officeart/2009/layout/CircleArrowProcess"/>
    <dgm:cxn modelId="{CA7D2F86-64D8-461F-9C4C-C81417977E39}" type="presParOf" srcId="{DC7235EC-DAE7-4F50-B016-999E9E528E8F}" destId="{1EF67315-41CD-4E1F-B065-C474DA2F6D76}" srcOrd="3" destOrd="0" presId="urn:microsoft.com/office/officeart/2009/layout/CircleArrowProcess"/>
    <dgm:cxn modelId="{2F16EF9E-6043-4120-94FA-86E4C6A30423}" type="presParOf" srcId="{DC7235EC-DAE7-4F50-B016-999E9E528E8F}" destId="{65B900D4-05FC-4429-A661-2DA5F4F67EE0}" srcOrd="4" destOrd="0" presId="urn:microsoft.com/office/officeart/2009/layout/CircleArrowProcess"/>
    <dgm:cxn modelId="{77B485DA-1AC2-4F6C-A505-9CBB0E452CDF}" type="presParOf" srcId="{65B900D4-05FC-4429-A661-2DA5F4F67EE0}" destId="{19D1F821-3860-4F77-A074-BB6401E6326E}" srcOrd="0" destOrd="0" presId="urn:microsoft.com/office/officeart/2009/layout/CircleArrowProcess"/>
    <dgm:cxn modelId="{A53F0B68-7682-4F33-A2A3-576210BFA154}" type="presParOf" srcId="{DC7235EC-DAE7-4F50-B016-999E9E528E8F}" destId="{FA32A094-D9B4-4A76-8D4C-335142121065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36D2AB-18D2-4540-86EF-97DAA68F47BD}" type="doc">
      <dgm:prSet loTypeId="urn:microsoft.com/office/officeart/2005/8/layout/process4" loCatId="process" qsTypeId="urn:microsoft.com/office/officeart/2005/8/quickstyle/3d1#2" qsCatId="3D" csTypeId="urn:microsoft.com/office/officeart/2005/8/colors/accent1_2#1" csCatId="accent1" phldr="1"/>
      <dgm:spPr/>
      <dgm:t>
        <a:bodyPr/>
        <a:lstStyle/>
        <a:p>
          <a:endParaRPr lang="en-IE"/>
        </a:p>
      </dgm:t>
    </dgm:pt>
    <dgm:pt modelId="{A147FCF5-872C-402E-8FFA-7F62F8AEC165}">
      <dgm:prSet phldrT="[Text]" custT="1"/>
      <dgm:spPr>
        <a:ln w="38100">
          <a:solidFill>
            <a:schemeClr val="tx1"/>
          </a:solidFill>
        </a:ln>
      </dgm:spPr>
      <dgm:t>
        <a:bodyPr/>
        <a:lstStyle/>
        <a:p>
          <a:r>
            <a:rPr lang="en-IE" sz="8000" b="1" dirty="0"/>
            <a:t>i). Workflow Orchestration</a:t>
          </a:r>
        </a:p>
      </dgm:t>
    </dgm:pt>
    <dgm:pt modelId="{023FA848-FBA0-4C53-878C-D0304385935A}" type="parTrans" cxnId="{8B432C63-7580-4035-9DEC-014222462859}">
      <dgm:prSet/>
      <dgm:spPr/>
      <dgm:t>
        <a:bodyPr/>
        <a:lstStyle/>
        <a:p>
          <a:endParaRPr lang="en-IE"/>
        </a:p>
      </dgm:t>
    </dgm:pt>
    <dgm:pt modelId="{A9E9F8DD-5CCA-40F8-A82E-6599C0DAC405}" type="sibTrans" cxnId="{8B432C63-7580-4035-9DEC-014222462859}">
      <dgm:prSet/>
      <dgm:spPr/>
      <dgm:t>
        <a:bodyPr/>
        <a:lstStyle/>
        <a:p>
          <a:endParaRPr lang="en-IE"/>
        </a:p>
      </dgm:t>
    </dgm:pt>
    <dgm:pt modelId="{C9D27329-5219-4575-8C28-F198FA7C7E21}">
      <dgm:prSet phldrT="[Text]" custT="1"/>
      <dgm:spPr>
        <a:ln w="38100">
          <a:solidFill>
            <a:schemeClr val="tx1"/>
          </a:solidFill>
        </a:ln>
      </dgm:spPr>
      <dgm:t>
        <a:bodyPr/>
        <a:lstStyle/>
        <a:p>
          <a:r>
            <a:rPr lang="en-IE" sz="4400" b="1" dirty="0"/>
            <a:t>Batch computing</a:t>
          </a:r>
        </a:p>
      </dgm:t>
    </dgm:pt>
    <dgm:pt modelId="{4DC991F5-7EAA-42B5-9763-B81A6440FC1D}" type="parTrans" cxnId="{93CA0631-D0E1-4549-B58F-5AEAAB69B0A6}">
      <dgm:prSet/>
      <dgm:spPr/>
      <dgm:t>
        <a:bodyPr/>
        <a:lstStyle/>
        <a:p>
          <a:endParaRPr lang="en-IE"/>
        </a:p>
      </dgm:t>
    </dgm:pt>
    <dgm:pt modelId="{11CC70F2-8FA3-4E4E-83A1-23C4FE696FBD}" type="sibTrans" cxnId="{93CA0631-D0E1-4549-B58F-5AEAAB69B0A6}">
      <dgm:prSet/>
      <dgm:spPr/>
      <dgm:t>
        <a:bodyPr/>
        <a:lstStyle/>
        <a:p>
          <a:endParaRPr lang="en-IE"/>
        </a:p>
      </dgm:t>
    </dgm:pt>
    <dgm:pt modelId="{0E7A854B-37EA-407C-A97F-3A739191418A}">
      <dgm:prSet phldrT="[Text]" custT="1"/>
      <dgm:spPr>
        <a:ln w="38100">
          <a:solidFill>
            <a:schemeClr val="tx1"/>
          </a:solidFill>
        </a:ln>
      </dgm:spPr>
      <dgm:t>
        <a:bodyPr/>
        <a:lstStyle/>
        <a:p>
          <a:r>
            <a:rPr lang="en-IE" sz="4400" b="1" dirty="0"/>
            <a:t>Validates task orchestration across pilots</a:t>
          </a:r>
        </a:p>
      </dgm:t>
    </dgm:pt>
    <dgm:pt modelId="{AF30101B-D9D7-4112-A369-FBA7968528B2}" type="parTrans" cxnId="{BCDBDB62-C3B5-49C6-97FA-E967A4F76A6C}">
      <dgm:prSet/>
      <dgm:spPr/>
      <dgm:t>
        <a:bodyPr/>
        <a:lstStyle/>
        <a:p>
          <a:endParaRPr lang="en-IE"/>
        </a:p>
      </dgm:t>
    </dgm:pt>
    <dgm:pt modelId="{711A1785-5017-41F7-B6D5-1B80308B8FF2}" type="sibTrans" cxnId="{BCDBDB62-C3B5-49C6-97FA-E967A4F76A6C}">
      <dgm:prSet/>
      <dgm:spPr/>
      <dgm:t>
        <a:bodyPr/>
        <a:lstStyle/>
        <a:p>
          <a:endParaRPr lang="en-IE"/>
        </a:p>
      </dgm:t>
    </dgm:pt>
    <dgm:pt modelId="{4D999CEA-99A2-40B3-ACFE-2DDA830830D4}">
      <dgm:prSet phldrT="[Text]" custT="1"/>
      <dgm:spPr>
        <a:ln w="38100">
          <a:solidFill>
            <a:schemeClr val="tx1"/>
          </a:solidFill>
        </a:ln>
      </dgm:spPr>
      <dgm:t>
        <a:bodyPr/>
        <a:lstStyle/>
        <a:p>
          <a:r>
            <a:rPr lang="en-IE" sz="8000" b="1" dirty="0"/>
            <a:t>ii). Task Binding Semantics</a:t>
          </a:r>
        </a:p>
      </dgm:t>
    </dgm:pt>
    <dgm:pt modelId="{63D0C301-A3D8-4900-A21C-4D4CA4636897}" type="parTrans" cxnId="{666E48F8-172A-4B9D-8257-4FB3F5D02377}">
      <dgm:prSet/>
      <dgm:spPr/>
      <dgm:t>
        <a:bodyPr/>
        <a:lstStyle/>
        <a:p>
          <a:endParaRPr lang="en-IE"/>
        </a:p>
      </dgm:t>
    </dgm:pt>
    <dgm:pt modelId="{F78658CE-FCEA-4831-A7C9-BF133CDED4D9}" type="sibTrans" cxnId="{666E48F8-172A-4B9D-8257-4FB3F5D02377}">
      <dgm:prSet/>
      <dgm:spPr/>
      <dgm:t>
        <a:bodyPr/>
        <a:lstStyle/>
        <a:p>
          <a:endParaRPr lang="en-IE"/>
        </a:p>
      </dgm:t>
    </dgm:pt>
    <dgm:pt modelId="{475C2055-1A5C-4F93-BCF0-4362192FEDE2}">
      <dgm:prSet phldrT="[Text]" custT="1"/>
      <dgm:spPr>
        <a:ln w="38100">
          <a:solidFill>
            <a:schemeClr val="tx1"/>
          </a:solidFill>
        </a:ln>
      </dgm:spPr>
      <dgm:t>
        <a:bodyPr/>
        <a:lstStyle/>
        <a:p>
          <a:r>
            <a:rPr lang="en-IE" sz="4400" b="1" dirty="0"/>
            <a:t>Serialized function runner</a:t>
          </a:r>
        </a:p>
      </dgm:t>
    </dgm:pt>
    <dgm:pt modelId="{57C885D4-B9D5-44AF-BA3E-95F85B0C4C85}" type="parTrans" cxnId="{B95C229C-BFA4-4E7F-809D-E96E94AB46B1}">
      <dgm:prSet/>
      <dgm:spPr/>
      <dgm:t>
        <a:bodyPr/>
        <a:lstStyle/>
        <a:p>
          <a:endParaRPr lang="en-IE"/>
        </a:p>
      </dgm:t>
    </dgm:pt>
    <dgm:pt modelId="{B58CF49D-66C4-492C-A689-EEBD464FF5AB}" type="sibTrans" cxnId="{B95C229C-BFA4-4E7F-809D-E96E94AB46B1}">
      <dgm:prSet/>
      <dgm:spPr/>
      <dgm:t>
        <a:bodyPr/>
        <a:lstStyle/>
        <a:p>
          <a:endParaRPr lang="en-IE"/>
        </a:p>
      </dgm:t>
    </dgm:pt>
    <dgm:pt modelId="{4F50E452-5834-4018-8DFF-B75D124C036A}">
      <dgm:prSet phldrT="[Text]" custT="1"/>
      <dgm:spPr>
        <a:ln w="38100">
          <a:solidFill>
            <a:schemeClr val="tx1"/>
          </a:solidFill>
        </a:ln>
      </dgm:spPr>
      <dgm:t>
        <a:bodyPr/>
        <a:lstStyle/>
        <a:p>
          <a:r>
            <a:rPr lang="en-IE" sz="4400" b="1" dirty="0"/>
            <a:t>Validates explicit binding semantics (early vs late)</a:t>
          </a:r>
        </a:p>
      </dgm:t>
    </dgm:pt>
    <dgm:pt modelId="{DB41BBB4-9AA8-49FB-AEE9-BDB37221A1CC}" type="parTrans" cxnId="{660948F6-410D-460D-81D5-714AFD1D381D}">
      <dgm:prSet/>
      <dgm:spPr/>
      <dgm:t>
        <a:bodyPr/>
        <a:lstStyle/>
        <a:p>
          <a:endParaRPr lang="en-IE"/>
        </a:p>
      </dgm:t>
    </dgm:pt>
    <dgm:pt modelId="{2B9FE0FB-368C-4C11-8492-76D40C878944}" type="sibTrans" cxnId="{660948F6-410D-460D-81D5-714AFD1D381D}">
      <dgm:prSet/>
      <dgm:spPr/>
      <dgm:t>
        <a:bodyPr/>
        <a:lstStyle/>
        <a:p>
          <a:endParaRPr lang="en-IE"/>
        </a:p>
      </dgm:t>
    </dgm:pt>
    <dgm:pt modelId="{A50E33B6-DC31-4625-B7FA-95FFDF7345DB}">
      <dgm:prSet phldrT="[Text]" custT="1"/>
      <dgm:spPr>
        <a:ln w="38100">
          <a:solidFill>
            <a:schemeClr val="tx1"/>
          </a:solidFill>
        </a:ln>
      </dgm:spPr>
      <dgm:t>
        <a:bodyPr/>
        <a:lstStyle/>
        <a:p>
          <a:r>
            <a:rPr lang="en-IE" sz="8000" b="1" dirty="0"/>
            <a:t>iii). Containerized Deployment</a:t>
          </a:r>
          <a:endParaRPr lang="en-IE" sz="6600" b="1" dirty="0"/>
        </a:p>
      </dgm:t>
    </dgm:pt>
    <dgm:pt modelId="{A7AB8128-93C5-4A74-8036-EF7B01CFFEE9}" type="parTrans" cxnId="{959C6A08-27DF-47D6-9B66-DA641F7D940E}">
      <dgm:prSet/>
      <dgm:spPr/>
      <dgm:t>
        <a:bodyPr/>
        <a:lstStyle/>
        <a:p>
          <a:endParaRPr lang="en-IE"/>
        </a:p>
      </dgm:t>
    </dgm:pt>
    <dgm:pt modelId="{736A49DB-336A-4637-ACEC-4A4F70A87822}" type="sibTrans" cxnId="{959C6A08-27DF-47D6-9B66-DA641F7D940E}">
      <dgm:prSet/>
      <dgm:spPr/>
      <dgm:t>
        <a:bodyPr/>
        <a:lstStyle/>
        <a:p>
          <a:endParaRPr lang="en-IE"/>
        </a:p>
      </dgm:t>
    </dgm:pt>
    <dgm:pt modelId="{1550EBB1-3E8A-4444-A1CB-728671E739D9}">
      <dgm:prSet phldrT="[Text]" custT="1"/>
      <dgm:spPr>
        <a:ln w="38100">
          <a:solidFill>
            <a:schemeClr val="tx1"/>
          </a:solidFill>
        </a:ln>
      </dgm:spPr>
      <dgm:t>
        <a:bodyPr/>
        <a:lstStyle/>
        <a:p>
          <a:r>
            <a:rPr lang="en-IE" sz="4400" b="1" dirty="0"/>
            <a:t>AI play time optimizer</a:t>
          </a:r>
        </a:p>
      </dgm:t>
    </dgm:pt>
    <dgm:pt modelId="{32899119-31C1-4B31-8ECF-4586BABA58D4}" type="parTrans" cxnId="{ED435997-8F2D-4DBD-ABF8-B74B739979B0}">
      <dgm:prSet/>
      <dgm:spPr/>
      <dgm:t>
        <a:bodyPr/>
        <a:lstStyle/>
        <a:p>
          <a:endParaRPr lang="en-IE"/>
        </a:p>
      </dgm:t>
    </dgm:pt>
    <dgm:pt modelId="{9B5E1A06-E163-4B01-A622-E03D5AFA8104}" type="sibTrans" cxnId="{ED435997-8F2D-4DBD-ABF8-B74B739979B0}">
      <dgm:prSet/>
      <dgm:spPr/>
      <dgm:t>
        <a:bodyPr/>
        <a:lstStyle/>
        <a:p>
          <a:endParaRPr lang="en-IE"/>
        </a:p>
      </dgm:t>
    </dgm:pt>
    <dgm:pt modelId="{F87B134D-0DC2-4772-90D6-BABD7BD5BC76}">
      <dgm:prSet phldrT="[Text]" custT="1"/>
      <dgm:spPr>
        <a:ln w="38100">
          <a:solidFill>
            <a:schemeClr val="tx1"/>
          </a:solidFill>
        </a:ln>
      </dgm:spPr>
      <dgm:t>
        <a:bodyPr/>
        <a:lstStyle/>
        <a:p>
          <a:r>
            <a:rPr lang="en-IE" sz="4400" b="1" dirty="0"/>
            <a:t>Validate containerized workloads</a:t>
          </a:r>
        </a:p>
      </dgm:t>
    </dgm:pt>
    <dgm:pt modelId="{2E6F75F3-F662-4A68-9323-758B5EFFF8B7}" type="parTrans" cxnId="{C12C3EC6-91DA-4D90-BA1A-0D2BDB5392CD}">
      <dgm:prSet/>
      <dgm:spPr/>
      <dgm:t>
        <a:bodyPr/>
        <a:lstStyle/>
        <a:p>
          <a:endParaRPr lang="en-IE"/>
        </a:p>
      </dgm:t>
    </dgm:pt>
    <dgm:pt modelId="{0A75DA54-DE29-44C8-8B8A-7569270B07DC}" type="sibTrans" cxnId="{C12C3EC6-91DA-4D90-BA1A-0D2BDB5392CD}">
      <dgm:prSet/>
      <dgm:spPr/>
      <dgm:t>
        <a:bodyPr/>
        <a:lstStyle/>
        <a:p>
          <a:endParaRPr lang="en-IE"/>
        </a:p>
      </dgm:t>
    </dgm:pt>
    <dgm:pt modelId="{28E7254B-914D-454C-9420-190BF7BC8B3F}">
      <dgm:prSet phldrT="[Text]" custT="1"/>
      <dgm:spPr>
        <a:ln w="38100">
          <a:solidFill>
            <a:schemeClr val="tx1"/>
          </a:solidFill>
        </a:ln>
      </dgm:spPr>
      <dgm:t>
        <a:bodyPr/>
        <a:lstStyle/>
        <a:p>
          <a:r>
            <a:rPr lang="en-IE" sz="4400" b="1" dirty="0"/>
            <a:t>Service operation execution</a:t>
          </a:r>
        </a:p>
      </dgm:t>
    </dgm:pt>
    <dgm:pt modelId="{8F0A91F8-582C-4A33-8B33-F4735279C0A7}" type="parTrans" cxnId="{39BC804A-82BB-4A5F-A919-C53DC23D8C15}">
      <dgm:prSet/>
      <dgm:spPr/>
      <dgm:t>
        <a:bodyPr/>
        <a:lstStyle/>
        <a:p>
          <a:endParaRPr lang="en-IE"/>
        </a:p>
      </dgm:t>
    </dgm:pt>
    <dgm:pt modelId="{8D5BCE3D-5A36-461F-ABB5-D2E303C418C4}" type="sibTrans" cxnId="{39BC804A-82BB-4A5F-A919-C53DC23D8C15}">
      <dgm:prSet/>
      <dgm:spPr/>
      <dgm:t>
        <a:bodyPr/>
        <a:lstStyle/>
        <a:p>
          <a:endParaRPr lang="en-IE"/>
        </a:p>
      </dgm:t>
    </dgm:pt>
    <dgm:pt modelId="{A68E66D0-FC3E-4696-AEE9-FA917CE8B43F}">
      <dgm:prSet phldrT="[Text]" custT="1"/>
      <dgm:spPr>
        <a:ln w="38100">
          <a:solidFill>
            <a:schemeClr val="tx1"/>
          </a:solidFill>
        </a:ln>
      </dgm:spPr>
      <dgm:t>
        <a:bodyPr/>
        <a:lstStyle/>
        <a:p>
          <a:r>
            <a:rPr lang="en-IE" sz="4400" b="1" dirty="0"/>
            <a:t>Workflow acquisition policy and REST integration</a:t>
          </a:r>
        </a:p>
      </dgm:t>
    </dgm:pt>
    <dgm:pt modelId="{0BC1C561-C6CF-4EE1-9459-E0E77208A87F}" type="parTrans" cxnId="{F50111F6-A6EB-47CE-8260-B7A1AB99D369}">
      <dgm:prSet/>
      <dgm:spPr/>
      <dgm:t>
        <a:bodyPr/>
        <a:lstStyle/>
        <a:p>
          <a:endParaRPr lang="en-IE"/>
        </a:p>
      </dgm:t>
    </dgm:pt>
    <dgm:pt modelId="{979997D5-F373-4E06-9823-A469297F2E86}" type="sibTrans" cxnId="{F50111F6-A6EB-47CE-8260-B7A1AB99D369}">
      <dgm:prSet/>
      <dgm:spPr/>
      <dgm:t>
        <a:bodyPr/>
        <a:lstStyle/>
        <a:p>
          <a:endParaRPr lang="en-IE"/>
        </a:p>
      </dgm:t>
    </dgm:pt>
    <dgm:pt modelId="{51E22944-1523-458B-8828-B060A21B0734}">
      <dgm:prSet phldrT="[Text]" custT="1"/>
      <dgm:spPr>
        <a:ln w="38100">
          <a:solidFill>
            <a:schemeClr val="tx1"/>
          </a:solidFill>
        </a:ln>
      </dgm:spPr>
      <dgm:t>
        <a:bodyPr/>
        <a:lstStyle/>
        <a:p>
          <a:r>
            <a:rPr lang="en-IE" sz="4400" b="1" dirty="0"/>
            <a:t>Operational across relational        &amp; non-relational databases</a:t>
          </a:r>
        </a:p>
      </dgm:t>
    </dgm:pt>
    <dgm:pt modelId="{3DF91E0F-97D3-4C63-8906-8F506DA31CAE}" type="parTrans" cxnId="{313B8469-A1FD-4F09-887E-E3142279E0D5}">
      <dgm:prSet/>
      <dgm:spPr/>
      <dgm:t>
        <a:bodyPr/>
        <a:lstStyle/>
        <a:p>
          <a:endParaRPr lang="en-IE"/>
        </a:p>
      </dgm:t>
    </dgm:pt>
    <dgm:pt modelId="{56CDA8DD-B1A5-4AB8-AF97-E4AD7080C76E}" type="sibTrans" cxnId="{313B8469-A1FD-4F09-887E-E3142279E0D5}">
      <dgm:prSet/>
      <dgm:spPr/>
      <dgm:t>
        <a:bodyPr/>
        <a:lstStyle/>
        <a:p>
          <a:endParaRPr lang="en-IE"/>
        </a:p>
      </dgm:t>
    </dgm:pt>
    <dgm:pt modelId="{A6E38CAE-DC8A-4A4F-BC73-1AEC372FC167}" type="pres">
      <dgm:prSet presAssocID="{7536D2AB-18D2-4540-86EF-97DAA68F47BD}" presName="Name0" presStyleCnt="0">
        <dgm:presLayoutVars>
          <dgm:dir/>
          <dgm:animLvl val="lvl"/>
          <dgm:resizeHandles val="exact"/>
        </dgm:presLayoutVars>
      </dgm:prSet>
      <dgm:spPr/>
    </dgm:pt>
    <dgm:pt modelId="{555A3F28-1E25-47B1-AA96-93AB9EB21F31}" type="pres">
      <dgm:prSet presAssocID="{A50E33B6-DC31-4625-B7FA-95FFDF7345DB}" presName="boxAndChildren" presStyleCnt="0"/>
      <dgm:spPr/>
    </dgm:pt>
    <dgm:pt modelId="{C38CF6F9-DC53-4200-9C30-5EC6A4B6A3DD}" type="pres">
      <dgm:prSet presAssocID="{A50E33B6-DC31-4625-B7FA-95FFDF7345DB}" presName="parentTextBox" presStyleLbl="node1" presStyleIdx="0" presStyleCnt="3"/>
      <dgm:spPr/>
    </dgm:pt>
    <dgm:pt modelId="{32DFF38E-0B8C-4811-8E25-D1D460553EEF}" type="pres">
      <dgm:prSet presAssocID="{A50E33B6-DC31-4625-B7FA-95FFDF7345DB}" presName="entireBox" presStyleLbl="node1" presStyleIdx="0" presStyleCnt="3" custLinFactNeighborY="5353"/>
      <dgm:spPr/>
    </dgm:pt>
    <dgm:pt modelId="{2D9853DB-9952-41DA-9459-C0F92D4048FC}" type="pres">
      <dgm:prSet presAssocID="{A50E33B6-DC31-4625-B7FA-95FFDF7345DB}" presName="descendantBox" presStyleCnt="0"/>
      <dgm:spPr/>
    </dgm:pt>
    <dgm:pt modelId="{2147C4C3-E4ED-44EA-8A74-5AB07B9224C6}" type="pres">
      <dgm:prSet presAssocID="{1550EBB1-3E8A-4444-A1CB-728671E739D9}" presName="childTextBox" presStyleLbl="fgAccFollowNode1" presStyleIdx="0" presStyleCnt="9" custLinFactNeighborX="-536" custLinFactNeighborY="4503">
        <dgm:presLayoutVars>
          <dgm:bulletEnabled val="1"/>
        </dgm:presLayoutVars>
      </dgm:prSet>
      <dgm:spPr/>
    </dgm:pt>
    <dgm:pt modelId="{EF0D8E2E-611F-48CE-B1FC-FF5FEBAA646D}" type="pres">
      <dgm:prSet presAssocID="{F87B134D-0DC2-4772-90D6-BABD7BD5BC76}" presName="childTextBox" presStyleLbl="fgAccFollowNode1" presStyleIdx="1" presStyleCnt="9" custLinFactNeighborX="-364" custLinFactNeighborY="6026">
        <dgm:presLayoutVars>
          <dgm:bulletEnabled val="1"/>
        </dgm:presLayoutVars>
      </dgm:prSet>
      <dgm:spPr/>
    </dgm:pt>
    <dgm:pt modelId="{A26E17A3-6ADC-4207-BAA9-6F37A7025026}" type="pres">
      <dgm:prSet presAssocID="{A68E66D0-FC3E-4696-AEE9-FA917CE8B43F}" presName="childTextBox" presStyleLbl="fgAccFollowNode1" presStyleIdx="2" presStyleCnt="9" custLinFactNeighborX="0" custLinFactNeighborY="4503">
        <dgm:presLayoutVars>
          <dgm:bulletEnabled val="1"/>
        </dgm:presLayoutVars>
      </dgm:prSet>
      <dgm:spPr/>
    </dgm:pt>
    <dgm:pt modelId="{1316DF51-73D5-42A2-A129-8BE6AE24E91D}" type="pres">
      <dgm:prSet presAssocID="{F78658CE-FCEA-4831-A7C9-BF133CDED4D9}" presName="sp" presStyleCnt="0"/>
      <dgm:spPr/>
    </dgm:pt>
    <dgm:pt modelId="{B8F9DB49-CD09-45A9-B2C9-CE22CE971DE6}" type="pres">
      <dgm:prSet presAssocID="{4D999CEA-99A2-40B3-ACFE-2DDA830830D4}" presName="arrowAndChildren" presStyleCnt="0"/>
      <dgm:spPr/>
    </dgm:pt>
    <dgm:pt modelId="{EC217E12-E4E2-4324-9106-BE0B637A87F8}" type="pres">
      <dgm:prSet presAssocID="{4D999CEA-99A2-40B3-ACFE-2DDA830830D4}" presName="parentTextArrow" presStyleLbl="node1" presStyleIdx="0" presStyleCnt="3"/>
      <dgm:spPr/>
    </dgm:pt>
    <dgm:pt modelId="{B5901160-2EED-4BC1-9CD9-CBC7C725C48E}" type="pres">
      <dgm:prSet presAssocID="{4D999CEA-99A2-40B3-ACFE-2DDA830830D4}" presName="arrow" presStyleLbl="node1" presStyleIdx="1" presStyleCnt="3"/>
      <dgm:spPr/>
    </dgm:pt>
    <dgm:pt modelId="{E6E30F24-75D5-41DC-BD30-BCEEDAB3EDA1}" type="pres">
      <dgm:prSet presAssocID="{4D999CEA-99A2-40B3-ACFE-2DDA830830D4}" presName="descendantArrow" presStyleCnt="0"/>
      <dgm:spPr/>
    </dgm:pt>
    <dgm:pt modelId="{9CE9A027-D096-4DBA-9F41-ACB337DEDCA0}" type="pres">
      <dgm:prSet presAssocID="{475C2055-1A5C-4F93-BCF0-4362192FEDE2}" presName="childTextArrow" presStyleLbl="fgAccFollowNode1" presStyleIdx="3" presStyleCnt="9" custLinFactNeighborX="65" custLinFactNeighborY="1914">
        <dgm:presLayoutVars>
          <dgm:bulletEnabled val="1"/>
        </dgm:presLayoutVars>
      </dgm:prSet>
      <dgm:spPr/>
    </dgm:pt>
    <dgm:pt modelId="{87C3872B-7E02-4085-B647-9CD9B06A0313}" type="pres">
      <dgm:prSet presAssocID="{4F50E452-5834-4018-8DFF-B75D124C036A}" presName="childTextArrow" presStyleLbl="fgAccFollowNode1" presStyleIdx="4" presStyleCnt="9" custLinFactNeighborY="1914">
        <dgm:presLayoutVars>
          <dgm:bulletEnabled val="1"/>
        </dgm:presLayoutVars>
      </dgm:prSet>
      <dgm:spPr/>
    </dgm:pt>
    <dgm:pt modelId="{6A9F14BE-80C0-4B02-B21C-6C233AACAF51}" type="pres">
      <dgm:prSet presAssocID="{28E7254B-914D-454C-9420-190BF7BC8B3F}" presName="childTextArrow" presStyleLbl="fgAccFollowNode1" presStyleIdx="5" presStyleCnt="9" custLinFactNeighborX="147" custLinFactNeighborY="1914">
        <dgm:presLayoutVars>
          <dgm:bulletEnabled val="1"/>
        </dgm:presLayoutVars>
      </dgm:prSet>
      <dgm:spPr/>
    </dgm:pt>
    <dgm:pt modelId="{9CE618A8-6BAD-4BC3-A55A-3B35D7AC190A}" type="pres">
      <dgm:prSet presAssocID="{A9E9F8DD-5CCA-40F8-A82E-6599C0DAC405}" presName="sp" presStyleCnt="0"/>
      <dgm:spPr/>
    </dgm:pt>
    <dgm:pt modelId="{84BC15C4-57C2-4215-B051-1FC12DE4D56A}" type="pres">
      <dgm:prSet presAssocID="{A147FCF5-872C-402E-8FFA-7F62F8AEC165}" presName="arrowAndChildren" presStyleCnt="0"/>
      <dgm:spPr/>
    </dgm:pt>
    <dgm:pt modelId="{821BB53C-F789-4FDF-A619-F676C9DAFA47}" type="pres">
      <dgm:prSet presAssocID="{A147FCF5-872C-402E-8FFA-7F62F8AEC165}" presName="parentTextArrow" presStyleLbl="node1" presStyleIdx="1" presStyleCnt="3"/>
      <dgm:spPr/>
    </dgm:pt>
    <dgm:pt modelId="{452ACE0D-CF1A-4DE8-8E3E-A45C514F1149}" type="pres">
      <dgm:prSet presAssocID="{A147FCF5-872C-402E-8FFA-7F62F8AEC165}" presName="arrow" presStyleLbl="node1" presStyleIdx="2" presStyleCnt="3" custLinFactNeighborY="-504"/>
      <dgm:spPr/>
    </dgm:pt>
    <dgm:pt modelId="{1A7D03B3-E5DC-4BF8-BC0E-673BE8094F20}" type="pres">
      <dgm:prSet presAssocID="{A147FCF5-872C-402E-8FFA-7F62F8AEC165}" presName="descendantArrow" presStyleCnt="0"/>
      <dgm:spPr/>
    </dgm:pt>
    <dgm:pt modelId="{07763EBB-4274-4F86-A670-BA07EE7CCAD5}" type="pres">
      <dgm:prSet presAssocID="{C9D27329-5219-4575-8C28-F198FA7C7E21}" presName="childTextArrow" presStyleLbl="fgAccFollowNode1" presStyleIdx="6" presStyleCnt="9" custLinFactNeighborX="-82" custLinFactNeighborY="1523">
        <dgm:presLayoutVars>
          <dgm:bulletEnabled val="1"/>
        </dgm:presLayoutVars>
      </dgm:prSet>
      <dgm:spPr/>
    </dgm:pt>
    <dgm:pt modelId="{A5384461-3C55-409F-A76C-DC6C5CADCFE8}" type="pres">
      <dgm:prSet presAssocID="{0E7A854B-37EA-407C-A97F-3A739191418A}" presName="childTextArrow" presStyleLbl="fgAccFollowNode1" presStyleIdx="7" presStyleCnt="9" custLinFactNeighborY="1523">
        <dgm:presLayoutVars>
          <dgm:bulletEnabled val="1"/>
        </dgm:presLayoutVars>
      </dgm:prSet>
      <dgm:spPr/>
    </dgm:pt>
    <dgm:pt modelId="{1CEB22B1-9A7E-4A91-AF0C-26B893E69FA6}" type="pres">
      <dgm:prSet presAssocID="{51E22944-1523-458B-8828-B060A21B0734}" presName="childTextArrow" presStyleLbl="fgAccFollowNode1" presStyleIdx="8" presStyleCnt="9" custLinFactNeighborX="147" custLinFactNeighborY="1523">
        <dgm:presLayoutVars>
          <dgm:bulletEnabled val="1"/>
        </dgm:presLayoutVars>
      </dgm:prSet>
      <dgm:spPr/>
    </dgm:pt>
  </dgm:ptLst>
  <dgm:cxnLst>
    <dgm:cxn modelId="{959C6A08-27DF-47D6-9B66-DA641F7D940E}" srcId="{7536D2AB-18D2-4540-86EF-97DAA68F47BD}" destId="{A50E33B6-DC31-4625-B7FA-95FFDF7345DB}" srcOrd="2" destOrd="0" parTransId="{A7AB8128-93C5-4A74-8036-EF7B01CFFEE9}" sibTransId="{736A49DB-336A-4637-ACEC-4A4F70A87822}"/>
    <dgm:cxn modelId="{12163709-F225-4219-8EF0-7EA41899A9C2}" type="presOf" srcId="{475C2055-1A5C-4F93-BCF0-4362192FEDE2}" destId="{9CE9A027-D096-4DBA-9F41-ACB337DEDCA0}" srcOrd="0" destOrd="0" presId="urn:microsoft.com/office/officeart/2005/8/layout/process4"/>
    <dgm:cxn modelId="{E30C4A24-E267-4C49-B2EA-BD4355E628F6}" type="presOf" srcId="{51E22944-1523-458B-8828-B060A21B0734}" destId="{1CEB22B1-9A7E-4A91-AF0C-26B893E69FA6}" srcOrd="0" destOrd="0" presId="urn:microsoft.com/office/officeart/2005/8/layout/process4"/>
    <dgm:cxn modelId="{93CA0631-D0E1-4549-B58F-5AEAAB69B0A6}" srcId="{A147FCF5-872C-402E-8FFA-7F62F8AEC165}" destId="{C9D27329-5219-4575-8C28-F198FA7C7E21}" srcOrd="0" destOrd="0" parTransId="{4DC991F5-7EAA-42B5-9763-B81A6440FC1D}" sibTransId="{11CC70F2-8FA3-4E4E-83A1-23C4FE696FBD}"/>
    <dgm:cxn modelId="{16669A5B-C315-4A49-AD9C-FC4AE7CA3AC5}" type="presOf" srcId="{4D999CEA-99A2-40B3-ACFE-2DDA830830D4}" destId="{B5901160-2EED-4BC1-9CD9-CBC7C725C48E}" srcOrd="1" destOrd="0" presId="urn:microsoft.com/office/officeart/2005/8/layout/process4"/>
    <dgm:cxn modelId="{BCDBDB62-C3B5-49C6-97FA-E967A4F76A6C}" srcId="{A147FCF5-872C-402E-8FFA-7F62F8AEC165}" destId="{0E7A854B-37EA-407C-A97F-3A739191418A}" srcOrd="1" destOrd="0" parTransId="{AF30101B-D9D7-4112-A369-FBA7968528B2}" sibTransId="{711A1785-5017-41F7-B6D5-1B80308B8FF2}"/>
    <dgm:cxn modelId="{8B432C63-7580-4035-9DEC-014222462859}" srcId="{7536D2AB-18D2-4540-86EF-97DAA68F47BD}" destId="{A147FCF5-872C-402E-8FFA-7F62F8AEC165}" srcOrd="0" destOrd="0" parTransId="{023FA848-FBA0-4C53-878C-D0304385935A}" sibTransId="{A9E9F8DD-5CCA-40F8-A82E-6599C0DAC405}"/>
    <dgm:cxn modelId="{41D48A64-64D5-4DB1-98B7-64FE88C60DA6}" type="presOf" srcId="{7536D2AB-18D2-4540-86EF-97DAA68F47BD}" destId="{A6E38CAE-DC8A-4A4F-BC73-1AEC372FC167}" srcOrd="0" destOrd="0" presId="urn:microsoft.com/office/officeart/2005/8/layout/process4"/>
    <dgm:cxn modelId="{313B8469-A1FD-4F09-887E-E3142279E0D5}" srcId="{A147FCF5-872C-402E-8FFA-7F62F8AEC165}" destId="{51E22944-1523-458B-8828-B060A21B0734}" srcOrd="2" destOrd="0" parTransId="{3DF91E0F-97D3-4C63-8906-8F506DA31CAE}" sibTransId="{56CDA8DD-B1A5-4AB8-AF97-E4AD7080C76E}"/>
    <dgm:cxn modelId="{39BC804A-82BB-4A5F-A919-C53DC23D8C15}" srcId="{4D999CEA-99A2-40B3-ACFE-2DDA830830D4}" destId="{28E7254B-914D-454C-9420-190BF7BC8B3F}" srcOrd="2" destOrd="0" parTransId="{8F0A91F8-582C-4A33-8B33-F4735279C0A7}" sibTransId="{8D5BCE3D-5A36-461F-ABB5-D2E303C418C4}"/>
    <dgm:cxn modelId="{2BE09C6B-550C-492B-8123-E3285DA6B775}" type="presOf" srcId="{A147FCF5-872C-402E-8FFA-7F62F8AEC165}" destId="{452ACE0D-CF1A-4DE8-8E3E-A45C514F1149}" srcOrd="1" destOrd="0" presId="urn:microsoft.com/office/officeart/2005/8/layout/process4"/>
    <dgm:cxn modelId="{2D83546D-26B6-42FC-B911-10B6CB990C14}" type="presOf" srcId="{C9D27329-5219-4575-8C28-F198FA7C7E21}" destId="{07763EBB-4274-4F86-A670-BA07EE7CCAD5}" srcOrd="0" destOrd="0" presId="urn:microsoft.com/office/officeart/2005/8/layout/process4"/>
    <dgm:cxn modelId="{F8E64681-1CD5-4238-A571-0145A84B3E4B}" type="presOf" srcId="{A68E66D0-FC3E-4696-AEE9-FA917CE8B43F}" destId="{A26E17A3-6ADC-4207-BAA9-6F37A7025026}" srcOrd="0" destOrd="0" presId="urn:microsoft.com/office/officeart/2005/8/layout/process4"/>
    <dgm:cxn modelId="{6039E883-BBA3-4D37-ADEA-76FE6305AADF}" type="presOf" srcId="{1550EBB1-3E8A-4444-A1CB-728671E739D9}" destId="{2147C4C3-E4ED-44EA-8A74-5AB07B9224C6}" srcOrd="0" destOrd="0" presId="urn:microsoft.com/office/officeart/2005/8/layout/process4"/>
    <dgm:cxn modelId="{14DE1086-4CC0-4962-9121-4BC99060A682}" type="presOf" srcId="{28E7254B-914D-454C-9420-190BF7BC8B3F}" destId="{6A9F14BE-80C0-4B02-B21C-6C233AACAF51}" srcOrd="0" destOrd="0" presId="urn:microsoft.com/office/officeart/2005/8/layout/process4"/>
    <dgm:cxn modelId="{CA60A795-0B56-4B32-B4B8-258A44CDB63B}" type="presOf" srcId="{A50E33B6-DC31-4625-B7FA-95FFDF7345DB}" destId="{C38CF6F9-DC53-4200-9C30-5EC6A4B6A3DD}" srcOrd="0" destOrd="0" presId="urn:microsoft.com/office/officeart/2005/8/layout/process4"/>
    <dgm:cxn modelId="{ED435997-8F2D-4DBD-ABF8-B74B739979B0}" srcId="{A50E33B6-DC31-4625-B7FA-95FFDF7345DB}" destId="{1550EBB1-3E8A-4444-A1CB-728671E739D9}" srcOrd="0" destOrd="0" parTransId="{32899119-31C1-4B31-8ECF-4586BABA58D4}" sibTransId="{9B5E1A06-E163-4B01-A622-E03D5AFA8104}"/>
    <dgm:cxn modelId="{720C1299-B139-4C79-A3E3-1C02E6A91DA5}" type="presOf" srcId="{F87B134D-0DC2-4772-90D6-BABD7BD5BC76}" destId="{EF0D8E2E-611F-48CE-B1FC-FF5FEBAA646D}" srcOrd="0" destOrd="0" presId="urn:microsoft.com/office/officeart/2005/8/layout/process4"/>
    <dgm:cxn modelId="{A5CA2F99-6DF3-4AD4-A7D6-6EFAB4350F10}" type="presOf" srcId="{4D999CEA-99A2-40B3-ACFE-2DDA830830D4}" destId="{EC217E12-E4E2-4324-9106-BE0B637A87F8}" srcOrd="0" destOrd="0" presId="urn:microsoft.com/office/officeart/2005/8/layout/process4"/>
    <dgm:cxn modelId="{B95C229C-BFA4-4E7F-809D-E96E94AB46B1}" srcId="{4D999CEA-99A2-40B3-ACFE-2DDA830830D4}" destId="{475C2055-1A5C-4F93-BCF0-4362192FEDE2}" srcOrd="0" destOrd="0" parTransId="{57C885D4-B9D5-44AF-BA3E-95F85B0C4C85}" sibTransId="{B58CF49D-66C4-492C-A689-EEBD464FF5AB}"/>
    <dgm:cxn modelId="{A71FA0A9-9EA9-4D0E-81E7-802814729BD8}" type="presOf" srcId="{A50E33B6-DC31-4625-B7FA-95FFDF7345DB}" destId="{32DFF38E-0B8C-4811-8E25-D1D460553EEF}" srcOrd="1" destOrd="0" presId="urn:microsoft.com/office/officeart/2005/8/layout/process4"/>
    <dgm:cxn modelId="{0189B1B2-08AA-492D-A891-BCF750032056}" type="presOf" srcId="{4F50E452-5834-4018-8DFF-B75D124C036A}" destId="{87C3872B-7E02-4085-B647-9CD9B06A0313}" srcOrd="0" destOrd="0" presId="urn:microsoft.com/office/officeart/2005/8/layout/process4"/>
    <dgm:cxn modelId="{C12C3EC6-91DA-4D90-BA1A-0D2BDB5392CD}" srcId="{A50E33B6-DC31-4625-B7FA-95FFDF7345DB}" destId="{F87B134D-0DC2-4772-90D6-BABD7BD5BC76}" srcOrd="1" destOrd="0" parTransId="{2E6F75F3-F662-4A68-9323-758B5EFFF8B7}" sibTransId="{0A75DA54-DE29-44C8-8B8A-7569270B07DC}"/>
    <dgm:cxn modelId="{F67826D6-125C-4FAA-89F2-D7906452C10C}" type="presOf" srcId="{0E7A854B-37EA-407C-A97F-3A739191418A}" destId="{A5384461-3C55-409F-A76C-DC6C5CADCFE8}" srcOrd="0" destOrd="0" presId="urn:microsoft.com/office/officeart/2005/8/layout/process4"/>
    <dgm:cxn modelId="{F50111F6-A6EB-47CE-8260-B7A1AB99D369}" srcId="{A50E33B6-DC31-4625-B7FA-95FFDF7345DB}" destId="{A68E66D0-FC3E-4696-AEE9-FA917CE8B43F}" srcOrd="2" destOrd="0" parTransId="{0BC1C561-C6CF-4EE1-9459-E0E77208A87F}" sibTransId="{979997D5-F373-4E06-9823-A469297F2E86}"/>
    <dgm:cxn modelId="{660948F6-410D-460D-81D5-714AFD1D381D}" srcId="{4D999CEA-99A2-40B3-ACFE-2DDA830830D4}" destId="{4F50E452-5834-4018-8DFF-B75D124C036A}" srcOrd="1" destOrd="0" parTransId="{DB41BBB4-9AA8-49FB-AEE9-BDB37221A1CC}" sibTransId="{2B9FE0FB-368C-4C11-8492-76D40C878944}"/>
    <dgm:cxn modelId="{666E48F8-172A-4B9D-8257-4FB3F5D02377}" srcId="{7536D2AB-18D2-4540-86EF-97DAA68F47BD}" destId="{4D999CEA-99A2-40B3-ACFE-2DDA830830D4}" srcOrd="1" destOrd="0" parTransId="{63D0C301-A3D8-4900-A21C-4D4CA4636897}" sibTransId="{F78658CE-FCEA-4831-A7C9-BF133CDED4D9}"/>
    <dgm:cxn modelId="{77511BFA-3A7A-4DD5-9466-9D66AAFC594F}" type="presOf" srcId="{A147FCF5-872C-402E-8FFA-7F62F8AEC165}" destId="{821BB53C-F789-4FDF-A619-F676C9DAFA47}" srcOrd="0" destOrd="0" presId="urn:microsoft.com/office/officeart/2005/8/layout/process4"/>
    <dgm:cxn modelId="{D3DB6E62-DFBD-4849-ACB6-0DA7456D2DB4}" type="presParOf" srcId="{A6E38CAE-DC8A-4A4F-BC73-1AEC372FC167}" destId="{555A3F28-1E25-47B1-AA96-93AB9EB21F31}" srcOrd="0" destOrd="0" presId="urn:microsoft.com/office/officeart/2005/8/layout/process4"/>
    <dgm:cxn modelId="{3F8B5A89-03C3-4D81-8F2C-FBBBF27CF382}" type="presParOf" srcId="{555A3F28-1E25-47B1-AA96-93AB9EB21F31}" destId="{C38CF6F9-DC53-4200-9C30-5EC6A4B6A3DD}" srcOrd="0" destOrd="0" presId="urn:microsoft.com/office/officeart/2005/8/layout/process4"/>
    <dgm:cxn modelId="{4A483FA8-E5CF-490F-BC91-DBCA94C56442}" type="presParOf" srcId="{555A3F28-1E25-47B1-AA96-93AB9EB21F31}" destId="{32DFF38E-0B8C-4811-8E25-D1D460553EEF}" srcOrd="1" destOrd="0" presId="urn:microsoft.com/office/officeart/2005/8/layout/process4"/>
    <dgm:cxn modelId="{8D63AA43-4DC4-4374-87B6-4906CA589DA2}" type="presParOf" srcId="{555A3F28-1E25-47B1-AA96-93AB9EB21F31}" destId="{2D9853DB-9952-41DA-9459-C0F92D4048FC}" srcOrd="2" destOrd="0" presId="urn:microsoft.com/office/officeart/2005/8/layout/process4"/>
    <dgm:cxn modelId="{CA24DF2C-D47C-46FB-B9D8-0ABA8186D3B4}" type="presParOf" srcId="{2D9853DB-9952-41DA-9459-C0F92D4048FC}" destId="{2147C4C3-E4ED-44EA-8A74-5AB07B9224C6}" srcOrd="0" destOrd="0" presId="urn:microsoft.com/office/officeart/2005/8/layout/process4"/>
    <dgm:cxn modelId="{0AE411B4-978E-47BE-B187-3D95F8996E49}" type="presParOf" srcId="{2D9853DB-9952-41DA-9459-C0F92D4048FC}" destId="{EF0D8E2E-611F-48CE-B1FC-FF5FEBAA646D}" srcOrd="1" destOrd="0" presId="urn:microsoft.com/office/officeart/2005/8/layout/process4"/>
    <dgm:cxn modelId="{96B76070-C592-4228-9154-2864F64B9493}" type="presParOf" srcId="{2D9853DB-9952-41DA-9459-C0F92D4048FC}" destId="{A26E17A3-6ADC-4207-BAA9-6F37A7025026}" srcOrd="2" destOrd="0" presId="urn:microsoft.com/office/officeart/2005/8/layout/process4"/>
    <dgm:cxn modelId="{DB157B07-9425-49BA-A7C8-AE225FE1570E}" type="presParOf" srcId="{A6E38CAE-DC8A-4A4F-BC73-1AEC372FC167}" destId="{1316DF51-73D5-42A2-A129-8BE6AE24E91D}" srcOrd="1" destOrd="0" presId="urn:microsoft.com/office/officeart/2005/8/layout/process4"/>
    <dgm:cxn modelId="{CA4A4CFA-A831-4296-AC4D-3DDF660E58E9}" type="presParOf" srcId="{A6E38CAE-DC8A-4A4F-BC73-1AEC372FC167}" destId="{B8F9DB49-CD09-45A9-B2C9-CE22CE971DE6}" srcOrd="2" destOrd="0" presId="urn:microsoft.com/office/officeart/2005/8/layout/process4"/>
    <dgm:cxn modelId="{F51A94F5-CE02-4611-9497-6D87BAFAB1A4}" type="presParOf" srcId="{B8F9DB49-CD09-45A9-B2C9-CE22CE971DE6}" destId="{EC217E12-E4E2-4324-9106-BE0B637A87F8}" srcOrd="0" destOrd="0" presId="urn:microsoft.com/office/officeart/2005/8/layout/process4"/>
    <dgm:cxn modelId="{4369B197-F0E5-4BAC-8E93-B51E319C50E7}" type="presParOf" srcId="{B8F9DB49-CD09-45A9-B2C9-CE22CE971DE6}" destId="{B5901160-2EED-4BC1-9CD9-CBC7C725C48E}" srcOrd="1" destOrd="0" presId="urn:microsoft.com/office/officeart/2005/8/layout/process4"/>
    <dgm:cxn modelId="{7790F057-101D-4FEE-B4BB-416F03A87FB7}" type="presParOf" srcId="{B8F9DB49-CD09-45A9-B2C9-CE22CE971DE6}" destId="{E6E30F24-75D5-41DC-BD30-BCEEDAB3EDA1}" srcOrd="2" destOrd="0" presId="urn:microsoft.com/office/officeart/2005/8/layout/process4"/>
    <dgm:cxn modelId="{993589D6-6D1B-4049-8C42-FA528C4C35A8}" type="presParOf" srcId="{E6E30F24-75D5-41DC-BD30-BCEEDAB3EDA1}" destId="{9CE9A027-D096-4DBA-9F41-ACB337DEDCA0}" srcOrd="0" destOrd="0" presId="urn:microsoft.com/office/officeart/2005/8/layout/process4"/>
    <dgm:cxn modelId="{39F09CA2-B8E7-4E42-897E-90CF66D3532C}" type="presParOf" srcId="{E6E30F24-75D5-41DC-BD30-BCEEDAB3EDA1}" destId="{87C3872B-7E02-4085-B647-9CD9B06A0313}" srcOrd="1" destOrd="0" presId="urn:microsoft.com/office/officeart/2005/8/layout/process4"/>
    <dgm:cxn modelId="{71AA1812-61D8-4BF1-A8D2-E9050EAD9FE1}" type="presParOf" srcId="{E6E30F24-75D5-41DC-BD30-BCEEDAB3EDA1}" destId="{6A9F14BE-80C0-4B02-B21C-6C233AACAF51}" srcOrd="2" destOrd="0" presId="urn:microsoft.com/office/officeart/2005/8/layout/process4"/>
    <dgm:cxn modelId="{7EFA4A68-72FA-4B77-BFB8-C53D4BE233E4}" type="presParOf" srcId="{A6E38CAE-DC8A-4A4F-BC73-1AEC372FC167}" destId="{9CE618A8-6BAD-4BC3-A55A-3B35D7AC190A}" srcOrd="3" destOrd="0" presId="urn:microsoft.com/office/officeart/2005/8/layout/process4"/>
    <dgm:cxn modelId="{1C48AD57-6CD6-4967-8CFA-6FFCC9231B70}" type="presParOf" srcId="{A6E38CAE-DC8A-4A4F-BC73-1AEC372FC167}" destId="{84BC15C4-57C2-4215-B051-1FC12DE4D56A}" srcOrd="4" destOrd="0" presId="urn:microsoft.com/office/officeart/2005/8/layout/process4"/>
    <dgm:cxn modelId="{0DA12771-6498-4822-8CC7-337E76EFAFF9}" type="presParOf" srcId="{84BC15C4-57C2-4215-B051-1FC12DE4D56A}" destId="{821BB53C-F789-4FDF-A619-F676C9DAFA47}" srcOrd="0" destOrd="0" presId="urn:microsoft.com/office/officeart/2005/8/layout/process4"/>
    <dgm:cxn modelId="{81944EEE-575C-49F5-87B3-304C559B6FD7}" type="presParOf" srcId="{84BC15C4-57C2-4215-B051-1FC12DE4D56A}" destId="{452ACE0D-CF1A-4DE8-8E3E-A45C514F1149}" srcOrd="1" destOrd="0" presId="urn:microsoft.com/office/officeart/2005/8/layout/process4"/>
    <dgm:cxn modelId="{00BF2E83-C8E4-4AFC-9414-CFBEE0587C81}" type="presParOf" srcId="{84BC15C4-57C2-4215-B051-1FC12DE4D56A}" destId="{1A7D03B3-E5DC-4BF8-BC0E-673BE8094F20}" srcOrd="2" destOrd="0" presId="urn:microsoft.com/office/officeart/2005/8/layout/process4"/>
    <dgm:cxn modelId="{5A10022A-D741-429A-8603-EA0CFA5A5EFC}" type="presParOf" srcId="{1A7D03B3-E5DC-4BF8-BC0E-673BE8094F20}" destId="{07763EBB-4274-4F86-A670-BA07EE7CCAD5}" srcOrd="0" destOrd="0" presId="urn:microsoft.com/office/officeart/2005/8/layout/process4"/>
    <dgm:cxn modelId="{47EC8A92-A198-4820-84FC-7D7E7CC646FB}" type="presParOf" srcId="{1A7D03B3-E5DC-4BF8-BC0E-673BE8094F20}" destId="{A5384461-3C55-409F-A76C-DC6C5CADCFE8}" srcOrd="1" destOrd="0" presId="urn:microsoft.com/office/officeart/2005/8/layout/process4"/>
    <dgm:cxn modelId="{F7544B4B-402A-4829-A5D4-71EFE4283CE2}" type="presParOf" srcId="{1A7D03B3-E5DC-4BF8-BC0E-673BE8094F20}" destId="{1CEB22B1-9A7E-4A91-AF0C-26B893E69FA6}" srcOrd="2" destOrd="0" presId="urn:microsoft.com/office/officeart/2005/8/layout/process4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AB2770-B492-48AD-84C5-695BDA28E134}">
      <dsp:nvSpPr>
        <dsp:cNvPr id="0" name=""/>
        <dsp:cNvSpPr/>
      </dsp:nvSpPr>
      <dsp:spPr>
        <a:xfrm>
          <a:off x="4267901" y="0"/>
          <a:ext cx="5798015" cy="5798897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57150">
          <a:solidFill>
            <a:schemeClr val="tx1"/>
          </a:solidFill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706D51-2842-4F8A-80D2-54D86E34456B}">
      <dsp:nvSpPr>
        <dsp:cNvPr id="0" name=""/>
        <dsp:cNvSpPr/>
      </dsp:nvSpPr>
      <dsp:spPr>
        <a:xfrm>
          <a:off x="5549453" y="2093577"/>
          <a:ext cx="3221845" cy="16105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000" b="1" kern="1200" dirty="0"/>
            <a:t>ToDo</a:t>
          </a:r>
          <a:endParaRPr lang="en-IE" sz="4400" b="1" kern="1200" dirty="0"/>
        </a:p>
      </dsp:txBody>
      <dsp:txXfrm>
        <a:off x="5549453" y="2093577"/>
        <a:ext cx="3221845" cy="1610537"/>
      </dsp:txXfrm>
    </dsp:sp>
    <dsp:sp modelId="{668DC389-6720-4236-8011-BFAB07D2AE6E}">
      <dsp:nvSpPr>
        <dsp:cNvPr id="0" name=""/>
        <dsp:cNvSpPr/>
      </dsp:nvSpPr>
      <dsp:spPr>
        <a:xfrm>
          <a:off x="2657523" y="3331896"/>
          <a:ext cx="5798015" cy="5798897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57150">
          <a:solidFill>
            <a:schemeClr val="tx1"/>
          </a:solidFill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EF67315-41CD-4E1F-B065-C474DA2F6D76}">
      <dsp:nvSpPr>
        <dsp:cNvPr id="0" name=""/>
        <dsp:cNvSpPr/>
      </dsp:nvSpPr>
      <dsp:spPr>
        <a:xfrm>
          <a:off x="3945608" y="5444748"/>
          <a:ext cx="3221845" cy="16105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000" b="1" kern="1200" dirty="0"/>
            <a:t>Locked</a:t>
          </a:r>
          <a:endParaRPr lang="en-IE" sz="4400" b="1" kern="1200" dirty="0"/>
        </a:p>
      </dsp:txBody>
      <dsp:txXfrm>
        <a:off x="3945608" y="5444748"/>
        <a:ext cx="3221845" cy="1610537"/>
      </dsp:txXfrm>
    </dsp:sp>
    <dsp:sp modelId="{19D1F821-3860-4F77-A074-BB6401E6326E}">
      <dsp:nvSpPr>
        <dsp:cNvPr id="0" name=""/>
        <dsp:cNvSpPr/>
      </dsp:nvSpPr>
      <dsp:spPr>
        <a:xfrm>
          <a:off x="4680567" y="7062512"/>
          <a:ext cx="4981393" cy="4983390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57150">
          <a:solidFill>
            <a:schemeClr val="tx1"/>
          </a:solidFill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32A094-D9B4-4A76-8D4C-335142121065}">
      <dsp:nvSpPr>
        <dsp:cNvPr id="0" name=""/>
        <dsp:cNvSpPr/>
      </dsp:nvSpPr>
      <dsp:spPr>
        <a:xfrm>
          <a:off x="5557075" y="8800736"/>
          <a:ext cx="3221845" cy="16105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000" b="1" kern="1200" dirty="0"/>
            <a:t>Done/Error</a:t>
          </a:r>
        </a:p>
      </dsp:txBody>
      <dsp:txXfrm>
        <a:off x="5557075" y="8800736"/>
        <a:ext cx="3221845" cy="16105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DFF38E-0B8C-4811-8E25-D1D460553EEF}">
      <dsp:nvSpPr>
        <dsp:cNvPr id="0" name=""/>
        <dsp:cNvSpPr/>
      </dsp:nvSpPr>
      <dsp:spPr>
        <a:xfrm>
          <a:off x="0" y="12308823"/>
          <a:ext cx="24841200" cy="403908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38100">
          <a:solidFill>
            <a:schemeClr val="tx1"/>
          </a:solidFill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8960" tIns="568960" rIns="568960" bIns="568960" numCol="1" spcCol="1270" anchor="ctr" anchorCtr="0">
          <a:noAutofit/>
        </a:bodyPr>
        <a:lstStyle/>
        <a:p>
          <a:pPr marL="0" lvl="0" indent="0" algn="ctr" defTabSz="3556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8000" b="1" kern="1200" dirty="0"/>
            <a:t>iii). Containerized Deployment</a:t>
          </a:r>
          <a:endParaRPr lang="en-IE" sz="6600" b="1" kern="1200" dirty="0"/>
        </a:p>
      </dsp:txBody>
      <dsp:txXfrm>
        <a:off x="0" y="12308823"/>
        <a:ext cx="24841200" cy="2181104"/>
      </dsp:txXfrm>
    </dsp:sp>
    <dsp:sp modelId="{2147C4C3-E4ED-44EA-8A74-5AB07B9224C6}">
      <dsp:nvSpPr>
        <dsp:cNvPr id="0" name=""/>
        <dsp:cNvSpPr/>
      </dsp:nvSpPr>
      <dsp:spPr>
        <a:xfrm>
          <a:off x="0" y="14489921"/>
          <a:ext cx="8272313" cy="18579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tx1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12928" tIns="55880" rIns="312928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400" b="1" kern="1200" dirty="0"/>
            <a:t>AI play time optimizer</a:t>
          </a:r>
        </a:p>
      </dsp:txBody>
      <dsp:txXfrm>
        <a:off x="0" y="14489921"/>
        <a:ext cx="8272313" cy="1857977"/>
      </dsp:txXfrm>
    </dsp:sp>
    <dsp:sp modelId="{EF0D8E2E-611F-48CE-B1FC-FF5FEBAA646D}">
      <dsp:nvSpPr>
        <dsp:cNvPr id="0" name=""/>
        <dsp:cNvSpPr/>
      </dsp:nvSpPr>
      <dsp:spPr>
        <a:xfrm>
          <a:off x="8254331" y="14489928"/>
          <a:ext cx="8272313" cy="18579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tx1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12928" tIns="55880" rIns="312928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400" b="1" kern="1200" dirty="0"/>
            <a:t>Validate containerized workloads</a:t>
          </a:r>
        </a:p>
      </dsp:txBody>
      <dsp:txXfrm>
        <a:off x="8254331" y="14489928"/>
        <a:ext cx="8272313" cy="1857977"/>
      </dsp:txXfrm>
    </dsp:sp>
    <dsp:sp modelId="{A26E17A3-6ADC-4207-BAA9-6F37A7025026}">
      <dsp:nvSpPr>
        <dsp:cNvPr id="0" name=""/>
        <dsp:cNvSpPr/>
      </dsp:nvSpPr>
      <dsp:spPr>
        <a:xfrm>
          <a:off x="16556756" y="14489921"/>
          <a:ext cx="8272313" cy="18579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tx1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12928" tIns="55880" rIns="312928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400" b="1" kern="1200" dirty="0"/>
            <a:t>Workflow acquisition policy and REST integration</a:t>
          </a:r>
        </a:p>
      </dsp:txBody>
      <dsp:txXfrm>
        <a:off x="16556756" y="14489921"/>
        <a:ext cx="8272313" cy="1857977"/>
      </dsp:txXfrm>
    </dsp:sp>
    <dsp:sp modelId="{B5901160-2EED-4BC1-9CD9-CBC7C725C48E}">
      <dsp:nvSpPr>
        <dsp:cNvPr id="0" name=""/>
        <dsp:cNvSpPr/>
      </dsp:nvSpPr>
      <dsp:spPr>
        <a:xfrm rot="10800000">
          <a:off x="0" y="6154411"/>
          <a:ext cx="24841200" cy="6212108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38100">
          <a:solidFill>
            <a:schemeClr val="tx1"/>
          </a:solidFill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8960" tIns="568960" rIns="568960" bIns="568960" numCol="1" spcCol="1270" anchor="ctr" anchorCtr="0">
          <a:noAutofit/>
        </a:bodyPr>
        <a:lstStyle/>
        <a:p>
          <a:pPr marL="0" lvl="0" indent="0" algn="ctr" defTabSz="3556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8000" b="1" kern="1200" dirty="0"/>
            <a:t>ii). Task Binding Semantics</a:t>
          </a:r>
        </a:p>
      </dsp:txBody>
      <dsp:txXfrm rot="-10800000">
        <a:off x="0" y="6154411"/>
        <a:ext cx="24841200" cy="2180450"/>
      </dsp:txXfrm>
    </dsp:sp>
    <dsp:sp modelId="{9CE9A027-D096-4DBA-9F41-ACB337DEDCA0}">
      <dsp:nvSpPr>
        <dsp:cNvPr id="0" name=""/>
        <dsp:cNvSpPr/>
      </dsp:nvSpPr>
      <dsp:spPr>
        <a:xfrm>
          <a:off x="17506" y="8370412"/>
          <a:ext cx="8272313" cy="18574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tx1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12928" tIns="55880" rIns="312928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400" b="1" kern="1200" dirty="0"/>
            <a:t>Serialized function runner</a:t>
          </a:r>
        </a:p>
      </dsp:txBody>
      <dsp:txXfrm>
        <a:off x="17506" y="8370412"/>
        <a:ext cx="8272313" cy="1857420"/>
      </dsp:txXfrm>
    </dsp:sp>
    <dsp:sp modelId="{87C3872B-7E02-4085-B647-9CD9B06A0313}">
      <dsp:nvSpPr>
        <dsp:cNvPr id="0" name=""/>
        <dsp:cNvSpPr/>
      </dsp:nvSpPr>
      <dsp:spPr>
        <a:xfrm>
          <a:off x="8284443" y="8370412"/>
          <a:ext cx="8272313" cy="18574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tx1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12928" tIns="55880" rIns="312928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400" b="1" kern="1200" dirty="0"/>
            <a:t>Validates explicit binding semantics (early vs late)</a:t>
          </a:r>
        </a:p>
      </dsp:txBody>
      <dsp:txXfrm>
        <a:off x="8284443" y="8370412"/>
        <a:ext cx="8272313" cy="1857420"/>
      </dsp:txXfrm>
    </dsp:sp>
    <dsp:sp modelId="{6A9F14BE-80C0-4B02-B21C-6C233AACAF51}">
      <dsp:nvSpPr>
        <dsp:cNvPr id="0" name=""/>
        <dsp:cNvSpPr/>
      </dsp:nvSpPr>
      <dsp:spPr>
        <a:xfrm>
          <a:off x="16568886" y="8370412"/>
          <a:ext cx="8272313" cy="18574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tx1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12928" tIns="55880" rIns="312928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400" b="1" kern="1200" dirty="0"/>
            <a:t>Service operation execution</a:t>
          </a:r>
        </a:p>
      </dsp:txBody>
      <dsp:txXfrm>
        <a:off x="16568886" y="8370412"/>
        <a:ext cx="8272313" cy="1857420"/>
      </dsp:txXfrm>
    </dsp:sp>
    <dsp:sp modelId="{452ACE0D-CF1A-4DE8-8E3E-A45C514F1149}">
      <dsp:nvSpPr>
        <dsp:cNvPr id="0" name=""/>
        <dsp:cNvSpPr/>
      </dsp:nvSpPr>
      <dsp:spPr>
        <a:xfrm rot="10800000">
          <a:off x="0" y="0"/>
          <a:ext cx="24841200" cy="6212108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38100">
          <a:solidFill>
            <a:schemeClr val="tx1"/>
          </a:solidFill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8960" tIns="568960" rIns="568960" bIns="568960" numCol="1" spcCol="1270" anchor="ctr" anchorCtr="0">
          <a:noAutofit/>
        </a:bodyPr>
        <a:lstStyle/>
        <a:p>
          <a:pPr marL="0" lvl="0" indent="0" algn="ctr" defTabSz="3556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8000" b="1" kern="1200" dirty="0"/>
            <a:t>i). Workflow Orchestration</a:t>
          </a:r>
        </a:p>
      </dsp:txBody>
      <dsp:txXfrm rot="-10800000">
        <a:off x="0" y="0"/>
        <a:ext cx="24841200" cy="2180450"/>
      </dsp:txXfrm>
    </dsp:sp>
    <dsp:sp modelId="{07763EBB-4274-4F86-A670-BA07EE7CCAD5}">
      <dsp:nvSpPr>
        <dsp:cNvPr id="0" name=""/>
        <dsp:cNvSpPr/>
      </dsp:nvSpPr>
      <dsp:spPr>
        <a:xfrm>
          <a:off x="5346" y="2211628"/>
          <a:ext cx="8272313" cy="18574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tx1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12928" tIns="55880" rIns="312928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400" b="1" kern="1200" dirty="0"/>
            <a:t>Batch computing</a:t>
          </a:r>
        </a:p>
      </dsp:txBody>
      <dsp:txXfrm>
        <a:off x="5346" y="2211628"/>
        <a:ext cx="8272313" cy="1857420"/>
      </dsp:txXfrm>
    </dsp:sp>
    <dsp:sp modelId="{A5384461-3C55-409F-A76C-DC6C5CADCFE8}">
      <dsp:nvSpPr>
        <dsp:cNvPr id="0" name=""/>
        <dsp:cNvSpPr/>
      </dsp:nvSpPr>
      <dsp:spPr>
        <a:xfrm>
          <a:off x="8284443" y="2211628"/>
          <a:ext cx="8272313" cy="18574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tx1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12928" tIns="55880" rIns="312928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400" b="1" kern="1200" dirty="0"/>
            <a:t>Validates task orchestration across pilots</a:t>
          </a:r>
        </a:p>
      </dsp:txBody>
      <dsp:txXfrm>
        <a:off x="8284443" y="2211628"/>
        <a:ext cx="8272313" cy="1857420"/>
      </dsp:txXfrm>
    </dsp:sp>
    <dsp:sp modelId="{1CEB22B1-9A7E-4A91-AF0C-26B893E69FA6}">
      <dsp:nvSpPr>
        <dsp:cNvPr id="0" name=""/>
        <dsp:cNvSpPr/>
      </dsp:nvSpPr>
      <dsp:spPr>
        <a:xfrm>
          <a:off x="16568886" y="2211628"/>
          <a:ext cx="8272313" cy="18574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tx1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12928" tIns="55880" rIns="312928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4400" b="1" kern="1200" dirty="0"/>
            <a:t>Operational across relational        &amp; non-relational databases</a:t>
          </a:r>
        </a:p>
      </dsp:txBody>
      <dsp:txXfrm>
        <a:off x="16568886" y="2211628"/>
        <a:ext cx="8272313" cy="18574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#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#2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8BCE7-0017-4B0C-A2FB-E6F7885367AC}" type="datetimeFigureOut">
              <a:rPr lang="en-IE" smtClean="0"/>
              <a:t>07/10/2026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93813" y="1143000"/>
            <a:ext cx="4270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F6FBF-C1CE-4F54-B4F6-DD96A3A7064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69364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93813" y="1143000"/>
            <a:ext cx="4270375" cy="3086100"/>
          </a:xfrm>
        </p:spPr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#e6eaed</a:t>
            </a:r>
          </a:p>
          <a:p>
            <a:r>
              <a:rPr lang="en-IE" dirty="0"/>
              <a:t>#cdd2d8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4F6FBF-C1CE-4F54-B4F6-DD96A3A70649}" type="slidenum">
              <a:rPr lang="en-IE" smtClean="0"/>
              <a:t>10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94012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3829544"/>
            <a:ext cx="27539395" cy="8146580"/>
          </a:xfrm>
        </p:spPr>
        <p:txBody>
          <a:bodyPr anchor="b"/>
          <a:lstStyle>
            <a:lvl1pPr algn="ctr">
              <a:defRPr sz="204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12290287"/>
            <a:ext cx="24299466" cy="5649521"/>
          </a:xfrm>
        </p:spPr>
        <p:txBody>
          <a:bodyPr/>
          <a:lstStyle>
            <a:lvl1pPr marL="0" indent="0" algn="ctr">
              <a:buNone/>
              <a:defRPr sz="8189"/>
            </a:lvl1pPr>
            <a:lvl2pPr marL="1559966" indent="0" algn="ctr">
              <a:buNone/>
              <a:defRPr sz="6824"/>
            </a:lvl2pPr>
            <a:lvl3pPr marL="3119933" indent="0" algn="ctr">
              <a:buNone/>
              <a:defRPr sz="6142"/>
            </a:lvl3pPr>
            <a:lvl4pPr marL="4679899" indent="0" algn="ctr">
              <a:buNone/>
              <a:defRPr sz="5459"/>
            </a:lvl4pPr>
            <a:lvl5pPr marL="6239866" indent="0" algn="ctr">
              <a:buNone/>
              <a:defRPr sz="5459"/>
            </a:lvl5pPr>
            <a:lvl6pPr marL="7799832" indent="0" algn="ctr">
              <a:buNone/>
              <a:defRPr sz="5459"/>
            </a:lvl6pPr>
            <a:lvl7pPr marL="9359798" indent="0" algn="ctr">
              <a:buNone/>
              <a:defRPr sz="5459"/>
            </a:lvl7pPr>
            <a:lvl8pPr marL="10919765" indent="0" algn="ctr">
              <a:buNone/>
              <a:defRPr sz="5459"/>
            </a:lvl8pPr>
            <a:lvl9pPr marL="12479731" indent="0" algn="ctr">
              <a:buNone/>
              <a:defRPr sz="545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705B-4870-4470-A32F-307AEE1697AB}" type="datetimeFigureOut">
              <a:rPr lang="en-IE" smtClean="0"/>
              <a:t>07/10/2026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77134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705B-4870-4470-A32F-307AEE1697AB}" type="datetimeFigureOut">
              <a:rPr lang="en-IE" smtClean="0"/>
              <a:t>07/10/2026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2147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5833695"/>
            <a:ext cx="27944386" cy="9733644"/>
          </a:xfrm>
        </p:spPr>
        <p:txBody>
          <a:bodyPr anchor="b"/>
          <a:lstStyle>
            <a:lvl1pPr>
              <a:defRPr sz="204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15659423"/>
            <a:ext cx="27944386" cy="5118694"/>
          </a:xfrm>
        </p:spPr>
        <p:txBody>
          <a:bodyPr/>
          <a:lstStyle>
            <a:lvl1pPr marL="0" indent="0">
              <a:buNone/>
              <a:defRPr sz="8189">
                <a:solidFill>
                  <a:schemeClr val="tx1">
                    <a:tint val="82000"/>
                  </a:schemeClr>
                </a:solidFill>
              </a:defRPr>
            </a:lvl1pPr>
            <a:lvl2pPr marL="1559966" indent="0">
              <a:buNone/>
              <a:defRPr sz="6824">
                <a:solidFill>
                  <a:schemeClr val="tx1">
                    <a:tint val="82000"/>
                  </a:schemeClr>
                </a:solidFill>
              </a:defRPr>
            </a:lvl2pPr>
            <a:lvl3pPr marL="3119933" indent="0">
              <a:buNone/>
              <a:defRPr sz="6142">
                <a:solidFill>
                  <a:schemeClr val="tx1">
                    <a:tint val="82000"/>
                  </a:schemeClr>
                </a:solidFill>
              </a:defRPr>
            </a:lvl3pPr>
            <a:lvl4pPr marL="4679899" indent="0">
              <a:buNone/>
              <a:defRPr sz="5459">
                <a:solidFill>
                  <a:schemeClr val="tx1">
                    <a:tint val="82000"/>
                  </a:schemeClr>
                </a:solidFill>
              </a:defRPr>
            </a:lvl4pPr>
            <a:lvl5pPr marL="6239866" indent="0">
              <a:buNone/>
              <a:defRPr sz="5459">
                <a:solidFill>
                  <a:schemeClr val="tx1">
                    <a:tint val="82000"/>
                  </a:schemeClr>
                </a:solidFill>
              </a:defRPr>
            </a:lvl5pPr>
            <a:lvl6pPr marL="7799832" indent="0">
              <a:buNone/>
              <a:defRPr sz="5459">
                <a:solidFill>
                  <a:schemeClr val="tx1">
                    <a:tint val="82000"/>
                  </a:schemeClr>
                </a:solidFill>
              </a:defRPr>
            </a:lvl6pPr>
            <a:lvl7pPr marL="9359798" indent="0">
              <a:buNone/>
              <a:defRPr sz="5459">
                <a:solidFill>
                  <a:schemeClr val="tx1">
                    <a:tint val="82000"/>
                  </a:schemeClr>
                </a:solidFill>
              </a:defRPr>
            </a:lvl7pPr>
            <a:lvl8pPr marL="10919765" indent="0">
              <a:buNone/>
              <a:defRPr sz="5459">
                <a:solidFill>
                  <a:schemeClr val="tx1">
                    <a:tint val="82000"/>
                  </a:schemeClr>
                </a:solidFill>
              </a:defRPr>
            </a:lvl8pPr>
            <a:lvl9pPr marL="12479731" indent="0">
              <a:buNone/>
              <a:defRPr sz="545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705B-4870-4470-A32F-307AEE1697AB}" type="datetimeFigureOut">
              <a:rPr lang="en-IE" smtClean="0"/>
              <a:t>07/10/2026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44132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6229100"/>
            <a:ext cx="13769697" cy="148469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6229100"/>
            <a:ext cx="13769697" cy="148469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705B-4870-4470-A32F-307AEE1697AB}" type="datetimeFigureOut">
              <a:rPr lang="en-IE" smtClean="0"/>
              <a:t>07/10/2026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75550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1245825"/>
            <a:ext cx="27944386" cy="45228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5736191"/>
            <a:ext cx="13706415" cy="2811218"/>
          </a:xfrm>
        </p:spPr>
        <p:txBody>
          <a:bodyPr anchor="b"/>
          <a:lstStyle>
            <a:lvl1pPr marL="0" indent="0">
              <a:buNone/>
              <a:defRPr sz="8189" b="1"/>
            </a:lvl1pPr>
            <a:lvl2pPr marL="1559966" indent="0">
              <a:buNone/>
              <a:defRPr sz="6824" b="1"/>
            </a:lvl2pPr>
            <a:lvl3pPr marL="3119933" indent="0">
              <a:buNone/>
              <a:defRPr sz="6142" b="1"/>
            </a:lvl3pPr>
            <a:lvl4pPr marL="4679899" indent="0">
              <a:buNone/>
              <a:defRPr sz="5459" b="1"/>
            </a:lvl4pPr>
            <a:lvl5pPr marL="6239866" indent="0">
              <a:buNone/>
              <a:defRPr sz="5459" b="1"/>
            </a:lvl5pPr>
            <a:lvl6pPr marL="7799832" indent="0">
              <a:buNone/>
              <a:defRPr sz="5459" b="1"/>
            </a:lvl6pPr>
            <a:lvl7pPr marL="9359798" indent="0">
              <a:buNone/>
              <a:defRPr sz="5459" b="1"/>
            </a:lvl7pPr>
            <a:lvl8pPr marL="10919765" indent="0">
              <a:buNone/>
              <a:defRPr sz="5459" b="1"/>
            </a:lvl8pPr>
            <a:lvl9pPr marL="12479731" indent="0">
              <a:buNone/>
              <a:defRPr sz="54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8547409"/>
            <a:ext cx="13706415" cy="12571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5736191"/>
            <a:ext cx="13773917" cy="2811218"/>
          </a:xfrm>
        </p:spPr>
        <p:txBody>
          <a:bodyPr anchor="b"/>
          <a:lstStyle>
            <a:lvl1pPr marL="0" indent="0">
              <a:buNone/>
              <a:defRPr sz="8189" b="1"/>
            </a:lvl1pPr>
            <a:lvl2pPr marL="1559966" indent="0">
              <a:buNone/>
              <a:defRPr sz="6824" b="1"/>
            </a:lvl2pPr>
            <a:lvl3pPr marL="3119933" indent="0">
              <a:buNone/>
              <a:defRPr sz="6142" b="1"/>
            </a:lvl3pPr>
            <a:lvl4pPr marL="4679899" indent="0">
              <a:buNone/>
              <a:defRPr sz="5459" b="1"/>
            </a:lvl4pPr>
            <a:lvl5pPr marL="6239866" indent="0">
              <a:buNone/>
              <a:defRPr sz="5459" b="1"/>
            </a:lvl5pPr>
            <a:lvl6pPr marL="7799832" indent="0">
              <a:buNone/>
              <a:defRPr sz="5459" b="1"/>
            </a:lvl6pPr>
            <a:lvl7pPr marL="9359798" indent="0">
              <a:buNone/>
              <a:defRPr sz="5459" b="1"/>
            </a:lvl7pPr>
            <a:lvl8pPr marL="10919765" indent="0">
              <a:buNone/>
              <a:defRPr sz="5459" b="1"/>
            </a:lvl8pPr>
            <a:lvl9pPr marL="12479731" indent="0">
              <a:buNone/>
              <a:defRPr sz="54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8547409"/>
            <a:ext cx="13773917" cy="12571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705B-4870-4470-A32F-307AEE1697AB}" type="datetimeFigureOut">
              <a:rPr lang="en-IE" smtClean="0"/>
              <a:t>07/10/2026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50486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705B-4870-4470-A32F-307AEE1697AB}" type="datetimeFigureOut">
              <a:rPr lang="en-IE" smtClean="0"/>
              <a:t>07/10/2026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0339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705B-4870-4470-A32F-307AEE1697AB}" type="datetimeFigureOut">
              <a:rPr lang="en-IE" smtClean="0"/>
              <a:t>07/10/2026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42979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1559983"/>
            <a:ext cx="10449614" cy="5459942"/>
          </a:xfrm>
        </p:spPr>
        <p:txBody>
          <a:bodyPr anchor="b"/>
          <a:lstStyle>
            <a:lvl1pPr>
              <a:defRPr sz="109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3369136"/>
            <a:ext cx="16402140" cy="16628989"/>
          </a:xfrm>
        </p:spPr>
        <p:txBody>
          <a:bodyPr/>
          <a:lstStyle>
            <a:lvl1pPr>
              <a:defRPr sz="10918"/>
            </a:lvl1pPr>
            <a:lvl2pPr>
              <a:defRPr sz="9554"/>
            </a:lvl2pPr>
            <a:lvl3pPr>
              <a:defRPr sz="8189"/>
            </a:lvl3pPr>
            <a:lvl4pPr>
              <a:defRPr sz="6824"/>
            </a:lvl4pPr>
            <a:lvl5pPr>
              <a:defRPr sz="6824"/>
            </a:lvl5pPr>
            <a:lvl6pPr>
              <a:defRPr sz="6824"/>
            </a:lvl6pPr>
            <a:lvl7pPr>
              <a:defRPr sz="6824"/>
            </a:lvl7pPr>
            <a:lvl8pPr>
              <a:defRPr sz="6824"/>
            </a:lvl8pPr>
            <a:lvl9pPr>
              <a:defRPr sz="68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7019925"/>
            <a:ext cx="10449614" cy="13005279"/>
          </a:xfrm>
        </p:spPr>
        <p:txBody>
          <a:bodyPr/>
          <a:lstStyle>
            <a:lvl1pPr marL="0" indent="0">
              <a:buNone/>
              <a:defRPr sz="5459"/>
            </a:lvl1pPr>
            <a:lvl2pPr marL="1559966" indent="0">
              <a:buNone/>
              <a:defRPr sz="4777"/>
            </a:lvl2pPr>
            <a:lvl3pPr marL="3119933" indent="0">
              <a:buNone/>
              <a:defRPr sz="4094"/>
            </a:lvl3pPr>
            <a:lvl4pPr marL="4679899" indent="0">
              <a:buNone/>
              <a:defRPr sz="3412"/>
            </a:lvl4pPr>
            <a:lvl5pPr marL="6239866" indent="0">
              <a:buNone/>
              <a:defRPr sz="3412"/>
            </a:lvl5pPr>
            <a:lvl6pPr marL="7799832" indent="0">
              <a:buNone/>
              <a:defRPr sz="3412"/>
            </a:lvl6pPr>
            <a:lvl7pPr marL="9359798" indent="0">
              <a:buNone/>
              <a:defRPr sz="3412"/>
            </a:lvl7pPr>
            <a:lvl8pPr marL="10919765" indent="0">
              <a:buNone/>
              <a:defRPr sz="3412"/>
            </a:lvl8pPr>
            <a:lvl9pPr marL="12479731" indent="0">
              <a:buNone/>
              <a:defRPr sz="34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705B-4870-4470-A32F-307AEE1697AB}" type="datetimeFigureOut">
              <a:rPr lang="en-IE" smtClean="0"/>
              <a:t>07/10/2026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41732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1559983"/>
            <a:ext cx="10449614" cy="5459942"/>
          </a:xfrm>
        </p:spPr>
        <p:txBody>
          <a:bodyPr anchor="b"/>
          <a:lstStyle>
            <a:lvl1pPr>
              <a:defRPr sz="109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3369136"/>
            <a:ext cx="16402140" cy="16628989"/>
          </a:xfrm>
        </p:spPr>
        <p:txBody>
          <a:bodyPr anchor="t"/>
          <a:lstStyle>
            <a:lvl1pPr marL="0" indent="0">
              <a:buNone/>
              <a:defRPr sz="10918"/>
            </a:lvl1pPr>
            <a:lvl2pPr marL="1559966" indent="0">
              <a:buNone/>
              <a:defRPr sz="9554"/>
            </a:lvl2pPr>
            <a:lvl3pPr marL="3119933" indent="0">
              <a:buNone/>
              <a:defRPr sz="8189"/>
            </a:lvl3pPr>
            <a:lvl4pPr marL="4679899" indent="0">
              <a:buNone/>
              <a:defRPr sz="6824"/>
            </a:lvl4pPr>
            <a:lvl5pPr marL="6239866" indent="0">
              <a:buNone/>
              <a:defRPr sz="6824"/>
            </a:lvl5pPr>
            <a:lvl6pPr marL="7799832" indent="0">
              <a:buNone/>
              <a:defRPr sz="6824"/>
            </a:lvl6pPr>
            <a:lvl7pPr marL="9359798" indent="0">
              <a:buNone/>
              <a:defRPr sz="6824"/>
            </a:lvl7pPr>
            <a:lvl8pPr marL="10919765" indent="0">
              <a:buNone/>
              <a:defRPr sz="6824"/>
            </a:lvl8pPr>
            <a:lvl9pPr marL="12479731" indent="0">
              <a:buNone/>
              <a:defRPr sz="682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7019925"/>
            <a:ext cx="10449614" cy="13005279"/>
          </a:xfrm>
        </p:spPr>
        <p:txBody>
          <a:bodyPr/>
          <a:lstStyle>
            <a:lvl1pPr marL="0" indent="0">
              <a:buNone/>
              <a:defRPr sz="5459"/>
            </a:lvl1pPr>
            <a:lvl2pPr marL="1559966" indent="0">
              <a:buNone/>
              <a:defRPr sz="4777"/>
            </a:lvl2pPr>
            <a:lvl3pPr marL="3119933" indent="0">
              <a:buNone/>
              <a:defRPr sz="4094"/>
            </a:lvl3pPr>
            <a:lvl4pPr marL="4679899" indent="0">
              <a:buNone/>
              <a:defRPr sz="3412"/>
            </a:lvl4pPr>
            <a:lvl5pPr marL="6239866" indent="0">
              <a:buNone/>
              <a:defRPr sz="3412"/>
            </a:lvl5pPr>
            <a:lvl6pPr marL="7799832" indent="0">
              <a:buNone/>
              <a:defRPr sz="3412"/>
            </a:lvl6pPr>
            <a:lvl7pPr marL="9359798" indent="0">
              <a:buNone/>
              <a:defRPr sz="3412"/>
            </a:lvl7pPr>
            <a:lvl8pPr marL="10919765" indent="0">
              <a:buNone/>
              <a:defRPr sz="3412"/>
            </a:lvl8pPr>
            <a:lvl9pPr marL="12479731" indent="0">
              <a:buNone/>
              <a:defRPr sz="34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705B-4870-4470-A32F-307AEE1697AB}" type="datetimeFigureOut">
              <a:rPr lang="en-IE" smtClean="0"/>
              <a:t>07/10/2026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15519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705B-4870-4470-A32F-307AEE1697AB}" type="datetimeFigureOut">
              <a:rPr lang="en-IE" smtClean="0"/>
              <a:t>07/10/2026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24939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1245820"/>
            <a:ext cx="6986096" cy="1983020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1245820"/>
            <a:ext cx="20553298" cy="198302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0705B-4870-4470-A32F-307AEE1697AB}" type="datetimeFigureOut">
              <a:rPr lang="en-IE" smtClean="0"/>
              <a:t>07/10/2026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10463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1245825"/>
            <a:ext cx="27944386" cy="4522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6229100"/>
            <a:ext cx="27944386" cy="14846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21688107"/>
            <a:ext cx="7289840" cy="1245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C0705B-4870-4470-A32F-307AEE1697AB}" type="datetimeFigureOut">
              <a:rPr lang="en-IE" smtClean="0"/>
              <a:t>07/10/2026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21688107"/>
            <a:ext cx="10934760" cy="1245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21688107"/>
            <a:ext cx="7289840" cy="1245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6C440B-C6DB-40B9-9833-695DCBED08B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68338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3119933" rtl="0" eaLnBrk="1" latinLnBrk="0" hangingPunct="1">
        <a:lnSpc>
          <a:spcPct val="90000"/>
        </a:lnSpc>
        <a:spcBef>
          <a:spcPct val="0"/>
        </a:spcBef>
        <a:buNone/>
        <a:defRPr sz="150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79983" indent="-779983" algn="l" defTabSz="3119933" rtl="0" eaLnBrk="1" latinLnBrk="0" hangingPunct="1">
        <a:lnSpc>
          <a:spcPct val="90000"/>
        </a:lnSpc>
        <a:spcBef>
          <a:spcPts val="3412"/>
        </a:spcBef>
        <a:buFont typeface="Arial" panose="020B0604020202020204" pitchFamily="34" charset="0"/>
        <a:buChar char="•"/>
        <a:defRPr sz="9554" kern="1200">
          <a:solidFill>
            <a:schemeClr val="tx1"/>
          </a:solidFill>
          <a:latin typeface="+mn-lt"/>
          <a:ea typeface="+mn-ea"/>
          <a:cs typeface="+mn-cs"/>
        </a:defRPr>
      </a:lvl1pPr>
      <a:lvl2pPr marL="2339950" indent="-779983" algn="l" defTabSz="3119933" rtl="0" eaLnBrk="1" latinLnBrk="0" hangingPunct="1">
        <a:lnSpc>
          <a:spcPct val="90000"/>
        </a:lnSpc>
        <a:spcBef>
          <a:spcPts val="1706"/>
        </a:spcBef>
        <a:buFont typeface="Arial" panose="020B0604020202020204" pitchFamily="34" charset="0"/>
        <a:buChar char="•"/>
        <a:defRPr sz="8189" kern="1200">
          <a:solidFill>
            <a:schemeClr val="tx1"/>
          </a:solidFill>
          <a:latin typeface="+mn-lt"/>
          <a:ea typeface="+mn-ea"/>
          <a:cs typeface="+mn-cs"/>
        </a:defRPr>
      </a:lvl2pPr>
      <a:lvl3pPr marL="3899916" indent="-779983" algn="l" defTabSz="3119933" rtl="0" eaLnBrk="1" latinLnBrk="0" hangingPunct="1">
        <a:lnSpc>
          <a:spcPct val="90000"/>
        </a:lnSpc>
        <a:spcBef>
          <a:spcPts val="1706"/>
        </a:spcBef>
        <a:buFont typeface="Arial" panose="020B0604020202020204" pitchFamily="34" charset="0"/>
        <a:buChar char="•"/>
        <a:defRPr sz="6824" kern="1200">
          <a:solidFill>
            <a:schemeClr val="tx1"/>
          </a:solidFill>
          <a:latin typeface="+mn-lt"/>
          <a:ea typeface="+mn-ea"/>
          <a:cs typeface="+mn-cs"/>
        </a:defRPr>
      </a:lvl3pPr>
      <a:lvl4pPr marL="5459882" indent="-779983" algn="l" defTabSz="3119933" rtl="0" eaLnBrk="1" latinLnBrk="0" hangingPunct="1">
        <a:lnSpc>
          <a:spcPct val="90000"/>
        </a:lnSpc>
        <a:spcBef>
          <a:spcPts val="1706"/>
        </a:spcBef>
        <a:buFont typeface="Arial" panose="020B0604020202020204" pitchFamily="34" charset="0"/>
        <a:buChar char="•"/>
        <a:defRPr sz="6142" kern="1200">
          <a:solidFill>
            <a:schemeClr val="tx1"/>
          </a:solidFill>
          <a:latin typeface="+mn-lt"/>
          <a:ea typeface="+mn-ea"/>
          <a:cs typeface="+mn-cs"/>
        </a:defRPr>
      </a:lvl4pPr>
      <a:lvl5pPr marL="7019849" indent="-779983" algn="l" defTabSz="3119933" rtl="0" eaLnBrk="1" latinLnBrk="0" hangingPunct="1">
        <a:lnSpc>
          <a:spcPct val="90000"/>
        </a:lnSpc>
        <a:spcBef>
          <a:spcPts val="1706"/>
        </a:spcBef>
        <a:buFont typeface="Arial" panose="020B0604020202020204" pitchFamily="34" charset="0"/>
        <a:buChar char="•"/>
        <a:defRPr sz="6142" kern="1200">
          <a:solidFill>
            <a:schemeClr val="tx1"/>
          </a:solidFill>
          <a:latin typeface="+mn-lt"/>
          <a:ea typeface="+mn-ea"/>
          <a:cs typeface="+mn-cs"/>
        </a:defRPr>
      </a:lvl5pPr>
      <a:lvl6pPr marL="8579815" indent="-779983" algn="l" defTabSz="3119933" rtl="0" eaLnBrk="1" latinLnBrk="0" hangingPunct="1">
        <a:lnSpc>
          <a:spcPct val="90000"/>
        </a:lnSpc>
        <a:spcBef>
          <a:spcPts val="1706"/>
        </a:spcBef>
        <a:buFont typeface="Arial" panose="020B0604020202020204" pitchFamily="34" charset="0"/>
        <a:buChar char="•"/>
        <a:defRPr sz="6142" kern="1200">
          <a:solidFill>
            <a:schemeClr val="tx1"/>
          </a:solidFill>
          <a:latin typeface="+mn-lt"/>
          <a:ea typeface="+mn-ea"/>
          <a:cs typeface="+mn-cs"/>
        </a:defRPr>
      </a:lvl6pPr>
      <a:lvl7pPr marL="10139782" indent="-779983" algn="l" defTabSz="3119933" rtl="0" eaLnBrk="1" latinLnBrk="0" hangingPunct="1">
        <a:lnSpc>
          <a:spcPct val="90000"/>
        </a:lnSpc>
        <a:spcBef>
          <a:spcPts val="1706"/>
        </a:spcBef>
        <a:buFont typeface="Arial" panose="020B0604020202020204" pitchFamily="34" charset="0"/>
        <a:buChar char="•"/>
        <a:defRPr sz="6142" kern="1200">
          <a:solidFill>
            <a:schemeClr val="tx1"/>
          </a:solidFill>
          <a:latin typeface="+mn-lt"/>
          <a:ea typeface="+mn-ea"/>
          <a:cs typeface="+mn-cs"/>
        </a:defRPr>
      </a:lvl7pPr>
      <a:lvl8pPr marL="11699748" indent="-779983" algn="l" defTabSz="3119933" rtl="0" eaLnBrk="1" latinLnBrk="0" hangingPunct="1">
        <a:lnSpc>
          <a:spcPct val="90000"/>
        </a:lnSpc>
        <a:spcBef>
          <a:spcPts val="1706"/>
        </a:spcBef>
        <a:buFont typeface="Arial" panose="020B0604020202020204" pitchFamily="34" charset="0"/>
        <a:buChar char="•"/>
        <a:defRPr sz="6142" kern="1200">
          <a:solidFill>
            <a:schemeClr val="tx1"/>
          </a:solidFill>
          <a:latin typeface="+mn-lt"/>
          <a:ea typeface="+mn-ea"/>
          <a:cs typeface="+mn-cs"/>
        </a:defRPr>
      </a:lvl8pPr>
      <a:lvl9pPr marL="13259714" indent="-779983" algn="l" defTabSz="3119933" rtl="0" eaLnBrk="1" latinLnBrk="0" hangingPunct="1">
        <a:lnSpc>
          <a:spcPct val="90000"/>
        </a:lnSpc>
        <a:spcBef>
          <a:spcPts val="1706"/>
        </a:spcBef>
        <a:buFont typeface="Arial" panose="020B0604020202020204" pitchFamily="34" charset="0"/>
        <a:buChar char="•"/>
        <a:defRPr sz="614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19933" rtl="0" eaLnBrk="1" latinLnBrk="0" hangingPunct="1">
        <a:defRPr sz="6142" kern="1200">
          <a:solidFill>
            <a:schemeClr val="tx1"/>
          </a:solidFill>
          <a:latin typeface="+mn-lt"/>
          <a:ea typeface="+mn-ea"/>
          <a:cs typeface="+mn-cs"/>
        </a:defRPr>
      </a:lvl1pPr>
      <a:lvl2pPr marL="1559966" algn="l" defTabSz="3119933" rtl="0" eaLnBrk="1" latinLnBrk="0" hangingPunct="1">
        <a:defRPr sz="6142" kern="1200">
          <a:solidFill>
            <a:schemeClr val="tx1"/>
          </a:solidFill>
          <a:latin typeface="+mn-lt"/>
          <a:ea typeface="+mn-ea"/>
          <a:cs typeface="+mn-cs"/>
        </a:defRPr>
      </a:lvl2pPr>
      <a:lvl3pPr marL="3119933" algn="l" defTabSz="3119933" rtl="0" eaLnBrk="1" latinLnBrk="0" hangingPunct="1">
        <a:defRPr sz="6142" kern="1200">
          <a:solidFill>
            <a:schemeClr val="tx1"/>
          </a:solidFill>
          <a:latin typeface="+mn-lt"/>
          <a:ea typeface="+mn-ea"/>
          <a:cs typeface="+mn-cs"/>
        </a:defRPr>
      </a:lvl3pPr>
      <a:lvl4pPr marL="4679899" algn="l" defTabSz="3119933" rtl="0" eaLnBrk="1" latinLnBrk="0" hangingPunct="1">
        <a:defRPr sz="6142" kern="1200">
          <a:solidFill>
            <a:schemeClr val="tx1"/>
          </a:solidFill>
          <a:latin typeface="+mn-lt"/>
          <a:ea typeface="+mn-ea"/>
          <a:cs typeface="+mn-cs"/>
        </a:defRPr>
      </a:lvl4pPr>
      <a:lvl5pPr marL="6239866" algn="l" defTabSz="3119933" rtl="0" eaLnBrk="1" latinLnBrk="0" hangingPunct="1">
        <a:defRPr sz="6142" kern="1200">
          <a:solidFill>
            <a:schemeClr val="tx1"/>
          </a:solidFill>
          <a:latin typeface="+mn-lt"/>
          <a:ea typeface="+mn-ea"/>
          <a:cs typeface="+mn-cs"/>
        </a:defRPr>
      </a:lvl5pPr>
      <a:lvl6pPr marL="7799832" algn="l" defTabSz="3119933" rtl="0" eaLnBrk="1" latinLnBrk="0" hangingPunct="1">
        <a:defRPr sz="6142" kern="1200">
          <a:solidFill>
            <a:schemeClr val="tx1"/>
          </a:solidFill>
          <a:latin typeface="+mn-lt"/>
          <a:ea typeface="+mn-ea"/>
          <a:cs typeface="+mn-cs"/>
        </a:defRPr>
      </a:lvl6pPr>
      <a:lvl7pPr marL="9359798" algn="l" defTabSz="3119933" rtl="0" eaLnBrk="1" latinLnBrk="0" hangingPunct="1">
        <a:defRPr sz="6142" kern="1200">
          <a:solidFill>
            <a:schemeClr val="tx1"/>
          </a:solidFill>
          <a:latin typeface="+mn-lt"/>
          <a:ea typeface="+mn-ea"/>
          <a:cs typeface="+mn-cs"/>
        </a:defRPr>
      </a:lvl7pPr>
      <a:lvl8pPr marL="10919765" algn="l" defTabSz="3119933" rtl="0" eaLnBrk="1" latinLnBrk="0" hangingPunct="1">
        <a:defRPr sz="6142" kern="1200">
          <a:solidFill>
            <a:schemeClr val="tx1"/>
          </a:solidFill>
          <a:latin typeface="+mn-lt"/>
          <a:ea typeface="+mn-ea"/>
          <a:cs typeface="+mn-cs"/>
        </a:defRPr>
      </a:lvl8pPr>
      <a:lvl9pPr marL="12479731" algn="l" defTabSz="3119933" rtl="0" eaLnBrk="1" latinLnBrk="0" hangingPunct="1">
        <a:defRPr sz="61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Relationship Id="rId9" Type="http://schemas.openxmlformats.org/officeDocument/2006/relationships/image" Target="../media/image27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426BC-1520-2BF1-B7B3-52FCEB9AE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1318C-DBE3-415F-7E83-983D6F2FC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7400" y="928258"/>
            <a:ext cx="25641300" cy="4670205"/>
          </a:xfrm>
        </p:spPr>
        <p:txBody>
          <a:bodyPr>
            <a:noAutofit/>
          </a:bodyPr>
          <a:lstStyle/>
          <a:p>
            <a:pPr algn="ctr"/>
            <a:r>
              <a:rPr lang="en-IE" sz="16900" b="1" dirty="0"/>
              <a:t>High-Level Layered Architecture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E16935D-5F14-537E-1162-66BA030B76D0}"/>
              </a:ext>
            </a:extLst>
          </p:cNvPr>
          <p:cNvGrpSpPr/>
          <p:nvPr/>
        </p:nvGrpSpPr>
        <p:grpSpPr>
          <a:xfrm>
            <a:off x="6769101" y="7520077"/>
            <a:ext cx="19380200" cy="13771473"/>
            <a:chOff x="8222933" y="7291476"/>
            <a:chExt cx="13380721" cy="10027921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8AD5DC9-A2B0-E248-2339-42B3ED605801}"/>
                </a:ext>
              </a:extLst>
            </p:cNvPr>
            <p:cNvSpPr/>
            <p:nvPr/>
          </p:nvSpPr>
          <p:spPr>
            <a:xfrm>
              <a:off x="8233094" y="11192917"/>
              <a:ext cx="13370560" cy="2316480"/>
            </a:xfrm>
            <a:prstGeom prst="roundRect">
              <a:avLst/>
            </a:prstGeom>
            <a:solidFill>
              <a:srgbClr val="800020"/>
            </a:solidFill>
            <a:ln w="76200">
              <a:solidFill>
                <a:schemeClr val="tx1"/>
              </a:solidFill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6600" b="1" dirty="0">
                  <a:solidFill>
                    <a:schemeClr val="bg1"/>
                  </a:solidFill>
                </a:rPr>
                <a:t>Orchestration Layer</a:t>
              </a:r>
            </a:p>
            <a:p>
              <a:pPr algn="ctr"/>
              <a:r>
                <a:rPr lang="en-IE" sz="4400" b="1" i="1" dirty="0">
                  <a:solidFill>
                    <a:schemeClr val="bg1"/>
                  </a:solidFill>
                </a:rPr>
                <a:t>TaskTide DB Coordinated Clients</a:t>
              </a:r>
            </a:p>
            <a:p>
              <a:pPr algn="ctr"/>
              <a:r>
                <a:rPr lang="en-IE" sz="4400" b="1" i="1" dirty="0">
                  <a:solidFill>
                    <a:schemeClr val="bg1"/>
                  </a:solidFill>
                </a:rPr>
                <a:t>Monitoring, Workflow Deployment, Binding</a:t>
              </a:r>
              <a:endParaRPr lang="en-IE" sz="5400" b="1" i="1" dirty="0">
                <a:solidFill>
                  <a:schemeClr val="bg1"/>
                </a:solidFill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0D624A0-53B8-21B1-C12C-899AF45DC6E2}"/>
                </a:ext>
              </a:extLst>
            </p:cNvPr>
            <p:cNvSpPr/>
            <p:nvPr/>
          </p:nvSpPr>
          <p:spPr>
            <a:xfrm>
              <a:off x="8222933" y="15002917"/>
              <a:ext cx="13370560" cy="2316480"/>
            </a:xfrm>
            <a:prstGeom prst="roundRect">
              <a:avLst/>
            </a:prstGeom>
            <a:solidFill>
              <a:srgbClr val="3B3B98"/>
            </a:solidFill>
            <a:ln w="76200">
              <a:solidFill>
                <a:schemeClr val="tx1"/>
              </a:solidFill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6600" b="1" dirty="0">
                  <a:solidFill>
                    <a:schemeClr val="bg1"/>
                  </a:solidFill>
                </a:rPr>
                <a:t>Infrastructure Layer</a:t>
              </a:r>
            </a:p>
            <a:p>
              <a:pPr algn="ctr"/>
              <a:r>
                <a:rPr lang="en-IE" sz="4400" b="1" i="1" dirty="0">
                  <a:solidFill>
                    <a:schemeClr val="bg1"/>
                  </a:solidFill>
                </a:rPr>
                <a:t>Schedulers &amp; Provisioners</a:t>
              </a:r>
            </a:p>
            <a:p>
              <a:pPr algn="ctr"/>
              <a:r>
                <a:rPr lang="en-IE" sz="4400" b="1" i="1" dirty="0">
                  <a:solidFill>
                    <a:schemeClr val="bg1"/>
                  </a:solidFill>
                </a:rPr>
                <a:t>(SLURM, Hadoop, </a:t>
              </a:r>
              <a:r>
                <a:rPr lang="en-IE" sz="4400" b="1" i="1" dirty="0" err="1">
                  <a:solidFill>
                    <a:schemeClr val="bg1"/>
                  </a:solidFill>
                </a:rPr>
                <a:t>gLite</a:t>
              </a:r>
              <a:r>
                <a:rPr lang="en-IE" sz="4400" b="1" i="1" dirty="0">
                  <a:solidFill>
                    <a:schemeClr val="bg1"/>
                  </a:solidFill>
                </a:rPr>
                <a:t>, Kubernetes)</a:t>
              </a:r>
              <a:endParaRPr lang="en-IE" sz="5400" b="1" i="1" dirty="0">
                <a:solidFill>
                  <a:schemeClr val="bg1"/>
                </a:solidFill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7F0153C-F87B-D4B9-028C-456E925B336A}"/>
                </a:ext>
              </a:extLst>
            </p:cNvPr>
            <p:cNvSpPr/>
            <p:nvPr/>
          </p:nvSpPr>
          <p:spPr>
            <a:xfrm>
              <a:off x="8233094" y="7291476"/>
              <a:ext cx="13370560" cy="2316480"/>
            </a:xfrm>
            <a:prstGeom prst="roundRect">
              <a:avLst/>
            </a:prstGeom>
            <a:solidFill>
              <a:srgbClr val="2A2A72"/>
            </a:solidFill>
            <a:ln w="76200">
              <a:solidFill>
                <a:schemeClr val="tx1"/>
              </a:solidFill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6600" b="1" dirty="0">
                  <a:solidFill>
                    <a:schemeClr val="bg1"/>
                  </a:solidFill>
                </a:rPr>
                <a:t>Data Application Layer</a:t>
              </a:r>
            </a:p>
            <a:p>
              <a:pPr algn="ctr"/>
              <a:r>
                <a:rPr lang="en-IE" sz="4400" b="1" i="1" dirty="0">
                  <a:solidFill>
                    <a:schemeClr val="bg1"/>
                  </a:solidFill>
                </a:rPr>
                <a:t>Domain Specific Workflow Development</a:t>
              </a:r>
            </a:p>
            <a:p>
              <a:pPr algn="ctr"/>
              <a:r>
                <a:rPr lang="en-IE" sz="4400" b="1" i="1" dirty="0">
                  <a:solidFill>
                    <a:schemeClr val="bg1"/>
                  </a:solidFill>
                </a:rPr>
                <a:t>(ETL, AI, Spark)</a:t>
              </a:r>
              <a:endParaRPr lang="en-IE" sz="5400" b="1" i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3433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2F25226-8FE0-FB9E-6CF9-5C52BAB1CD28}"/>
              </a:ext>
            </a:extLst>
          </p:cNvPr>
          <p:cNvGrpSpPr/>
          <p:nvPr/>
        </p:nvGrpSpPr>
        <p:grpSpPr>
          <a:xfrm>
            <a:off x="2280654" y="922334"/>
            <a:ext cx="26992846" cy="21480466"/>
            <a:chOff x="6855210" y="3843496"/>
            <a:chExt cx="16922683" cy="15675181"/>
          </a:xfrm>
        </p:grpSpPr>
        <p:pic>
          <p:nvPicPr>
            <p:cNvPr id="5" name="Picture 4" descr="A logo of a white tooth with a red ball and bow and arrow&#10;&#10;AI-generated content may be incorrect.">
              <a:extLst>
                <a:ext uri="{FF2B5EF4-FFF2-40B4-BE49-F238E27FC236}">
                  <a16:creationId xmlns:a16="http://schemas.microsoft.com/office/drawing/2014/main" id="{73E130C7-F43E-218E-CFA0-2E472A988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17742" y="9388777"/>
              <a:ext cx="4075591" cy="2827219"/>
            </a:xfrm>
            <a:prstGeom prst="rect">
              <a:avLst/>
            </a:prstGeom>
          </p:spPr>
        </p:pic>
        <p:pic>
          <p:nvPicPr>
            <p:cNvPr id="6" name="Picture 5" descr="A close-up of a logo&#10;&#10;AI-generated content may be incorrect.">
              <a:extLst>
                <a:ext uri="{FF2B5EF4-FFF2-40B4-BE49-F238E27FC236}">
                  <a16:creationId xmlns:a16="http://schemas.microsoft.com/office/drawing/2014/main" id="{3B2EDDBA-81FB-2174-1909-4135281C08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6952" y="9744979"/>
              <a:ext cx="4112481" cy="2274120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CCDAD23B-55A5-E907-1F02-B4E40AB999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63915" y="5925376"/>
              <a:ext cx="4115234" cy="21399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F536A531-ACB6-9D4D-412A-8B43D77767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51020" y="4142596"/>
              <a:ext cx="2435749" cy="1567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Slurm Workload Manager - Wikipedia">
              <a:extLst>
                <a:ext uri="{FF2B5EF4-FFF2-40B4-BE49-F238E27FC236}">
                  <a16:creationId xmlns:a16="http://schemas.microsoft.com/office/drawing/2014/main" id="{B310FE77-77EC-EC3C-705C-C79EAD29B8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54665" y="14667365"/>
              <a:ext cx="3908804" cy="35798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Hadoop Consulting and Support Services 🐘">
              <a:extLst>
                <a:ext uri="{FF2B5EF4-FFF2-40B4-BE49-F238E27FC236}">
                  <a16:creationId xmlns:a16="http://schemas.microsoft.com/office/drawing/2014/main" id="{CF53062D-BC41-1A84-6CCE-94958EE1D6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85842" y="16392134"/>
              <a:ext cx="4872885" cy="2789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Kubernetes Logo and Wordmark Sticker ...">
              <a:extLst>
                <a:ext uri="{FF2B5EF4-FFF2-40B4-BE49-F238E27FC236}">
                  <a16:creationId xmlns:a16="http://schemas.microsoft.com/office/drawing/2014/main" id="{15AB4257-9B6F-5A87-7CEA-CC7E2C0145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17253" y="14692676"/>
              <a:ext cx="3645862" cy="36458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 descr="Python Logo PNG Vector (SVG) Free Download">
              <a:extLst>
                <a:ext uri="{FF2B5EF4-FFF2-40B4-BE49-F238E27FC236}">
                  <a16:creationId xmlns:a16="http://schemas.microsoft.com/office/drawing/2014/main" id="{62B89B67-4639-4806-8F38-BF34A52773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29035" y="4425079"/>
              <a:ext cx="3227499" cy="32274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A815DD6-CF85-CA76-C8C9-BE2CB88C0BC0}"/>
                </a:ext>
              </a:extLst>
            </p:cNvPr>
            <p:cNvSpPr/>
            <p:nvPr/>
          </p:nvSpPr>
          <p:spPr>
            <a:xfrm>
              <a:off x="8172133" y="3843496"/>
              <a:ext cx="15544800" cy="4470400"/>
            </a:xfrm>
            <a:prstGeom prst="roundRect">
              <a:avLst/>
            </a:prstGeom>
            <a:noFill/>
            <a:ln w="76200">
              <a:solidFill>
                <a:srgbClr val="2A2A7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93361AE9-7B9B-9BA8-B967-A09704AB0BCC}"/>
                </a:ext>
              </a:extLst>
            </p:cNvPr>
            <p:cNvSpPr/>
            <p:nvPr/>
          </p:nvSpPr>
          <p:spPr>
            <a:xfrm>
              <a:off x="8202614" y="8807512"/>
              <a:ext cx="15544800" cy="4909804"/>
            </a:xfrm>
            <a:prstGeom prst="roundRect">
              <a:avLst/>
            </a:prstGeom>
            <a:noFill/>
            <a:ln w="76200">
              <a:solidFill>
                <a:srgbClr val="80002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E4D2371-C54A-9C5B-B216-E076192FB328}"/>
                </a:ext>
              </a:extLst>
            </p:cNvPr>
            <p:cNvSpPr/>
            <p:nvPr/>
          </p:nvSpPr>
          <p:spPr>
            <a:xfrm>
              <a:off x="8233093" y="14186377"/>
              <a:ext cx="15544800" cy="5332300"/>
            </a:xfrm>
            <a:prstGeom prst="roundRect">
              <a:avLst/>
            </a:prstGeom>
            <a:noFill/>
            <a:ln w="76200">
              <a:solidFill>
                <a:srgbClr val="3B3B98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pic>
          <p:nvPicPr>
            <p:cNvPr id="1046" name="Picture 22" descr="R Meets Hardware | R-bloggers">
              <a:extLst>
                <a:ext uri="{FF2B5EF4-FFF2-40B4-BE49-F238E27FC236}">
                  <a16:creationId xmlns:a16="http://schemas.microsoft.com/office/drawing/2014/main" id="{A71FA59A-7421-FA14-8B69-A08ECC9461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35076" y="4175653"/>
              <a:ext cx="3581399" cy="3581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2E426D-90DF-9E70-8E8B-8220C5D9CE9B}"/>
                </a:ext>
              </a:extLst>
            </p:cNvPr>
            <p:cNvSpPr txBox="1"/>
            <p:nvPr/>
          </p:nvSpPr>
          <p:spPr>
            <a:xfrm rot="16200000">
              <a:off x="5387583" y="5583363"/>
              <a:ext cx="4035097" cy="1099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5400" b="1" i="1" dirty="0">
                  <a:solidFill>
                    <a:srgbClr val="2A2A72"/>
                  </a:solidFill>
                </a:rPr>
                <a:t>Data Application Layer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A1024C1-7776-2129-C309-C8FF5AE68EEE}"/>
                </a:ext>
              </a:extLst>
            </p:cNvPr>
            <p:cNvSpPr txBox="1"/>
            <p:nvPr/>
          </p:nvSpPr>
          <p:spPr>
            <a:xfrm rot="16200000">
              <a:off x="5397742" y="10856405"/>
              <a:ext cx="4035097" cy="1099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5400" b="1" i="1" dirty="0">
                  <a:solidFill>
                    <a:srgbClr val="800020"/>
                  </a:solidFill>
                </a:rPr>
                <a:t>Orchestration    Layer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442966-5C09-8D5B-777A-DC9B15E129F1}"/>
                </a:ext>
              </a:extLst>
            </p:cNvPr>
            <p:cNvSpPr txBox="1"/>
            <p:nvPr/>
          </p:nvSpPr>
          <p:spPr>
            <a:xfrm rot="16200000">
              <a:off x="5509502" y="16376509"/>
              <a:ext cx="4035097" cy="10998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5400" b="1" i="1" dirty="0">
                  <a:solidFill>
                    <a:srgbClr val="3B3B98"/>
                  </a:solidFill>
                </a:rPr>
                <a:t>Infrastructure    Layer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0CB8691-6939-E709-3301-C6197E863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3893513" y="9101050"/>
              <a:ext cx="4127826" cy="40785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5011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1">
            <a:extLst>
              <a:ext uri="{FF2B5EF4-FFF2-40B4-BE49-F238E27FC236}">
                <a16:creationId xmlns:a16="http://schemas.microsoft.com/office/drawing/2014/main" id="{EF357E12-E983-D424-5A83-D4123F561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9685" y="787897"/>
            <a:ext cx="25184099" cy="2688090"/>
          </a:xfrm>
        </p:spPr>
        <p:txBody>
          <a:bodyPr>
            <a:normAutofit/>
          </a:bodyPr>
          <a:lstStyle/>
          <a:p>
            <a:pPr algn="ctr"/>
            <a:r>
              <a:rPr lang="en-IE" b="1" dirty="0"/>
              <a:t>TaskTide Operating Principle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6A874B3-EC93-DDA4-DD78-3262565EF4E4}"/>
              </a:ext>
            </a:extLst>
          </p:cNvPr>
          <p:cNvGrpSpPr/>
          <p:nvPr/>
        </p:nvGrpSpPr>
        <p:grpSpPr>
          <a:xfrm>
            <a:off x="4110183" y="4562598"/>
            <a:ext cx="23964900" cy="17603804"/>
            <a:chOff x="6181099" y="6093585"/>
            <a:chExt cx="17621480" cy="1332707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C593204-5C51-61CB-9B93-20CA3CC9130B}"/>
                </a:ext>
              </a:extLst>
            </p:cNvPr>
            <p:cNvSpPr/>
            <p:nvPr/>
          </p:nvSpPr>
          <p:spPr>
            <a:xfrm>
              <a:off x="12795661" y="6847712"/>
              <a:ext cx="4303049" cy="4136823"/>
            </a:xfrm>
            <a:prstGeom prst="round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sz="4000" b="1" i="1" dirty="0">
                <a:solidFill>
                  <a:schemeClr val="bg1"/>
                </a:solidFill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A483FD1-2ED0-F4AB-A3F3-2BA1245E818F}"/>
                </a:ext>
              </a:extLst>
            </p:cNvPr>
            <p:cNvGrpSpPr/>
            <p:nvPr/>
          </p:nvGrpSpPr>
          <p:grpSpPr>
            <a:xfrm>
              <a:off x="6181099" y="14489723"/>
              <a:ext cx="6601490" cy="4923378"/>
              <a:chOff x="42560" y="9141619"/>
              <a:chExt cx="6145249" cy="4390864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8B1E6658-9A50-53B7-522A-B91C6DE4A836}"/>
                  </a:ext>
                </a:extLst>
              </p:cNvPr>
              <p:cNvSpPr/>
              <p:nvPr/>
            </p:nvSpPr>
            <p:spPr>
              <a:xfrm>
                <a:off x="990600" y="9141619"/>
                <a:ext cx="4114801" cy="3578116"/>
              </a:xfrm>
              <a:prstGeom prst="roundRect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 sz="4000" b="1" i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3DC12C-8069-DABB-86FA-74E7D28D8B99}"/>
                  </a:ext>
                </a:extLst>
              </p:cNvPr>
              <p:cNvSpPr txBox="1"/>
              <p:nvPr/>
            </p:nvSpPr>
            <p:spPr>
              <a:xfrm>
                <a:off x="42560" y="12846735"/>
                <a:ext cx="6145249" cy="685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E" sz="6000" b="1" dirty="0">
                    <a:solidFill>
                      <a:srgbClr val="4A4A69"/>
                    </a:solidFill>
                  </a:rPr>
                  <a:t>TaskTide Manager Client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81669E7-28FA-74AB-AAF2-D15F49FDBFDA}"/>
                </a:ext>
              </a:extLst>
            </p:cNvPr>
            <p:cNvSpPr txBox="1"/>
            <p:nvPr/>
          </p:nvSpPr>
          <p:spPr>
            <a:xfrm>
              <a:off x="12123300" y="6093585"/>
              <a:ext cx="5730786" cy="768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6000" b="1" dirty="0">
                  <a:solidFill>
                    <a:srgbClr val="400020"/>
                  </a:solidFill>
                </a:rPr>
                <a:t>TaskTide Repository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C64E6B9-19FD-0A28-C46A-500411995680}"/>
                </a:ext>
              </a:extLst>
            </p:cNvPr>
            <p:cNvGrpSpPr/>
            <p:nvPr/>
          </p:nvGrpSpPr>
          <p:grpSpPr>
            <a:xfrm>
              <a:off x="17646323" y="14416596"/>
              <a:ext cx="6156256" cy="5004066"/>
              <a:chOff x="11591831" y="9246292"/>
              <a:chExt cx="6156256" cy="5004065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5B4C2370-9AAF-48EF-E4FD-131500998CB2}"/>
                  </a:ext>
                </a:extLst>
              </p:cNvPr>
              <p:cNvGrpSpPr/>
              <p:nvPr/>
            </p:nvGrpSpPr>
            <p:grpSpPr>
              <a:xfrm>
                <a:off x="12475012" y="9246292"/>
                <a:ext cx="4432254" cy="4040981"/>
                <a:chOff x="11866610" y="9319419"/>
                <a:chExt cx="4432254" cy="4040981"/>
              </a:xfrm>
            </p:grpSpPr>
            <p:sp>
              <p:nvSpPr>
                <p:cNvPr id="7" name="Rectangle: Rounded Corners 6">
                  <a:extLst>
                    <a:ext uri="{FF2B5EF4-FFF2-40B4-BE49-F238E27FC236}">
                      <a16:creationId xmlns:a16="http://schemas.microsoft.com/office/drawing/2014/main" id="{208A7A84-1774-C912-AB85-F801B08D27F6}"/>
                    </a:ext>
                  </a:extLst>
                </p:cNvPr>
                <p:cNvSpPr/>
                <p:nvPr/>
              </p:nvSpPr>
              <p:spPr>
                <a:xfrm>
                  <a:off x="11866610" y="9319419"/>
                  <a:ext cx="4432254" cy="4040981"/>
                </a:xfrm>
                <a:prstGeom prst="roundRect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  <a:effectLst>
                  <a:outerShdw blurRad="190500" dist="228600" dir="2700000" algn="ctr">
                    <a:srgbClr val="000000">
                      <a:alpha val="30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glow" dir="t">
                    <a:rot lat="0" lon="0" rev="4800000"/>
                  </a:lightRig>
                </a:scene3d>
                <a:sp3d prstMaterial="matte">
                  <a:bevelT w="127000" h="63500"/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E" sz="4000" b="1" i="1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29" name="Graphic 28" descr="Server with solid fill">
                  <a:extLst>
                    <a:ext uri="{FF2B5EF4-FFF2-40B4-BE49-F238E27FC236}">
                      <a16:creationId xmlns:a16="http://schemas.microsoft.com/office/drawing/2014/main" id="{8316283D-7B25-8065-9774-0C00AB121A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372602" y="9457606"/>
                  <a:ext cx="3420270" cy="3420270"/>
                </a:xfrm>
                <a:prstGeom prst="rect">
                  <a:avLst/>
                </a:prstGeom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C0BC1BF-385F-CF2F-0C38-6F357B388D21}"/>
                  </a:ext>
                </a:extLst>
              </p:cNvPr>
              <p:cNvSpPr txBox="1"/>
              <p:nvPr/>
            </p:nvSpPr>
            <p:spPr>
              <a:xfrm>
                <a:off x="11591831" y="13481443"/>
                <a:ext cx="6156256" cy="768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E" sz="6000" b="1" dirty="0">
                    <a:solidFill>
                      <a:srgbClr val="2A2A72"/>
                    </a:solidFill>
                  </a:rPr>
                  <a:t>TaskTide Engine Client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6F9FCBA-4E1C-7234-C161-8A6523B5DD34}"/>
                </a:ext>
              </a:extLst>
            </p:cNvPr>
            <p:cNvGrpSpPr/>
            <p:nvPr/>
          </p:nvGrpSpPr>
          <p:grpSpPr>
            <a:xfrm>
              <a:off x="7816677" y="14797111"/>
              <a:ext cx="3161011" cy="3266573"/>
              <a:chOff x="1594225" y="9626813"/>
              <a:chExt cx="3161011" cy="3266573"/>
            </a:xfrm>
            <a:effectLst/>
          </p:grpSpPr>
          <p:pic>
            <p:nvPicPr>
              <p:cNvPr id="27" name="Graphic 26" descr="Users with solid fill">
                <a:extLst>
                  <a:ext uri="{FF2B5EF4-FFF2-40B4-BE49-F238E27FC236}">
                    <a16:creationId xmlns:a16="http://schemas.microsoft.com/office/drawing/2014/main" id="{C595667A-372A-C4AB-5F8D-E34128647C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594225" y="9626813"/>
                <a:ext cx="3161011" cy="3161011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82D307F-6BEB-7D2A-6BA7-2370D2763BDE}"/>
                  </a:ext>
                </a:extLst>
              </p:cNvPr>
              <p:cNvSpPr txBox="1"/>
              <p:nvPr/>
            </p:nvSpPr>
            <p:spPr>
              <a:xfrm>
                <a:off x="2044096" y="12310876"/>
                <a:ext cx="2229323" cy="5825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E" sz="4400" b="1" dirty="0">
                    <a:solidFill>
                      <a:srgbClr val="4A4A69"/>
                    </a:solidFill>
                  </a:rPr>
                  <a:t>Users</a:t>
                </a:r>
              </a:p>
            </p:txBody>
          </p:sp>
        </p:grp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E7CFD93B-E941-33F7-5042-967656AE31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19232" y="11029928"/>
              <a:ext cx="2997323" cy="3139776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2101EE2E-D242-5A1D-0B22-F09ED2102B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8714" y="11235207"/>
              <a:ext cx="2960525" cy="3112115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A64FC3B-2231-AB00-0114-7D3B3E4D57AC}"/>
                </a:ext>
              </a:extLst>
            </p:cNvPr>
            <p:cNvSpPr txBox="1"/>
            <p:nvPr/>
          </p:nvSpPr>
          <p:spPr>
            <a:xfrm rot="18828662">
              <a:off x="9451300" y="12205950"/>
              <a:ext cx="3109915" cy="475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3600" b="1" dirty="0"/>
                <a:t>Register Tasks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2CC0E93-2FC7-E32C-8A01-598038EDD30E}"/>
                </a:ext>
              </a:extLst>
            </p:cNvPr>
            <p:cNvSpPr txBox="1"/>
            <p:nvPr/>
          </p:nvSpPr>
          <p:spPr>
            <a:xfrm rot="18828662">
              <a:off x="10099243" y="12628871"/>
              <a:ext cx="3109915" cy="475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3600" b="1" dirty="0"/>
                <a:t>Query Tasks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E870012A-93A9-A141-B3C1-9A921F3801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913599" y="11197878"/>
              <a:ext cx="2719222" cy="307746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BA893D8-ADC2-1C69-849B-ACBFE36CE7F6}"/>
                </a:ext>
              </a:extLst>
            </p:cNvPr>
            <p:cNvSpPr txBox="1"/>
            <p:nvPr/>
          </p:nvSpPr>
          <p:spPr>
            <a:xfrm rot="2935289">
              <a:off x="17059217" y="12143421"/>
              <a:ext cx="3109915" cy="475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3600" b="1" dirty="0"/>
                <a:t>Consume Tasks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F9934AA2-464E-7C46-F454-9C4F19C44E45}"/>
                </a:ext>
              </a:extLst>
            </p:cNvPr>
            <p:cNvCxnSpPr>
              <a:cxnSpLocks/>
            </p:cNvCxnSpPr>
            <p:nvPr/>
          </p:nvCxnSpPr>
          <p:spPr>
            <a:xfrm>
              <a:off x="17173353" y="11141902"/>
              <a:ext cx="2772793" cy="3138997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D550E53-A724-EDEC-286E-FCB879197398}"/>
                </a:ext>
              </a:extLst>
            </p:cNvPr>
            <p:cNvSpPr txBox="1"/>
            <p:nvPr/>
          </p:nvSpPr>
          <p:spPr>
            <a:xfrm rot="2912262">
              <a:off x="16379015" y="12685600"/>
              <a:ext cx="3423398" cy="475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3600" b="1" dirty="0"/>
                <a:t>Update Task States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962488A-2419-8503-18D0-7ACC535DDBA1}"/>
                </a:ext>
              </a:extLst>
            </p:cNvPr>
            <p:cNvSpPr txBox="1"/>
            <p:nvPr/>
          </p:nvSpPr>
          <p:spPr>
            <a:xfrm>
              <a:off x="19902605" y="17721856"/>
              <a:ext cx="1802445" cy="5825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E" sz="4400" b="1" dirty="0">
                  <a:solidFill>
                    <a:srgbClr val="2A2A72"/>
                  </a:solidFill>
                </a:rPr>
                <a:t>Server </a:t>
              </a:r>
              <a:endParaRPr lang="en-IE" sz="4400" dirty="0"/>
            </a:p>
          </p:txBody>
        </p:sp>
        <p:pic>
          <p:nvPicPr>
            <p:cNvPr id="8" name="Graphic 7" descr="Database with solid fill">
              <a:extLst>
                <a:ext uri="{FF2B5EF4-FFF2-40B4-BE49-F238E27FC236}">
                  <a16:creationId xmlns:a16="http://schemas.microsoft.com/office/drawing/2014/main" id="{ED8D8A1C-43A2-F999-B330-E1B3A6D456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978694" y="7006230"/>
              <a:ext cx="3893439" cy="347775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57A4EB6-B6C0-EE2C-43D3-54A695091B52}"/>
                </a:ext>
              </a:extLst>
            </p:cNvPr>
            <p:cNvSpPr txBox="1"/>
            <p:nvPr/>
          </p:nvSpPr>
          <p:spPr>
            <a:xfrm>
              <a:off x="13586368" y="10226501"/>
              <a:ext cx="2766018" cy="582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4400" b="1" dirty="0">
                  <a:solidFill>
                    <a:srgbClr val="400020"/>
                  </a:solidFill>
                </a:rPr>
                <a:t>Database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0443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CE12E96-8C5E-A419-F945-40DB3DCD2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759542"/>
              </p:ext>
            </p:extLst>
          </p:nvPr>
        </p:nvGraphicFramePr>
        <p:xfrm>
          <a:off x="1205426" y="3740727"/>
          <a:ext cx="29988439" cy="15722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6351">
                  <a:extLst>
                    <a:ext uri="{9D8B030D-6E8A-4147-A177-3AD203B41FA5}">
                      <a16:colId xmlns:a16="http://schemas.microsoft.com/office/drawing/2014/main" val="1828399440"/>
                    </a:ext>
                  </a:extLst>
                </a:gridCol>
                <a:gridCol w="7264400">
                  <a:extLst>
                    <a:ext uri="{9D8B030D-6E8A-4147-A177-3AD203B41FA5}">
                      <a16:colId xmlns:a16="http://schemas.microsoft.com/office/drawing/2014/main" val="2244831700"/>
                    </a:ext>
                  </a:extLst>
                </a:gridCol>
                <a:gridCol w="8473213">
                  <a:extLst>
                    <a:ext uri="{9D8B030D-6E8A-4147-A177-3AD203B41FA5}">
                      <a16:colId xmlns:a16="http://schemas.microsoft.com/office/drawing/2014/main" val="3426773098"/>
                    </a:ext>
                  </a:extLst>
                </a:gridCol>
                <a:gridCol w="8584475">
                  <a:extLst>
                    <a:ext uri="{9D8B030D-6E8A-4147-A177-3AD203B41FA5}">
                      <a16:colId xmlns:a16="http://schemas.microsoft.com/office/drawing/2014/main" val="2953560966"/>
                    </a:ext>
                  </a:extLst>
                </a:gridCol>
              </a:tblGrid>
              <a:tr h="1967346">
                <a:tc gridSpan="4">
                  <a:txBody>
                    <a:bodyPr/>
                    <a:lstStyle/>
                    <a:p>
                      <a:pPr algn="ctr"/>
                      <a:r>
                        <a:rPr lang="en-IE" sz="8000" dirty="0"/>
                        <a:t>TaskTide Feature Summary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161320"/>
                  </a:ext>
                </a:extLst>
              </a:tr>
              <a:tr h="1980279">
                <a:tc>
                  <a:txBody>
                    <a:bodyPr/>
                    <a:lstStyle/>
                    <a:p>
                      <a:pPr algn="ctr"/>
                      <a:r>
                        <a:rPr lang="en-IE" sz="6000" b="1" dirty="0"/>
                        <a:t>Component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6000" b="1" dirty="0"/>
                        <a:t>Purpose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6000" b="1"/>
                        <a:t>Contributions</a:t>
                      </a:r>
                      <a:endParaRPr lang="en-IE" sz="6000" b="1" dirty="0"/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6000" b="1" dirty="0"/>
                        <a:t>Operational Value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659651"/>
                  </a:ext>
                </a:extLst>
              </a:tr>
              <a:tr h="2823029">
                <a:tc>
                  <a:txBody>
                    <a:bodyPr/>
                    <a:lstStyle/>
                    <a:p>
                      <a:pPr algn="ctr"/>
                      <a:r>
                        <a:rPr lang="en-IE" sz="5600" b="1" dirty="0"/>
                        <a:t>Core Library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 sz="3600" dirty="0"/>
                        <a:t> Defines data model,</a:t>
                      </a:r>
                    </a:p>
                    <a:p>
                      <a:pPr lvl="0" algn="ctr"/>
                      <a:r>
                        <a:rPr lang="en-IE" sz="3600" dirty="0"/>
                        <a:t>and CRUD operations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 sz="3600" dirty="0"/>
                        <a:t>Backend agnostic; Standardized data model; Custom data fields;          Workflow-Execution context mapping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 sz="3600" dirty="0"/>
                        <a:t>Workflow reproducibility &amp; portability; Flexible workflow introspection;          Heterogenous deployment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10343"/>
                  </a:ext>
                </a:extLst>
              </a:tr>
              <a:tr h="2768600">
                <a:tc>
                  <a:txBody>
                    <a:bodyPr/>
                    <a:lstStyle/>
                    <a:p>
                      <a:pPr algn="ctr"/>
                      <a:r>
                        <a:rPr lang="en-IE" sz="5600" b="1" dirty="0"/>
                        <a:t>Engine Library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 sz="3600" dirty="0"/>
                        <a:t>Defines modularized components for consuming registered tasks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 sz="3600" dirty="0"/>
                        <a:t>Producer-consumer execution;</a:t>
                      </a:r>
                    </a:p>
                    <a:p>
                      <a:pPr lvl="0" algn="ctr"/>
                      <a:r>
                        <a:rPr lang="en-IE" sz="3600" dirty="0"/>
                        <a:t>Pilot-Job semantics; Multi-Level parallelism; Real-time monitoring.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 sz="3600" dirty="0"/>
                        <a:t>Scalable ETL deployment; Late &amp; early task binding semantics; Adaptive workflows; Fault tolerance. 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16412"/>
                  </a:ext>
                </a:extLst>
              </a:tr>
              <a:tr h="3494859">
                <a:tc>
                  <a:txBody>
                    <a:bodyPr/>
                    <a:lstStyle/>
                    <a:p>
                      <a:pPr algn="ctr"/>
                      <a:r>
                        <a:rPr lang="en-IE" sz="5600" b="1" dirty="0"/>
                        <a:t>Web API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 sz="3600" dirty="0"/>
                        <a:t>Defines RESTful interface for interacting with TaskTide services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 sz="3600" dirty="0"/>
                        <a:t>Unified access layer for workflow management; Supports programmatic task registration, querying, and monitoring; Enables integration with external systems &amp; services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 sz="3600" dirty="0"/>
                        <a:t>Enables deployment as a service within distributed architectures; Supports web-based dashboarding and multi-user access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735797"/>
                  </a:ext>
                </a:extLst>
              </a:tr>
              <a:tr h="2688771">
                <a:tc>
                  <a:txBody>
                    <a:bodyPr/>
                    <a:lstStyle/>
                    <a:p>
                      <a:pPr algn="ctr"/>
                      <a:r>
                        <a:rPr lang="en-IE" sz="5600" b="1" dirty="0"/>
                        <a:t>Client   Application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 sz="3600" dirty="0"/>
                        <a:t>Exposes Manager, and Engine functionality through a single interface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 sz="3600" dirty="0"/>
                        <a:t>Unified client; Configurable; Extensible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 sz="3600" dirty="0"/>
                        <a:t>Low-friction adoption; Automation;      Multi disciplinary application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70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7654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2BFA5-0373-6222-4BE2-32A21E203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0B5A48C-49CA-996C-3E76-205C2EA8E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354433"/>
              </p:ext>
            </p:extLst>
          </p:nvPr>
        </p:nvGraphicFramePr>
        <p:xfrm>
          <a:off x="1626833" y="4212383"/>
          <a:ext cx="29744120" cy="14077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66493">
                  <a:extLst>
                    <a:ext uri="{9D8B030D-6E8A-4147-A177-3AD203B41FA5}">
                      <a16:colId xmlns:a16="http://schemas.microsoft.com/office/drawing/2014/main" val="1828399440"/>
                    </a:ext>
                  </a:extLst>
                </a:gridCol>
                <a:gridCol w="15377627">
                  <a:extLst>
                    <a:ext uri="{9D8B030D-6E8A-4147-A177-3AD203B41FA5}">
                      <a16:colId xmlns:a16="http://schemas.microsoft.com/office/drawing/2014/main" val="2244831700"/>
                    </a:ext>
                  </a:extLst>
                </a:gridCol>
              </a:tblGrid>
              <a:tr h="1766386">
                <a:tc gridSpan="2">
                  <a:txBody>
                    <a:bodyPr/>
                    <a:lstStyle/>
                    <a:p>
                      <a:pPr algn="ctr"/>
                      <a:r>
                        <a:rPr lang="en-IE" sz="8800" dirty="0"/>
                        <a:t>TaskTide Resources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shade val="30000"/>
                            <a:satMod val="115000"/>
                          </a:schemeClr>
                        </a:gs>
                        <a:gs pos="50000">
                          <a:schemeClr val="accent1">
                            <a:shade val="67500"/>
                            <a:satMod val="115000"/>
                          </a:schemeClr>
                        </a:gs>
                        <a:gs pos="100000">
                          <a:schemeClr val="accent1">
                            <a:shade val="100000"/>
                            <a:satMod val="115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161320"/>
                  </a:ext>
                </a:extLst>
              </a:tr>
              <a:tr h="1538927">
                <a:tc>
                  <a:txBody>
                    <a:bodyPr/>
                    <a:lstStyle/>
                    <a:p>
                      <a:pPr algn="ctr"/>
                      <a:r>
                        <a:rPr lang="en-IE" sz="7600" b="1" dirty="0"/>
                        <a:t>Resource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7600" b="1" dirty="0"/>
                        <a:t>Location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659651"/>
                  </a:ext>
                </a:extLst>
              </a:tr>
              <a:tr h="1538927">
                <a:tc>
                  <a:txBody>
                    <a:bodyPr/>
                    <a:lstStyle/>
                    <a:p>
                      <a:pPr algn="ctr"/>
                      <a:r>
                        <a:rPr lang="en-IE" sz="6600" b="1" dirty="0"/>
                        <a:t>Project Website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 sz="5800" dirty="0"/>
                        <a:t>tasktide.org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10343"/>
                  </a:ext>
                </a:extLst>
              </a:tr>
              <a:tr h="1538927">
                <a:tc>
                  <a:txBody>
                    <a:bodyPr/>
                    <a:lstStyle/>
                    <a:p>
                      <a:pPr algn="ctr"/>
                      <a:r>
                        <a:rPr lang="en-IE" sz="6600" b="1"/>
                        <a:t>Use Cases</a:t>
                      </a:r>
                      <a:endParaRPr lang="en-IE" sz="6600" b="1" dirty="0"/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 sz="5800" dirty="0"/>
                        <a:t>use-cases.tasktide.org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916412"/>
                  </a:ext>
                </a:extLst>
              </a:tr>
              <a:tr h="1538927">
                <a:tc>
                  <a:txBody>
                    <a:bodyPr/>
                    <a:lstStyle/>
                    <a:p>
                      <a:pPr algn="ctr"/>
                      <a:r>
                        <a:rPr lang="en-IE" sz="6600" b="1" dirty="0"/>
                        <a:t>Source Code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 sz="5800" dirty="0"/>
                        <a:t>github.tasktide.org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735797"/>
                  </a:ext>
                </a:extLst>
              </a:tr>
              <a:tr h="1538927">
                <a:tc>
                  <a:txBody>
                    <a:bodyPr/>
                    <a:lstStyle/>
                    <a:p>
                      <a:pPr algn="ctr"/>
                      <a:r>
                        <a:rPr lang="en-IE" sz="6600" b="1" dirty="0"/>
                        <a:t>Docker Image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 sz="5800" dirty="0"/>
                        <a:t>docker.tasktide.org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13370"/>
                  </a:ext>
                </a:extLst>
              </a:tr>
              <a:tr h="1538927">
                <a:tc>
                  <a:txBody>
                    <a:bodyPr/>
                    <a:lstStyle/>
                    <a:p>
                      <a:pPr algn="ctr"/>
                      <a:r>
                        <a:rPr lang="en-IE" sz="6600" b="1" dirty="0"/>
                        <a:t>Maven Packages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 sz="5800" dirty="0"/>
                        <a:t>maven.tasktide.org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70308"/>
                  </a:ext>
                </a:extLst>
              </a:tr>
              <a:tr h="1538927">
                <a:tc>
                  <a:txBody>
                    <a:bodyPr/>
                    <a:lstStyle/>
                    <a:p>
                      <a:pPr algn="ctr"/>
                      <a:r>
                        <a:rPr lang="en-IE" sz="6600" b="1" dirty="0"/>
                        <a:t>Documentation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 sz="5800" dirty="0"/>
                        <a:t>docs.tasktide.org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6162430"/>
                  </a:ext>
                </a:extLst>
              </a:tr>
              <a:tr h="1538927">
                <a:tc>
                  <a:txBody>
                    <a:bodyPr/>
                    <a:lstStyle/>
                    <a:p>
                      <a:pPr algn="ctr"/>
                      <a:r>
                        <a:rPr lang="en-IE" sz="6600" b="1" dirty="0"/>
                        <a:t>API Documentation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 sz="5800" dirty="0"/>
                        <a:t>api-docs.tasktide.org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5498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4840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442C53B-82B7-2AD8-D924-9DF52C633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1166" y="1106687"/>
            <a:ext cx="7968078" cy="715267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6C33F0F-4EC8-6417-475A-ADE518857DA8}"/>
              </a:ext>
            </a:extLst>
          </p:cNvPr>
          <p:cNvGrpSpPr/>
          <p:nvPr/>
        </p:nvGrpSpPr>
        <p:grpSpPr>
          <a:xfrm>
            <a:off x="1651000" y="4509416"/>
            <a:ext cx="29664648" cy="15863243"/>
            <a:chOff x="304800" y="3633114"/>
            <a:chExt cx="29664648" cy="15863243"/>
          </a:xfrm>
        </p:grpSpPr>
        <p:sp>
          <p:nvSpPr>
            <p:cNvPr id="121" name="Flowchart: Alternate Process 120">
              <a:extLst>
                <a:ext uri="{FF2B5EF4-FFF2-40B4-BE49-F238E27FC236}">
                  <a16:creationId xmlns:a16="http://schemas.microsoft.com/office/drawing/2014/main" id="{C4AB3B5F-5649-035E-E24A-02D3222804EB}"/>
                </a:ext>
              </a:extLst>
            </p:cNvPr>
            <p:cNvSpPr/>
            <p:nvPr/>
          </p:nvSpPr>
          <p:spPr>
            <a:xfrm>
              <a:off x="4785717" y="3674793"/>
              <a:ext cx="6201238" cy="1263908"/>
            </a:xfrm>
            <a:prstGeom prst="flowChartAlternateProcess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5000" b="1" dirty="0"/>
                <a:t>TaskTide Client</a:t>
              </a:r>
            </a:p>
          </p:txBody>
        </p:sp>
        <p:sp>
          <p:nvSpPr>
            <p:cNvPr id="122" name="Flowchart: Alternate Process 121">
              <a:extLst>
                <a:ext uri="{FF2B5EF4-FFF2-40B4-BE49-F238E27FC236}">
                  <a16:creationId xmlns:a16="http://schemas.microsoft.com/office/drawing/2014/main" id="{05A3D55B-44F3-C334-1AB1-EC5DE97704AE}"/>
                </a:ext>
              </a:extLst>
            </p:cNvPr>
            <p:cNvSpPr/>
            <p:nvPr/>
          </p:nvSpPr>
          <p:spPr>
            <a:xfrm>
              <a:off x="1537290" y="6136439"/>
              <a:ext cx="4585982" cy="1343146"/>
            </a:xfrm>
            <a:prstGeom prst="flowChartAlternateProcess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5000" b="1" dirty="0"/>
                <a:t>ManagerClient</a:t>
              </a:r>
            </a:p>
          </p:txBody>
        </p:sp>
        <p:sp>
          <p:nvSpPr>
            <p:cNvPr id="123" name="Flowchart: Alternate Process 122">
              <a:extLst>
                <a:ext uri="{FF2B5EF4-FFF2-40B4-BE49-F238E27FC236}">
                  <a16:creationId xmlns:a16="http://schemas.microsoft.com/office/drawing/2014/main" id="{51AC3899-C790-C0C8-8C21-3455834773B5}"/>
                </a:ext>
              </a:extLst>
            </p:cNvPr>
            <p:cNvSpPr/>
            <p:nvPr/>
          </p:nvSpPr>
          <p:spPr>
            <a:xfrm>
              <a:off x="8715793" y="6149460"/>
              <a:ext cx="4352343" cy="1335648"/>
            </a:xfrm>
            <a:prstGeom prst="flowChartAlternateProcess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5000" b="1" dirty="0"/>
                <a:t>EngineClient</a:t>
              </a:r>
            </a:p>
          </p:txBody>
        </p:sp>
        <p:sp>
          <p:nvSpPr>
            <p:cNvPr id="124" name="Flowchart: Alternate Process 123">
              <a:extLst>
                <a:ext uri="{FF2B5EF4-FFF2-40B4-BE49-F238E27FC236}">
                  <a16:creationId xmlns:a16="http://schemas.microsoft.com/office/drawing/2014/main" id="{E8605B90-0007-1D27-0A82-35D08158F1AE}"/>
                </a:ext>
              </a:extLst>
            </p:cNvPr>
            <p:cNvSpPr/>
            <p:nvPr/>
          </p:nvSpPr>
          <p:spPr>
            <a:xfrm>
              <a:off x="4455783" y="8358626"/>
              <a:ext cx="6531163" cy="1343146"/>
            </a:xfrm>
            <a:prstGeom prst="flowChartAlternateProcess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5000" b="1" dirty="0"/>
                <a:t>TaskTideService</a:t>
              </a:r>
            </a:p>
          </p:txBody>
        </p:sp>
        <p:sp>
          <p:nvSpPr>
            <p:cNvPr id="125" name="Flowchart: Alternate Process 124">
              <a:extLst>
                <a:ext uri="{FF2B5EF4-FFF2-40B4-BE49-F238E27FC236}">
                  <a16:creationId xmlns:a16="http://schemas.microsoft.com/office/drawing/2014/main" id="{C148D234-19F8-E294-8C39-26FB55AE9D80}"/>
                </a:ext>
              </a:extLst>
            </p:cNvPr>
            <p:cNvSpPr/>
            <p:nvPr/>
          </p:nvSpPr>
          <p:spPr>
            <a:xfrm>
              <a:off x="4455783" y="10503996"/>
              <a:ext cx="6418772" cy="1182201"/>
            </a:xfrm>
            <a:prstGeom prst="flowChartAlternateProcess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5000" b="1" dirty="0"/>
                <a:t>TaskTideRepository</a:t>
              </a:r>
            </a:p>
          </p:txBody>
        </p:sp>
        <p:sp>
          <p:nvSpPr>
            <p:cNvPr id="126" name="Flowchart: Alternate Process 125">
              <a:extLst>
                <a:ext uri="{FF2B5EF4-FFF2-40B4-BE49-F238E27FC236}">
                  <a16:creationId xmlns:a16="http://schemas.microsoft.com/office/drawing/2014/main" id="{2B8ABB09-7837-B8F4-9FC2-D25D8EEE5280}"/>
                </a:ext>
              </a:extLst>
            </p:cNvPr>
            <p:cNvSpPr/>
            <p:nvPr/>
          </p:nvSpPr>
          <p:spPr>
            <a:xfrm>
              <a:off x="304800" y="13383399"/>
              <a:ext cx="6163026" cy="1270617"/>
            </a:xfrm>
            <a:prstGeom prst="flowChartAlternateProcess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5000" b="1" dirty="0"/>
                <a:t>TemplateRepository</a:t>
              </a:r>
            </a:p>
          </p:txBody>
        </p:sp>
        <p:sp>
          <p:nvSpPr>
            <p:cNvPr id="127" name="Flowchart: Alternate Process 126">
              <a:extLst>
                <a:ext uri="{FF2B5EF4-FFF2-40B4-BE49-F238E27FC236}">
                  <a16:creationId xmlns:a16="http://schemas.microsoft.com/office/drawing/2014/main" id="{8E44FD73-847B-BCB6-3247-5D5FABB24684}"/>
                </a:ext>
              </a:extLst>
            </p:cNvPr>
            <p:cNvSpPr/>
            <p:nvPr/>
          </p:nvSpPr>
          <p:spPr>
            <a:xfrm>
              <a:off x="12574703" y="14281671"/>
              <a:ext cx="6440138" cy="1270455"/>
            </a:xfrm>
            <a:prstGeom prst="flowChartAlternateProcess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5000" b="1" dirty="0"/>
                <a:t>ItemStoreRepository</a:t>
              </a:r>
            </a:p>
          </p:txBody>
        </p:sp>
        <p:sp>
          <p:nvSpPr>
            <p:cNvPr id="128" name="Flowchart: Alternate Process 127">
              <a:extLst>
                <a:ext uri="{FF2B5EF4-FFF2-40B4-BE49-F238E27FC236}">
                  <a16:creationId xmlns:a16="http://schemas.microsoft.com/office/drawing/2014/main" id="{BF8AA563-9219-5353-8624-7C2C2791D0A6}"/>
                </a:ext>
              </a:extLst>
            </p:cNvPr>
            <p:cNvSpPr/>
            <p:nvPr/>
          </p:nvSpPr>
          <p:spPr>
            <a:xfrm>
              <a:off x="6931742" y="12584775"/>
              <a:ext cx="4831346" cy="1092937"/>
            </a:xfrm>
            <a:prstGeom prst="flowChartAlternateProcess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5000" b="1" dirty="0"/>
                <a:t>JpaRepository</a:t>
              </a:r>
            </a:p>
          </p:txBody>
        </p: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7376E7B2-CF0F-C825-3629-A6AB0BF55619}"/>
                </a:ext>
              </a:extLst>
            </p:cNvPr>
            <p:cNvGrpSpPr/>
            <p:nvPr/>
          </p:nvGrpSpPr>
          <p:grpSpPr>
            <a:xfrm>
              <a:off x="13567134" y="16387062"/>
              <a:ext cx="5208788" cy="2791999"/>
              <a:chOff x="8471368" y="11395622"/>
              <a:chExt cx="3773483" cy="1545522"/>
            </a:xfrm>
          </p:grpSpPr>
          <p:pic>
            <p:nvPicPr>
              <p:cNvPr id="159" name="Picture 158" descr="A logo with a feather&#10;&#10;AI-generated content may be incorrect.">
                <a:extLst>
                  <a:ext uri="{FF2B5EF4-FFF2-40B4-BE49-F238E27FC236}">
                    <a16:creationId xmlns:a16="http://schemas.microsoft.com/office/drawing/2014/main" id="{23BBEB00-26E7-3664-7398-38D77F6423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1368" y="11395622"/>
                <a:ext cx="1552575" cy="733425"/>
              </a:xfrm>
              <a:prstGeom prst="rect">
                <a:avLst/>
              </a:prstGeom>
            </p:spPr>
          </p:pic>
          <p:pic>
            <p:nvPicPr>
              <p:cNvPr id="160" name="Picture 159" descr="A yellow leopard jumping in a folder&#10;&#10;AI-generated content may be incorrect.">
                <a:extLst>
                  <a:ext uri="{FF2B5EF4-FFF2-40B4-BE49-F238E27FC236}">
                    <a16:creationId xmlns:a16="http://schemas.microsoft.com/office/drawing/2014/main" id="{B4692DE6-A140-D5A7-3017-EC8303E110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10768" y="12024102"/>
                <a:ext cx="1834083" cy="917042"/>
              </a:xfrm>
              <a:prstGeom prst="rect">
                <a:avLst/>
              </a:prstGeom>
            </p:spPr>
          </p:pic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A5D113B4-0E61-40DE-E3D1-61657300E43E}"/>
                  </a:ext>
                </a:extLst>
              </p:cNvPr>
              <p:cNvCxnSpPr/>
              <p:nvPr/>
            </p:nvCxnSpPr>
            <p:spPr>
              <a:xfrm flipH="1">
                <a:off x="9449163" y="11416068"/>
                <a:ext cx="1765738" cy="1525076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7D9ED151-4EFB-8C78-4B46-F89DDFAE73ED}"/>
                </a:ext>
              </a:extLst>
            </p:cNvPr>
            <p:cNvCxnSpPr>
              <a:cxnSpLocks/>
            </p:cNvCxnSpPr>
            <p:nvPr/>
          </p:nvCxnSpPr>
          <p:spPr>
            <a:xfrm>
              <a:off x="5296944" y="4973011"/>
              <a:ext cx="0" cy="107790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80F8DFAD-96D9-3B9D-FF14-44241861BE34}"/>
                </a:ext>
              </a:extLst>
            </p:cNvPr>
            <p:cNvCxnSpPr>
              <a:cxnSpLocks/>
            </p:cNvCxnSpPr>
            <p:nvPr/>
          </p:nvCxnSpPr>
          <p:spPr>
            <a:xfrm>
              <a:off x="9337067" y="11733924"/>
              <a:ext cx="0" cy="80609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8C831ADC-088E-2080-06FF-663ECA46DAC3}"/>
                </a:ext>
              </a:extLst>
            </p:cNvPr>
            <p:cNvCxnSpPr>
              <a:cxnSpLocks/>
            </p:cNvCxnSpPr>
            <p:nvPr/>
          </p:nvCxnSpPr>
          <p:spPr>
            <a:xfrm>
              <a:off x="15587675" y="15608030"/>
              <a:ext cx="0" cy="710255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33" name="Flowchart: Alternate Process 132">
              <a:extLst>
                <a:ext uri="{FF2B5EF4-FFF2-40B4-BE49-F238E27FC236}">
                  <a16:creationId xmlns:a16="http://schemas.microsoft.com/office/drawing/2014/main" id="{B78E1A68-BF35-1733-7BD2-7B9035FC3B37}"/>
                </a:ext>
              </a:extLst>
            </p:cNvPr>
            <p:cNvSpPr/>
            <p:nvPr/>
          </p:nvSpPr>
          <p:spPr>
            <a:xfrm>
              <a:off x="14044680" y="6113072"/>
              <a:ext cx="4775687" cy="1405977"/>
            </a:xfrm>
            <a:prstGeom prst="flowChartAlternateProcess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5000" b="1" dirty="0"/>
                <a:t>TaskTideEngine</a:t>
              </a:r>
            </a:p>
          </p:txBody>
        </p: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D5CD03CA-48FC-AB14-5CD9-F61F5E695817}"/>
                </a:ext>
              </a:extLst>
            </p:cNvPr>
            <p:cNvCxnSpPr>
              <a:cxnSpLocks/>
            </p:cNvCxnSpPr>
            <p:nvPr/>
          </p:nvCxnSpPr>
          <p:spPr>
            <a:xfrm>
              <a:off x="10904275" y="11219299"/>
              <a:ext cx="647546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35" name="Flowchart: Alternate Process 134">
              <a:extLst>
                <a:ext uri="{FF2B5EF4-FFF2-40B4-BE49-F238E27FC236}">
                  <a16:creationId xmlns:a16="http://schemas.microsoft.com/office/drawing/2014/main" id="{F7074CD0-E54F-0DC6-C39C-C1A79C268484}"/>
                </a:ext>
              </a:extLst>
            </p:cNvPr>
            <p:cNvSpPr/>
            <p:nvPr/>
          </p:nvSpPr>
          <p:spPr>
            <a:xfrm>
              <a:off x="11551820" y="10519272"/>
              <a:ext cx="4775698" cy="1219121"/>
            </a:xfrm>
            <a:prstGeom prst="flowChartAlternateProcess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5000" b="1" dirty="0"/>
                <a:t>TaskTideModel</a:t>
              </a:r>
            </a:p>
          </p:txBody>
        </p:sp>
        <p:sp>
          <p:nvSpPr>
            <p:cNvPr id="136" name="Flowchart: Alternate Process 135">
              <a:extLst>
                <a:ext uri="{FF2B5EF4-FFF2-40B4-BE49-F238E27FC236}">
                  <a16:creationId xmlns:a16="http://schemas.microsoft.com/office/drawing/2014/main" id="{48593431-C06D-5ECE-A3AD-26C12DBEACF8}"/>
                </a:ext>
              </a:extLst>
            </p:cNvPr>
            <p:cNvSpPr/>
            <p:nvPr/>
          </p:nvSpPr>
          <p:spPr>
            <a:xfrm>
              <a:off x="17652317" y="9102243"/>
              <a:ext cx="3937683" cy="1150977"/>
            </a:xfrm>
            <a:prstGeom prst="flowChartAlternateProcess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5000" b="1" dirty="0"/>
                <a:t>Workflow</a:t>
              </a:r>
            </a:p>
          </p:txBody>
        </p:sp>
        <p:sp>
          <p:nvSpPr>
            <p:cNvPr id="137" name="Flowchart: Alternate Process 136">
              <a:extLst>
                <a:ext uri="{FF2B5EF4-FFF2-40B4-BE49-F238E27FC236}">
                  <a16:creationId xmlns:a16="http://schemas.microsoft.com/office/drawing/2014/main" id="{486E743F-B777-DC17-824E-7CE98452D03A}"/>
                </a:ext>
              </a:extLst>
            </p:cNvPr>
            <p:cNvSpPr/>
            <p:nvPr/>
          </p:nvSpPr>
          <p:spPr>
            <a:xfrm>
              <a:off x="17649764" y="10657887"/>
              <a:ext cx="3937683" cy="1150977"/>
            </a:xfrm>
            <a:prstGeom prst="flowChartAlternateProcess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5000" b="1" dirty="0"/>
                <a:t>Step</a:t>
              </a:r>
            </a:p>
          </p:txBody>
        </p:sp>
        <p:sp>
          <p:nvSpPr>
            <p:cNvPr id="138" name="Flowchart: Alternate Process 137">
              <a:extLst>
                <a:ext uri="{FF2B5EF4-FFF2-40B4-BE49-F238E27FC236}">
                  <a16:creationId xmlns:a16="http://schemas.microsoft.com/office/drawing/2014/main" id="{E507452D-13E3-C9A4-F18C-4F89C0F7DDAF}"/>
                </a:ext>
              </a:extLst>
            </p:cNvPr>
            <p:cNvSpPr/>
            <p:nvPr/>
          </p:nvSpPr>
          <p:spPr>
            <a:xfrm>
              <a:off x="17634260" y="12195028"/>
              <a:ext cx="3937683" cy="1206278"/>
            </a:xfrm>
            <a:prstGeom prst="flowChartAlternateProcess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5000" b="1" dirty="0"/>
                <a:t>WorkItem</a:t>
              </a:r>
            </a:p>
          </p:txBody>
        </p: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74678B9C-2FF1-2E49-17AF-B76B2540B854}"/>
                </a:ext>
              </a:extLst>
            </p:cNvPr>
            <p:cNvCxnSpPr>
              <a:cxnSpLocks/>
            </p:cNvCxnSpPr>
            <p:nvPr/>
          </p:nvCxnSpPr>
          <p:spPr>
            <a:xfrm>
              <a:off x="10213310" y="4975401"/>
              <a:ext cx="0" cy="107550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C9B83FA1-24D7-2FCE-546C-B1BA61B90829}"/>
                </a:ext>
              </a:extLst>
            </p:cNvPr>
            <p:cNvCxnSpPr>
              <a:cxnSpLocks/>
            </p:cNvCxnSpPr>
            <p:nvPr/>
          </p:nvCxnSpPr>
          <p:spPr>
            <a:xfrm>
              <a:off x="5296944" y="7528630"/>
              <a:ext cx="0" cy="76475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C3470BDE-9CD7-24D7-6625-9F4A5907C552}"/>
                </a:ext>
              </a:extLst>
            </p:cNvPr>
            <p:cNvCxnSpPr>
              <a:cxnSpLocks/>
            </p:cNvCxnSpPr>
            <p:nvPr/>
          </p:nvCxnSpPr>
          <p:spPr>
            <a:xfrm>
              <a:off x="10268848" y="7532324"/>
              <a:ext cx="0" cy="78141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A5B1DEA3-4FFE-EF8D-0EAE-143863A5E9EF}"/>
                </a:ext>
              </a:extLst>
            </p:cNvPr>
            <p:cNvCxnSpPr>
              <a:cxnSpLocks/>
            </p:cNvCxnSpPr>
            <p:nvPr/>
          </p:nvCxnSpPr>
          <p:spPr>
            <a:xfrm>
              <a:off x="7661127" y="9751735"/>
              <a:ext cx="0" cy="76842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41A52DE4-0E3C-C994-D5C8-D39594976F72}"/>
                </a:ext>
              </a:extLst>
            </p:cNvPr>
            <p:cNvCxnSpPr>
              <a:cxnSpLocks/>
            </p:cNvCxnSpPr>
            <p:nvPr/>
          </p:nvCxnSpPr>
          <p:spPr>
            <a:xfrm>
              <a:off x="13094357" y="6854692"/>
              <a:ext cx="898631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090DC878-12CE-2433-465F-FE77149AC2D3}"/>
                </a:ext>
              </a:extLst>
            </p:cNvPr>
            <p:cNvCxnSpPr>
              <a:cxnSpLocks/>
            </p:cNvCxnSpPr>
            <p:nvPr/>
          </p:nvCxnSpPr>
          <p:spPr>
            <a:xfrm>
              <a:off x="16428872" y="11243383"/>
              <a:ext cx="1124069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DC564028-93C0-EBFB-83B4-A2D7EB0283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78581" y="9986086"/>
              <a:ext cx="1220257" cy="1270455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7DE37964-242F-5FF4-8509-D44376BBF419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6374445" y="11328926"/>
              <a:ext cx="1307588" cy="1185604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6BF59BDA-04A2-10FB-EBF4-4F76FB417A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96944" y="11736029"/>
              <a:ext cx="234" cy="1628765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D5C82D41-1678-0331-4BE3-E68E512B8F15}"/>
                </a:ext>
              </a:extLst>
            </p:cNvPr>
            <p:cNvCxnSpPr>
              <a:cxnSpLocks/>
            </p:cNvCxnSpPr>
            <p:nvPr/>
          </p:nvCxnSpPr>
          <p:spPr>
            <a:xfrm>
              <a:off x="10823756" y="11608493"/>
              <a:ext cx="4528699" cy="2588015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B2E31B29-CDC0-2E44-43DA-22D74B2CDEC6}"/>
                </a:ext>
              </a:extLst>
            </p:cNvPr>
            <p:cNvCxnSpPr>
              <a:cxnSpLocks/>
            </p:cNvCxnSpPr>
            <p:nvPr/>
          </p:nvCxnSpPr>
          <p:spPr>
            <a:xfrm>
              <a:off x="9318336" y="13736074"/>
              <a:ext cx="0" cy="117744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C98233AA-E418-5019-C840-457692524FAA}"/>
                </a:ext>
              </a:extLst>
            </p:cNvPr>
            <p:cNvCxnSpPr>
              <a:cxnSpLocks/>
            </p:cNvCxnSpPr>
            <p:nvPr/>
          </p:nvCxnSpPr>
          <p:spPr>
            <a:xfrm>
              <a:off x="3154301" y="14705408"/>
              <a:ext cx="0" cy="710255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D072C3B0-5FF2-97E3-988D-91BEE1064FCD}"/>
                </a:ext>
              </a:extLst>
            </p:cNvPr>
            <p:cNvCxnSpPr>
              <a:cxnSpLocks/>
            </p:cNvCxnSpPr>
            <p:nvPr/>
          </p:nvCxnSpPr>
          <p:spPr>
            <a:xfrm>
              <a:off x="19031756" y="14937831"/>
              <a:ext cx="787245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52" name="Flowchart: Alternate Process 151">
              <a:extLst>
                <a:ext uri="{FF2B5EF4-FFF2-40B4-BE49-F238E27FC236}">
                  <a16:creationId xmlns:a16="http://schemas.microsoft.com/office/drawing/2014/main" id="{3115AECD-A493-1BCD-948F-17914F3E61EE}"/>
                </a:ext>
              </a:extLst>
            </p:cNvPr>
            <p:cNvSpPr/>
            <p:nvPr/>
          </p:nvSpPr>
          <p:spPr>
            <a:xfrm>
              <a:off x="19809985" y="14210364"/>
              <a:ext cx="4918550" cy="1445848"/>
            </a:xfrm>
            <a:prstGeom prst="flowChartAlternateProcess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4200" b="1" dirty="0"/>
                <a:t>MutexOrchestrator</a:t>
              </a:r>
            </a:p>
          </p:txBody>
        </p:sp>
        <p:sp>
          <p:nvSpPr>
            <p:cNvPr id="153" name="Flowchart: Alternate Process 152">
              <a:extLst>
                <a:ext uri="{FF2B5EF4-FFF2-40B4-BE49-F238E27FC236}">
                  <a16:creationId xmlns:a16="http://schemas.microsoft.com/office/drawing/2014/main" id="{64A87AD4-171C-AC9F-863E-000B6AE7BF12}"/>
                </a:ext>
              </a:extLst>
            </p:cNvPr>
            <p:cNvSpPr/>
            <p:nvPr/>
          </p:nvSpPr>
          <p:spPr>
            <a:xfrm>
              <a:off x="26034318" y="12861443"/>
              <a:ext cx="3935130" cy="1150977"/>
            </a:xfrm>
            <a:prstGeom prst="flowChartAlternateProcess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5000" b="1" dirty="0"/>
                <a:t>MutexModel</a:t>
              </a:r>
            </a:p>
          </p:txBody>
        </p:sp>
        <p:sp>
          <p:nvSpPr>
            <p:cNvPr id="154" name="Flowchart: Alternate Process 153">
              <a:extLst>
                <a:ext uri="{FF2B5EF4-FFF2-40B4-BE49-F238E27FC236}">
                  <a16:creationId xmlns:a16="http://schemas.microsoft.com/office/drawing/2014/main" id="{2711D58F-A683-544B-EB0E-B37704BD4D0C}"/>
                </a:ext>
              </a:extLst>
            </p:cNvPr>
            <p:cNvSpPr/>
            <p:nvPr/>
          </p:nvSpPr>
          <p:spPr>
            <a:xfrm>
              <a:off x="26031764" y="14417087"/>
              <a:ext cx="3937683" cy="1150977"/>
            </a:xfrm>
            <a:prstGeom prst="flowChartAlternateProcess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5000" b="1" dirty="0"/>
                <a:t>MutexActor</a:t>
              </a:r>
            </a:p>
          </p:txBody>
        </p:sp>
        <p:sp>
          <p:nvSpPr>
            <p:cNvPr id="155" name="Flowchart: Alternate Process 154">
              <a:extLst>
                <a:ext uri="{FF2B5EF4-FFF2-40B4-BE49-F238E27FC236}">
                  <a16:creationId xmlns:a16="http://schemas.microsoft.com/office/drawing/2014/main" id="{5E42856E-68AA-C17C-4A0A-39A5C22D8940}"/>
                </a:ext>
              </a:extLst>
            </p:cNvPr>
            <p:cNvSpPr/>
            <p:nvPr/>
          </p:nvSpPr>
          <p:spPr>
            <a:xfrm>
              <a:off x="26016260" y="15954228"/>
              <a:ext cx="3937683" cy="1206278"/>
            </a:xfrm>
            <a:prstGeom prst="flowChartAlternateProcess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4200" b="1" dirty="0"/>
                <a:t>MutexStrategy</a:t>
              </a:r>
            </a:p>
          </p:txBody>
        </p: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4BE564E2-F9E1-4DB4-884B-A6F5B62481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60581" y="13677712"/>
              <a:ext cx="1204359" cy="1338029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678AD427-F2E6-46A7-B817-637C28DE8CCD}"/>
                </a:ext>
              </a:extLst>
            </p:cNvPr>
            <p:cNvCxnSpPr>
              <a:cxnSpLocks/>
            </p:cNvCxnSpPr>
            <p:nvPr/>
          </p:nvCxnSpPr>
          <p:spPr>
            <a:xfrm>
              <a:off x="24779336" y="14978147"/>
              <a:ext cx="1185604" cy="1445851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15451C96-C552-3924-7F04-164C4CDEE88E}"/>
                </a:ext>
              </a:extLst>
            </p:cNvPr>
            <p:cNvCxnSpPr>
              <a:cxnSpLocks/>
            </p:cNvCxnSpPr>
            <p:nvPr/>
          </p:nvCxnSpPr>
          <p:spPr>
            <a:xfrm>
              <a:off x="24803612" y="14997140"/>
              <a:ext cx="1161328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pic>
          <p:nvPicPr>
            <p:cNvPr id="166" name="Picture 165" descr="A group of logos on a white background&#10;&#10;AI-generated content may be incorrect.">
              <a:extLst>
                <a:ext uri="{FF2B5EF4-FFF2-40B4-BE49-F238E27FC236}">
                  <a16:creationId xmlns:a16="http://schemas.microsoft.com/office/drawing/2014/main" id="{C4736FE8-524E-2519-5AFD-60993B694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961" y="15602943"/>
              <a:ext cx="6408295" cy="3893414"/>
            </a:xfrm>
            <a:prstGeom prst="rect">
              <a:avLst/>
            </a:prstGeom>
          </p:spPr>
        </p:pic>
        <p:pic>
          <p:nvPicPr>
            <p:cNvPr id="167" name="Picture 166" descr="A blue circle with white text and a dolphin&#10;&#10;AI-generated content may be incorrect.">
              <a:extLst>
                <a:ext uri="{FF2B5EF4-FFF2-40B4-BE49-F238E27FC236}">
                  <a16:creationId xmlns:a16="http://schemas.microsoft.com/office/drawing/2014/main" id="{F0EAC62C-1F03-1A92-BF23-30592EB771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50627" y="15005680"/>
              <a:ext cx="1892307" cy="1887632"/>
            </a:xfrm>
            <a:prstGeom prst="rect">
              <a:avLst/>
            </a:prstGeom>
          </p:spPr>
        </p:pic>
        <p:pic>
          <p:nvPicPr>
            <p:cNvPr id="168" name="Picture 167" descr="A logo for a company&#10;&#10;AI-generated content may be incorrect.">
              <a:extLst>
                <a:ext uri="{FF2B5EF4-FFF2-40B4-BE49-F238E27FC236}">
                  <a16:creationId xmlns:a16="http://schemas.microsoft.com/office/drawing/2014/main" id="{C065EABB-3139-0227-1EAC-53FB5DA19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2136" y="17291252"/>
              <a:ext cx="2134577" cy="1607842"/>
            </a:xfrm>
            <a:prstGeom prst="rect">
              <a:avLst/>
            </a:prstGeom>
          </p:spPr>
        </p:pic>
        <p:pic>
          <p:nvPicPr>
            <p:cNvPr id="169" name="Picture 168" descr="A blue elephant logo with white text&#10;&#10;AI-generated content may be incorrect.">
              <a:extLst>
                <a:ext uri="{FF2B5EF4-FFF2-40B4-BE49-F238E27FC236}">
                  <a16:creationId xmlns:a16="http://schemas.microsoft.com/office/drawing/2014/main" id="{B8E70A66-FC3A-6444-1E69-D548B5A17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89587" y="15084021"/>
              <a:ext cx="1813772" cy="1809291"/>
            </a:xfrm>
            <a:prstGeom prst="rect">
              <a:avLst/>
            </a:prstGeom>
          </p:spPr>
        </p:pic>
        <p:sp>
          <p:nvSpPr>
            <p:cNvPr id="2" name="Flowchart: Alternate Process 1">
              <a:extLst>
                <a:ext uri="{FF2B5EF4-FFF2-40B4-BE49-F238E27FC236}">
                  <a16:creationId xmlns:a16="http://schemas.microsoft.com/office/drawing/2014/main" id="{DAA38740-EB7E-6063-6E44-3447601C6AF6}"/>
                </a:ext>
              </a:extLst>
            </p:cNvPr>
            <p:cNvSpPr/>
            <p:nvPr/>
          </p:nvSpPr>
          <p:spPr>
            <a:xfrm>
              <a:off x="11982000" y="3669502"/>
              <a:ext cx="4352343" cy="1335648"/>
            </a:xfrm>
            <a:prstGeom prst="flowChartAlternateProcess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4400" b="1" dirty="0"/>
                <a:t>TaskTideConfig</a:t>
              </a:r>
            </a:p>
          </p:txBody>
        </p:sp>
        <p:sp>
          <p:nvSpPr>
            <p:cNvPr id="3" name="Flowchart: Alternate Process 2">
              <a:extLst>
                <a:ext uri="{FF2B5EF4-FFF2-40B4-BE49-F238E27FC236}">
                  <a16:creationId xmlns:a16="http://schemas.microsoft.com/office/drawing/2014/main" id="{092DB492-17FF-F483-542D-F95E35ACFC08}"/>
                </a:ext>
              </a:extLst>
            </p:cNvPr>
            <p:cNvSpPr/>
            <p:nvPr/>
          </p:nvSpPr>
          <p:spPr>
            <a:xfrm>
              <a:off x="17310887" y="3633114"/>
              <a:ext cx="4775687" cy="1405977"/>
            </a:xfrm>
            <a:prstGeom prst="flowChartAlternateProcess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4400" b="1" dirty="0"/>
                <a:t>ArgumentTree</a:t>
              </a: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E768F65B-E34A-1C74-042D-C57467530EEB}"/>
                </a:ext>
              </a:extLst>
            </p:cNvPr>
            <p:cNvCxnSpPr>
              <a:cxnSpLocks/>
            </p:cNvCxnSpPr>
            <p:nvPr/>
          </p:nvCxnSpPr>
          <p:spPr>
            <a:xfrm>
              <a:off x="16360564" y="4374734"/>
              <a:ext cx="898631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9D222F81-E2E4-B931-D940-BE6CC8036F68}"/>
                </a:ext>
              </a:extLst>
            </p:cNvPr>
            <p:cNvCxnSpPr>
              <a:cxnSpLocks/>
            </p:cNvCxnSpPr>
            <p:nvPr/>
          </p:nvCxnSpPr>
          <p:spPr>
            <a:xfrm>
              <a:off x="11057044" y="4371426"/>
              <a:ext cx="898631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EB1BCEC7-3F5F-CB4B-A38D-AD75FFAFF3EC}"/>
              </a:ext>
            </a:extLst>
          </p:cNvPr>
          <p:cNvSpPr/>
          <p:nvPr/>
        </p:nvSpPr>
        <p:spPr>
          <a:xfrm>
            <a:off x="802568" y="4515225"/>
            <a:ext cx="4352343" cy="1335648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5000" b="1" dirty="0"/>
              <a:t>WebAPI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3AE9F3-FFF9-0A66-E1B1-454F654EEA6F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33286" y="5226359"/>
            <a:ext cx="898631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522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7BD6EC9-4C81-23EA-C758-E28FB9D8DD31}"/>
              </a:ext>
            </a:extLst>
          </p:cNvPr>
          <p:cNvGrpSpPr/>
          <p:nvPr/>
        </p:nvGrpSpPr>
        <p:grpSpPr>
          <a:xfrm>
            <a:off x="1574800" y="2324100"/>
            <a:ext cx="28651200" cy="19011900"/>
            <a:chOff x="2954252" y="4412464"/>
            <a:chExt cx="22146609" cy="14574831"/>
          </a:xfrm>
        </p:grpSpPr>
        <p:graphicFrame>
          <p:nvGraphicFramePr>
            <p:cNvPr id="5" name="Diagram 4">
              <a:extLst>
                <a:ext uri="{FF2B5EF4-FFF2-40B4-BE49-F238E27FC236}">
                  <a16:creationId xmlns:a16="http://schemas.microsoft.com/office/drawing/2014/main" id="{5BF49BD9-B379-F6AE-5540-EB2CBA3B445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757257101"/>
                </p:ext>
              </p:extLst>
            </p:nvPr>
          </p:nvGraphicFramePr>
          <p:xfrm>
            <a:off x="2954252" y="7593398"/>
            <a:ext cx="9834878" cy="923458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A4A4E1F-EF89-55FB-2621-5159F4CECD25}"/>
                </a:ext>
              </a:extLst>
            </p:cNvPr>
            <p:cNvCxnSpPr/>
            <p:nvPr/>
          </p:nvCxnSpPr>
          <p:spPr>
            <a:xfrm>
              <a:off x="11625080" y="6429940"/>
              <a:ext cx="0" cy="119888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A510191-D70B-0A09-14B7-C12B6C844E8F}"/>
                </a:ext>
              </a:extLst>
            </p:cNvPr>
            <p:cNvSpPr txBox="1"/>
            <p:nvPr/>
          </p:nvSpPr>
          <p:spPr>
            <a:xfrm>
              <a:off x="4546472" y="4412464"/>
              <a:ext cx="17035943" cy="778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sz="6000" b="1" dirty="0"/>
                <a:t>a)											            	b) 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752A5DF-C147-1B7B-022B-925131DB8FA0}"/>
                </a:ext>
              </a:extLst>
            </p:cNvPr>
            <p:cNvGrpSpPr/>
            <p:nvPr/>
          </p:nvGrpSpPr>
          <p:grpSpPr>
            <a:xfrm>
              <a:off x="12985072" y="5001739"/>
              <a:ext cx="12115789" cy="13985556"/>
              <a:chOff x="7489828" y="1402082"/>
              <a:chExt cx="12115789" cy="13985556"/>
            </a:xfrm>
          </p:grpSpPr>
          <p:sp>
            <p:nvSpPr>
              <p:cNvPr id="6" name="Cylinder 5">
                <a:extLst>
                  <a:ext uri="{FF2B5EF4-FFF2-40B4-BE49-F238E27FC236}">
                    <a16:creationId xmlns:a16="http://schemas.microsoft.com/office/drawing/2014/main" id="{A947FBCF-D905-0831-86F1-AD448E1C4D75}"/>
                  </a:ext>
                </a:extLst>
              </p:cNvPr>
              <p:cNvSpPr/>
              <p:nvPr/>
            </p:nvSpPr>
            <p:spPr>
              <a:xfrm>
                <a:off x="12259953" y="1402082"/>
                <a:ext cx="2153905" cy="2022695"/>
              </a:xfrm>
              <a:prstGeom prst="can">
                <a:avLst/>
              </a:prstGeom>
              <a:ln w="38100">
                <a:solidFill>
                  <a:schemeClr val="tx1"/>
                </a:solidFill>
              </a:ln>
              <a:effectLst>
                <a:innerShdw blurRad="63500" dist="50800" dir="27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4000" b="1" dirty="0"/>
                  <a:t>TaskTide</a:t>
                </a:r>
              </a:p>
              <a:p>
                <a:pPr algn="ctr"/>
                <a:r>
                  <a:rPr lang="en-IE" sz="4000" b="1" dirty="0"/>
                  <a:t>Repository</a:t>
                </a:r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33CEBE93-DE8F-36D6-D818-053F81620ED2}"/>
                  </a:ext>
                </a:extLst>
              </p:cNvPr>
              <p:cNvSpPr/>
              <p:nvPr/>
            </p:nvSpPr>
            <p:spPr>
              <a:xfrm>
                <a:off x="7489828" y="4606002"/>
                <a:ext cx="12115789" cy="10781636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613119DE-8929-C472-8586-3BF55CA1FB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180410" y="3558775"/>
                <a:ext cx="0" cy="968362"/>
              </a:xfrm>
              <a:prstGeom prst="straightConnector1">
                <a:avLst/>
              </a:prstGeom>
              <a:ln w="76200">
                <a:solidFill>
                  <a:schemeClr val="accent5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5780AF89-8AE7-83F1-4A98-E375BFCB6C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468986" y="3500121"/>
                <a:ext cx="1" cy="954107"/>
              </a:xfrm>
              <a:prstGeom prst="straightConnector1">
                <a:avLst/>
              </a:prstGeom>
              <a:ln w="76200">
                <a:solidFill>
                  <a:schemeClr val="accent5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ED762018-D3F6-7019-E52D-DF61061EB125}"/>
                  </a:ext>
                </a:extLst>
              </p:cNvPr>
              <p:cNvCxnSpPr/>
              <p:nvPr/>
            </p:nvCxnSpPr>
            <p:spPr>
              <a:xfrm>
                <a:off x="9787411" y="7889090"/>
                <a:ext cx="0" cy="1036320"/>
              </a:xfrm>
              <a:prstGeom prst="straightConnector1">
                <a:avLst/>
              </a:prstGeom>
              <a:ln w="76200">
                <a:solidFill>
                  <a:schemeClr val="accent5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9E6D65AD-E43D-3543-0704-6A46F703DC9E}"/>
                  </a:ext>
                </a:extLst>
              </p:cNvPr>
              <p:cNvCxnSpPr/>
              <p:nvPr/>
            </p:nvCxnSpPr>
            <p:spPr>
              <a:xfrm>
                <a:off x="9812811" y="11170383"/>
                <a:ext cx="0" cy="1036320"/>
              </a:xfrm>
              <a:prstGeom prst="straightConnector1">
                <a:avLst/>
              </a:prstGeom>
              <a:ln w="76200">
                <a:solidFill>
                  <a:schemeClr val="accent5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69D4E3FF-3CD6-FEDB-3705-A60718BE9CD1}"/>
                  </a:ext>
                </a:extLst>
              </p:cNvPr>
              <p:cNvSpPr/>
              <p:nvPr/>
            </p:nvSpPr>
            <p:spPr>
              <a:xfrm>
                <a:off x="8256421" y="5836920"/>
                <a:ext cx="3152458" cy="1852676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shade val="30000"/>
                      <a:satMod val="115000"/>
                    </a:schemeClr>
                  </a:gs>
                  <a:gs pos="50000">
                    <a:schemeClr val="accent1">
                      <a:shade val="67500"/>
                      <a:satMod val="115000"/>
                    </a:schemeClr>
                  </a:gs>
                  <a:gs pos="100000">
                    <a:schemeClr val="accent1">
                      <a:shade val="100000"/>
                      <a:satMod val="115000"/>
                    </a:schemeClr>
                  </a:gs>
                </a:gsLst>
                <a:lin ang="5400000" scaled="1"/>
              </a:gradFill>
              <a:ln w="38100">
                <a:solidFill>
                  <a:schemeClr val="tx1"/>
                </a:solidFill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4400" b="1" dirty="0"/>
                  <a:t>Fetches      Tasks</a:t>
                </a:r>
              </a:p>
            </p:txBody>
          </p:sp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8DCAD642-DF61-F4FE-C83B-F5BF13F3DB36}"/>
                  </a:ext>
                </a:extLst>
              </p:cNvPr>
              <p:cNvSpPr/>
              <p:nvPr/>
            </p:nvSpPr>
            <p:spPr>
              <a:xfrm>
                <a:off x="8266582" y="9057640"/>
                <a:ext cx="3152458" cy="1852676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shade val="30000"/>
                      <a:satMod val="115000"/>
                    </a:schemeClr>
                  </a:gs>
                  <a:gs pos="50000">
                    <a:schemeClr val="accent1">
                      <a:shade val="67500"/>
                      <a:satMod val="115000"/>
                    </a:schemeClr>
                  </a:gs>
                  <a:gs pos="100000">
                    <a:schemeClr val="accent1">
                      <a:shade val="100000"/>
                      <a:satMod val="115000"/>
                    </a:schemeClr>
                  </a:gs>
                </a:gsLst>
                <a:lin ang="5400000" scaled="1"/>
              </a:gradFill>
              <a:ln w="38100">
                <a:solidFill>
                  <a:schemeClr val="tx1"/>
                </a:solidFill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4400" b="1" dirty="0"/>
                  <a:t>Traverser distributes over threads</a:t>
                </a:r>
              </a:p>
            </p:txBody>
          </p:sp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77A340E3-8AD4-6C9B-AF8B-868695C80E00}"/>
                  </a:ext>
                </a:extLst>
              </p:cNvPr>
              <p:cNvSpPr/>
              <p:nvPr/>
            </p:nvSpPr>
            <p:spPr>
              <a:xfrm>
                <a:off x="8266582" y="12319000"/>
                <a:ext cx="3152458" cy="1852676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shade val="30000"/>
                      <a:satMod val="115000"/>
                    </a:schemeClr>
                  </a:gs>
                  <a:gs pos="50000">
                    <a:schemeClr val="accent1">
                      <a:shade val="67500"/>
                      <a:satMod val="115000"/>
                    </a:schemeClr>
                  </a:gs>
                  <a:gs pos="100000">
                    <a:schemeClr val="accent1">
                      <a:shade val="100000"/>
                      <a:satMod val="115000"/>
                    </a:schemeClr>
                  </a:gs>
                </a:gsLst>
                <a:lin ang="5400000" scaled="1"/>
              </a:gradFill>
              <a:ln w="38100">
                <a:solidFill>
                  <a:schemeClr val="tx1"/>
                </a:solidFill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4400" b="1" dirty="0"/>
                  <a:t>Executor spawns OS process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E31B009-805C-03C3-6EF6-2F23BD1282E0}"/>
                  </a:ext>
                </a:extLst>
              </p:cNvPr>
              <p:cNvSpPr txBox="1"/>
              <p:nvPr/>
            </p:nvSpPr>
            <p:spPr>
              <a:xfrm>
                <a:off x="9201996" y="4155461"/>
                <a:ext cx="2960616" cy="448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E" sz="3200" b="1" i="1" dirty="0"/>
                  <a:t>TaskTide Engine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83F73D-D09F-B45C-DA3C-EF859F32AFF6}"/>
                  </a:ext>
                </a:extLst>
              </p:cNvPr>
              <p:cNvSpPr txBox="1"/>
              <p:nvPr/>
            </p:nvSpPr>
            <p:spPr>
              <a:xfrm>
                <a:off x="13563477" y="3766479"/>
                <a:ext cx="2546293" cy="448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E" sz="3200" b="1" dirty="0">
                    <a:solidFill>
                      <a:schemeClr val="accent5">
                        <a:lumMod val="75000"/>
                      </a:schemeClr>
                    </a:solidFill>
                  </a:rPr>
                  <a:t>Task Updates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85A324E4-797D-C81C-D94D-9A1161D8568F}"/>
                  </a:ext>
                </a:extLst>
              </p:cNvPr>
              <p:cNvSpPr/>
              <p:nvPr/>
            </p:nvSpPr>
            <p:spPr>
              <a:xfrm>
                <a:off x="13768393" y="8367208"/>
                <a:ext cx="2543966" cy="1222090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shade val="30000"/>
                      <a:satMod val="115000"/>
                    </a:schemeClr>
                  </a:gs>
                  <a:gs pos="50000">
                    <a:schemeClr val="accent1">
                      <a:shade val="67500"/>
                      <a:satMod val="115000"/>
                    </a:schemeClr>
                  </a:gs>
                  <a:gs pos="100000">
                    <a:schemeClr val="accent1">
                      <a:shade val="100000"/>
                      <a:satMod val="115000"/>
                    </a:schemeClr>
                  </a:gs>
                </a:gsLst>
                <a:lin ang="5400000" scaled="1"/>
              </a:gradFill>
              <a:ln w="38100">
                <a:solidFill>
                  <a:schemeClr val="tx1"/>
                </a:solidFill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3600" b="1" dirty="0"/>
                  <a:t>Event Subscription</a:t>
                </a:r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42060813-E48E-35FE-9699-20F5CFE266C0}"/>
                  </a:ext>
                </a:extLst>
              </p:cNvPr>
              <p:cNvSpPr/>
              <p:nvPr/>
            </p:nvSpPr>
            <p:spPr>
              <a:xfrm>
                <a:off x="16652882" y="8367208"/>
                <a:ext cx="2543966" cy="1222090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shade val="30000"/>
                      <a:satMod val="115000"/>
                    </a:schemeClr>
                  </a:gs>
                  <a:gs pos="50000">
                    <a:schemeClr val="accent1">
                      <a:shade val="67500"/>
                      <a:satMod val="115000"/>
                    </a:schemeClr>
                  </a:gs>
                  <a:gs pos="100000">
                    <a:schemeClr val="accent1">
                      <a:shade val="100000"/>
                      <a:satMod val="115000"/>
                    </a:schemeClr>
                  </a:gs>
                </a:gsLst>
                <a:lin ang="5400000" scaled="1"/>
              </a:gradFill>
              <a:ln w="38100">
                <a:solidFill>
                  <a:schemeClr val="tx1"/>
                </a:solidFill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3600" b="1" dirty="0"/>
                  <a:t>Commit Task Updates</a:t>
                </a:r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3414C8E5-F857-D9DC-2E6E-E2A94A962D91}"/>
                  </a:ext>
                </a:extLst>
              </p:cNvPr>
              <p:cNvSpPr/>
              <p:nvPr/>
            </p:nvSpPr>
            <p:spPr>
              <a:xfrm>
                <a:off x="15256598" y="10040385"/>
                <a:ext cx="2543966" cy="1222090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shade val="30000"/>
                      <a:satMod val="115000"/>
                    </a:schemeClr>
                  </a:gs>
                  <a:gs pos="50000">
                    <a:schemeClr val="accent1">
                      <a:shade val="67500"/>
                      <a:satMod val="115000"/>
                    </a:schemeClr>
                  </a:gs>
                  <a:gs pos="100000">
                    <a:schemeClr val="accent1">
                      <a:shade val="100000"/>
                      <a:satMod val="115000"/>
                    </a:schemeClr>
                  </a:gs>
                </a:gsLst>
                <a:lin ang="5400000" scaled="1"/>
              </a:gradFill>
              <a:ln w="38100">
                <a:solidFill>
                  <a:schemeClr val="tx1"/>
                </a:solidFill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3600" b="1" dirty="0"/>
                  <a:t>Process Registry</a:t>
                </a: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C1FD7A45-07A6-2A0A-0A15-386687226289}"/>
                  </a:ext>
                </a:extLst>
              </p:cNvPr>
              <p:cNvSpPr/>
              <p:nvPr/>
            </p:nvSpPr>
            <p:spPr>
              <a:xfrm>
                <a:off x="13545185" y="7963918"/>
                <a:ext cx="5872474" cy="3643883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BDCD5EB-E56D-7692-3FCD-FB91F1955FC4}"/>
                  </a:ext>
                </a:extLst>
              </p:cNvPr>
              <p:cNvSpPr txBox="1"/>
              <p:nvPr/>
            </p:nvSpPr>
            <p:spPr>
              <a:xfrm>
                <a:off x="14702464" y="7549673"/>
                <a:ext cx="3835958" cy="448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E" sz="3200" b="1" i="1" dirty="0"/>
                  <a:t>TaskTide Observer Chain</a:t>
                </a:r>
              </a:p>
            </p:txBody>
          </p:sp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62314848-3CAF-6E78-7D60-BEA85E354477}"/>
                  </a:ext>
                </a:extLst>
              </p:cNvPr>
              <p:cNvSpPr/>
              <p:nvPr/>
            </p:nvSpPr>
            <p:spPr>
              <a:xfrm>
                <a:off x="7912704" y="5562600"/>
                <a:ext cx="3835958" cy="9042400"/>
              </a:xfrm>
              <a:prstGeom prst="round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9C2CD7-F3A6-A2A4-D43D-69A67E73918A}"/>
                  </a:ext>
                </a:extLst>
              </p:cNvPr>
              <p:cNvSpPr txBox="1"/>
              <p:nvPr/>
            </p:nvSpPr>
            <p:spPr>
              <a:xfrm>
                <a:off x="8737718" y="14622217"/>
                <a:ext cx="3360051" cy="448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E" sz="3200" b="1" i="1" dirty="0"/>
                  <a:t>TaskTide Worker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1B90DD8D-EC71-89A9-DA38-FE6DCDD8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775691" y="9735585"/>
                <a:ext cx="1693295" cy="0"/>
              </a:xfrm>
              <a:prstGeom prst="straightConnector1">
                <a:avLst/>
              </a:prstGeom>
              <a:ln w="76200">
                <a:solidFill>
                  <a:schemeClr val="accent5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0D5D47F-B164-01B3-7D34-6665223CAF89}"/>
                  </a:ext>
                </a:extLst>
              </p:cNvPr>
              <p:cNvSpPr txBox="1"/>
              <p:nvPr/>
            </p:nvSpPr>
            <p:spPr>
              <a:xfrm>
                <a:off x="12008864" y="9338995"/>
                <a:ext cx="1495206" cy="401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E" sz="2800" b="1" dirty="0">
                    <a:solidFill>
                      <a:schemeClr val="accent5">
                        <a:lumMod val="75000"/>
                      </a:schemeClr>
                    </a:solidFill>
                  </a:rPr>
                  <a:t>Validates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73205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70803A-CDA1-1DC7-E6A3-6426FBFBB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877522"/>
              </p:ext>
            </p:extLst>
          </p:nvPr>
        </p:nvGraphicFramePr>
        <p:xfrm>
          <a:off x="1231902" y="293076"/>
          <a:ext cx="29935487" cy="2278380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5245107">
                  <a:extLst>
                    <a:ext uri="{9D8B030D-6E8A-4147-A177-3AD203B41FA5}">
                      <a16:colId xmlns:a16="http://schemas.microsoft.com/office/drawing/2014/main" val="476854940"/>
                    </a:ext>
                  </a:extLst>
                </a:gridCol>
                <a:gridCol w="5788806">
                  <a:extLst>
                    <a:ext uri="{9D8B030D-6E8A-4147-A177-3AD203B41FA5}">
                      <a16:colId xmlns:a16="http://schemas.microsoft.com/office/drawing/2014/main" val="3881593967"/>
                    </a:ext>
                  </a:extLst>
                </a:gridCol>
                <a:gridCol w="6927380">
                  <a:extLst>
                    <a:ext uri="{9D8B030D-6E8A-4147-A177-3AD203B41FA5}">
                      <a16:colId xmlns:a16="http://schemas.microsoft.com/office/drawing/2014/main" val="1034727848"/>
                    </a:ext>
                  </a:extLst>
                </a:gridCol>
                <a:gridCol w="5987097">
                  <a:extLst>
                    <a:ext uri="{9D8B030D-6E8A-4147-A177-3AD203B41FA5}">
                      <a16:colId xmlns:a16="http://schemas.microsoft.com/office/drawing/2014/main" val="520395861"/>
                    </a:ext>
                  </a:extLst>
                </a:gridCol>
                <a:gridCol w="5987097">
                  <a:extLst>
                    <a:ext uri="{9D8B030D-6E8A-4147-A177-3AD203B41FA5}">
                      <a16:colId xmlns:a16="http://schemas.microsoft.com/office/drawing/2014/main" val="2421708485"/>
                    </a:ext>
                  </a:extLst>
                </a:gridCol>
              </a:tblGrid>
              <a:tr h="2328565">
                <a:tc gridSpan="5">
                  <a:txBody>
                    <a:bodyPr/>
                    <a:lstStyle/>
                    <a:p>
                      <a:pPr algn="ctr"/>
                      <a:r>
                        <a:rPr lang="en-IE" sz="8800" dirty="0"/>
                        <a:t>Task Tide Configurations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lumMod val="89000"/>
                          </a:schemeClr>
                        </a:gs>
                        <a:gs pos="23000">
                          <a:schemeClr val="accent1">
                            <a:lumMod val="89000"/>
                          </a:schemeClr>
                        </a:gs>
                        <a:gs pos="69000">
                          <a:schemeClr val="accent1">
                            <a:lumMod val="75000"/>
                          </a:schemeClr>
                        </a:gs>
                        <a:gs pos="97000">
                          <a:schemeClr val="accent1">
                            <a:lumMod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6512949"/>
                  </a:ext>
                </a:extLst>
              </a:tr>
              <a:tr h="2078281">
                <a:tc>
                  <a:txBody>
                    <a:bodyPr/>
                    <a:lstStyle/>
                    <a:p>
                      <a:pPr algn="ctr"/>
                      <a:r>
                        <a:rPr lang="en-IE" sz="6600" b="1" dirty="0"/>
                        <a:t>Client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6600" b="1" dirty="0"/>
                        <a:t>Property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6600" b="1" dirty="0"/>
                        <a:t>Operand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6600" b="1" dirty="0"/>
                        <a:t>Example Value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6600" b="1" dirty="0"/>
                        <a:t>Description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07850"/>
                  </a:ext>
                </a:extLst>
              </a:tr>
              <a:tr h="1756717">
                <a:tc rowSpan="2">
                  <a:txBody>
                    <a:bodyPr/>
                    <a:lstStyle/>
                    <a:p>
                      <a:pPr algn="ctr"/>
                      <a:r>
                        <a:rPr lang="en-IE" sz="6000" b="1" dirty="0"/>
                        <a:t>Global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b="1" dirty="0"/>
                        <a:t>Client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000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4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tasktide client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manager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TaskTide client to use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6179669"/>
                  </a:ext>
                </a:extLst>
              </a:tr>
              <a:tr h="1929587">
                <a:tc vMerge="1"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b="1" dirty="0"/>
                        <a:t>Repository Type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000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4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tasktide core repository type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sqlite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Backend DB to use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9676677"/>
                  </a:ext>
                </a:extLst>
              </a:tr>
              <a:tr h="1929587">
                <a:tc rowSpan="2">
                  <a:txBody>
                    <a:bodyPr/>
                    <a:lstStyle/>
                    <a:p>
                      <a:pPr algn="ctr"/>
                      <a:r>
                        <a:rPr lang="en-IE" sz="6000" b="1" dirty="0"/>
                        <a:t>Manager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b="1" dirty="0"/>
                        <a:t>Target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0008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4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tasktide manager target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WORKITEM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TaskTide model for CRUD request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9942064"/>
                  </a:ext>
                </a:extLst>
              </a:tr>
              <a:tr h="1929587">
                <a:tc vMerge="1"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b="1" dirty="0"/>
                        <a:t>Method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tasktide manager method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Summarize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Manager CRUD operation to run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460120"/>
                  </a:ext>
                </a:extLst>
              </a:tr>
              <a:tr h="1929587">
                <a:tc rowSpan="2">
                  <a:txBody>
                    <a:bodyPr/>
                    <a:lstStyle/>
                    <a:p>
                      <a:pPr algn="ctr"/>
                      <a:r>
                        <a:rPr lang="en-IE" sz="6000" b="1" dirty="0"/>
                        <a:t>Engine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b="1" dirty="0"/>
                        <a:t>WorkItem Threads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tasktide engine workitem threads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2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Concurrent workers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3402372"/>
                  </a:ext>
                </a:extLst>
              </a:tr>
              <a:tr h="1929587">
                <a:tc vMerge="1">
                  <a:txBody>
                    <a:bodyPr/>
                    <a:lstStyle/>
                    <a:p>
                      <a:endParaRPr lang="en-I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b="1" dirty="0"/>
                        <a:t>Execution Policy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tasktide engine execution-policy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BATCH | SERVICE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How engine runs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304840"/>
                  </a:ext>
                </a:extLst>
              </a:tr>
              <a:tr h="1733551">
                <a:tc rowSpan="2">
                  <a:txBody>
                    <a:bodyPr/>
                    <a:lstStyle/>
                    <a:p>
                      <a:pPr algn="ctr"/>
                      <a:r>
                        <a:rPr lang="en-IE" sz="6000" b="1" dirty="0"/>
                        <a:t>Web-API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b="1" dirty="0"/>
                        <a:t>Port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tasktide web-api server  port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8080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Port of web server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1758954"/>
                  </a:ext>
                </a:extLst>
              </a:tr>
              <a:tr h="1733551">
                <a:tc v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b="1" dirty="0"/>
                        <a:t>Base Path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tasktide web-api server base-path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tasktide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02401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4400" dirty="0"/>
                        <a:t>Path of web server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9587811"/>
                  </a:ext>
                </a:extLst>
              </a:tr>
              <a:tr h="1828802">
                <a:tc rowSpan="2">
                  <a:txBody>
                    <a:bodyPr/>
                    <a:lstStyle/>
                    <a:p>
                      <a:pPr algn="ctr"/>
                      <a:r>
                        <a:rPr lang="en-IE" sz="6000" b="1" dirty="0"/>
                        <a:t>Mutex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b="1" dirty="0"/>
                        <a:t>Lock Directory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tasktide mutex lockDir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/tmp/tasktide-mutex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Where mutex operates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33132"/>
                  </a:ext>
                </a:extLst>
              </a:tr>
              <a:tr h="1676400">
                <a:tc vMerge="1">
                  <a:txBody>
                    <a:bodyPr/>
                    <a:lstStyle/>
                    <a:p>
                      <a:endParaRPr lang="en-I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b="1" dirty="0"/>
                        <a:t>Stale File Threshold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tasktide  staleFileThreshold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5000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4400" dirty="0"/>
                        <a:t>Elapsed milliseconds flagging stagnancy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3912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7806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025FF1-2EE4-12D9-7F37-8AD7AD049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0" y="495301"/>
            <a:ext cx="26860500" cy="4384842"/>
          </a:xfrm>
        </p:spPr>
        <p:txBody>
          <a:bodyPr>
            <a:normAutofit/>
          </a:bodyPr>
          <a:lstStyle/>
          <a:p>
            <a:pPr algn="ctr"/>
            <a:r>
              <a:rPr lang="en-IE" b="1" dirty="0"/>
              <a:t>High Level Development Approach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D9ACF76-073C-44F3-C456-69DA6124BA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9954873"/>
              </p:ext>
            </p:extLst>
          </p:nvPr>
        </p:nvGraphicFramePr>
        <p:xfrm>
          <a:off x="4089400" y="5718343"/>
          <a:ext cx="24841200" cy="163479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3586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4D0AD-7D60-F80E-532B-CE9F849C1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826" y="522668"/>
            <a:ext cx="26082248" cy="1674936"/>
          </a:xfrm>
        </p:spPr>
        <p:txBody>
          <a:bodyPr>
            <a:normAutofit fontScale="90000"/>
          </a:bodyPr>
          <a:lstStyle/>
          <a:p>
            <a:pPr algn="ctr"/>
            <a:r>
              <a:rPr lang="en-IE" b="1" i="1" dirty="0"/>
              <a:t>De-centralized Mutex Workflow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8319FDD-F96C-C6AC-4001-C3929F1ADE3A}"/>
              </a:ext>
            </a:extLst>
          </p:cNvPr>
          <p:cNvGrpSpPr/>
          <p:nvPr/>
        </p:nvGrpSpPr>
        <p:grpSpPr>
          <a:xfrm>
            <a:off x="789792" y="3104860"/>
            <a:ext cx="30692530" cy="19006988"/>
            <a:chOff x="-289708" y="2633807"/>
            <a:chExt cx="30692530" cy="190069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C7AF9FA-7438-5E00-C10B-5BDCEAA71E27}"/>
                </a:ext>
              </a:extLst>
            </p:cNvPr>
            <p:cNvSpPr/>
            <p:nvPr/>
          </p:nvSpPr>
          <p:spPr>
            <a:xfrm>
              <a:off x="190500" y="3853678"/>
              <a:ext cx="29851350" cy="6923211"/>
            </a:xfrm>
            <a:prstGeom prst="roundRect">
              <a:avLst/>
            </a:prstGeom>
            <a:solidFill>
              <a:srgbClr val="E6EAED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9CDF24C-6E41-99FF-7335-D2539468AD92}"/>
                </a:ext>
              </a:extLst>
            </p:cNvPr>
            <p:cNvSpPr txBox="1"/>
            <p:nvPr/>
          </p:nvSpPr>
          <p:spPr>
            <a:xfrm>
              <a:off x="423801" y="4004083"/>
              <a:ext cx="927735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4800" b="1" i="1" dirty="0"/>
                <a:t>1). Enqueue Election Ballot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0E05E10-B54C-55AA-F4C5-B5805511BA2C}"/>
                </a:ext>
              </a:extLst>
            </p:cNvPr>
            <p:cNvGrpSpPr/>
            <p:nvPr/>
          </p:nvGrpSpPr>
          <p:grpSpPr>
            <a:xfrm>
              <a:off x="495300" y="5160508"/>
              <a:ext cx="9277350" cy="5044882"/>
              <a:chOff x="609600" y="4232468"/>
              <a:chExt cx="9277350" cy="5044882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A98F1016-6507-D524-42D1-7AB16F226F63}"/>
                  </a:ext>
                </a:extLst>
              </p:cNvPr>
              <p:cNvSpPr/>
              <p:nvPr/>
            </p:nvSpPr>
            <p:spPr>
              <a:xfrm>
                <a:off x="609600" y="4232468"/>
                <a:ext cx="9277350" cy="5044882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shade val="30000"/>
                      <a:satMod val="115000"/>
                    </a:schemeClr>
                  </a:gs>
                  <a:gs pos="50000">
                    <a:schemeClr val="accent1">
                      <a:shade val="67500"/>
                      <a:satMod val="115000"/>
                    </a:schemeClr>
                  </a:gs>
                  <a:gs pos="100000">
                    <a:schemeClr val="accent1"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IE" sz="3200" b="1" dirty="0"/>
              </a:p>
              <a:p>
                <a:r>
                  <a:rPr lang="en-IE" sz="3200" b="1" dirty="0"/>
                  <a:t>  Mutex {</a:t>
                </a:r>
              </a:p>
              <a:p>
                <a:r>
                  <a:rPr lang="en-IE" sz="3200" b="1" dirty="0"/>
                  <a:t>         Id: &lt;Random UUID&gt;,</a:t>
                </a:r>
              </a:p>
              <a:p>
                <a:r>
                  <a:rPr lang="en-IE" sz="3200" b="1" dirty="0"/>
                  <a:t>         Time Stamp: &lt; EPOCH Time&gt;,</a:t>
                </a:r>
              </a:p>
              <a:p>
                <a:r>
                  <a:rPr lang="en-IE" sz="3200" b="1" dirty="0"/>
                  <a:t>         Lock File: &lt;Full File Path&gt;,</a:t>
                </a:r>
              </a:p>
              <a:p>
                <a:r>
                  <a:rPr lang="en-IE" sz="3200" b="1" dirty="0"/>
                  <a:t>         Election File: &lt;Full File Path&gt;,</a:t>
                </a:r>
              </a:p>
              <a:p>
                <a:r>
                  <a:rPr lang="en-IE" sz="3200" b="1" dirty="0"/>
                  <a:t>         Mutex State: &lt;INIT | WAIT | LOCKED&gt;</a:t>
                </a:r>
              </a:p>
              <a:p>
                <a:r>
                  <a:rPr lang="en-IE" sz="3200" b="1" dirty="0"/>
                  <a:t>  }</a:t>
                </a: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65AB9DE-E928-5C65-E445-AC34F60D20B4}"/>
                  </a:ext>
                </a:extLst>
              </p:cNvPr>
              <p:cNvGrpSpPr/>
              <p:nvPr/>
            </p:nvGrpSpPr>
            <p:grpSpPr>
              <a:xfrm>
                <a:off x="609600" y="4385666"/>
                <a:ext cx="9048750" cy="529234"/>
                <a:chOff x="914400" y="4442816"/>
                <a:chExt cx="9048750" cy="529234"/>
              </a:xfrm>
            </p:grpSpPr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D526A3C-335E-5F13-5100-FB52658BE261}"/>
                    </a:ext>
                  </a:extLst>
                </p:cNvPr>
                <p:cNvSpPr txBox="1"/>
                <p:nvPr/>
              </p:nvSpPr>
              <p:spPr>
                <a:xfrm>
                  <a:off x="914400" y="4442816"/>
                  <a:ext cx="904875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IE" sz="2800" b="1" dirty="0">
                      <a:solidFill>
                        <a:schemeClr val="bg1"/>
                      </a:solidFill>
                    </a:rPr>
                    <a:t>1769689749-HostA-InstanceA.json</a:t>
                  </a:r>
                </a:p>
              </p:txBody>
            </p: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794C1588-459B-325B-CB2C-AF92EF1C09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2270" y="4972050"/>
                  <a:ext cx="8112730" cy="0"/>
                </a:xfrm>
                <a:prstGeom prst="line">
                  <a:avLst/>
                </a:prstGeom>
                <a:ln w="19050" cap="flat" cmpd="sng" algn="ctr">
                  <a:solidFill>
                    <a:schemeClr val="bg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BF690E4-2BAC-371E-4F36-F3BB9D5CB4E8}"/>
                </a:ext>
              </a:extLst>
            </p:cNvPr>
            <p:cNvSpPr txBox="1"/>
            <p:nvPr/>
          </p:nvSpPr>
          <p:spPr>
            <a:xfrm>
              <a:off x="11316463" y="3976374"/>
              <a:ext cx="927735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4800" b="1" i="1" dirty="0"/>
                <a:t>2). Discover FIFO Position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C6F972B-C4A3-ADE2-9B28-D6F6A4C141B6}"/>
                </a:ext>
              </a:extLst>
            </p:cNvPr>
            <p:cNvSpPr/>
            <p:nvPr/>
          </p:nvSpPr>
          <p:spPr>
            <a:xfrm>
              <a:off x="11887200" y="5528808"/>
              <a:ext cx="7905750" cy="4037241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sz="3200" b="1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4CC6A90-C0EB-A4B6-BC65-86380C1FB3C9}"/>
                </a:ext>
              </a:extLst>
            </p:cNvPr>
            <p:cNvGrpSpPr/>
            <p:nvPr/>
          </p:nvGrpSpPr>
          <p:grpSpPr>
            <a:xfrm>
              <a:off x="12017069" y="5651409"/>
              <a:ext cx="7710947" cy="523220"/>
              <a:chOff x="914400" y="4442816"/>
              <a:chExt cx="9048750" cy="653808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9019241-98B9-86DF-7A70-BAC7C03C6376}"/>
                  </a:ext>
                </a:extLst>
              </p:cNvPr>
              <p:cNvSpPr txBox="1"/>
              <p:nvPr/>
            </p:nvSpPr>
            <p:spPr>
              <a:xfrm>
                <a:off x="914400" y="4442816"/>
                <a:ext cx="9048750" cy="6538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E" sz="2800" b="1" dirty="0">
                    <a:solidFill>
                      <a:schemeClr val="bg1"/>
                    </a:solidFill>
                  </a:rPr>
                  <a:t>Configured Election Directory</a:t>
                </a: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1DE96AB-CD56-E5FA-7030-6F555209E7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12270" y="5067269"/>
                <a:ext cx="8112730" cy="0"/>
              </a:xfrm>
              <a:prstGeom prst="line">
                <a:avLst/>
              </a:prstGeom>
              <a:ln w="19050" cap="flat" cmpd="sng" algn="ctr">
                <a:solidFill>
                  <a:schemeClr val="bg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B34B9CB4-2681-327E-1546-41998D4C06E8}"/>
                </a:ext>
              </a:extLst>
            </p:cNvPr>
            <p:cNvSpPr/>
            <p:nvPr/>
          </p:nvSpPr>
          <p:spPr>
            <a:xfrm>
              <a:off x="10063163" y="6819984"/>
              <a:ext cx="1619250" cy="1413703"/>
            </a:xfrm>
            <a:prstGeom prst="rightArrow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0A4E8B60-330B-1FB5-0943-17C11E0380CE}"/>
                </a:ext>
              </a:extLst>
            </p:cNvPr>
            <p:cNvSpPr/>
            <p:nvPr/>
          </p:nvSpPr>
          <p:spPr>
            <a:xfrm>
              <a:off x="20059650" y="6793093"/>
              <a:ext cx="1619250" cy="1440594"/>
            </a:xfrm>
            <a:prstGeom prst="rightArrow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E2DD160-6B4C-56D8-D2E7-C83E10664427}"/>
                </a:ext>
              </a:extLst>
            </p:cNvPr>
            <p:cNvSpPr txBox="1"/>
            <p:nvPr/>
          </p:nvSpPr>
          <p:spPr>
            <a:xfrm>
              <a:off x="22412325" y="3995424"/>
              <a:ext cx="66579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4800" b="1" i="1" dirty="0"/>
                <a:t>3). Wait Until Leader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A6E0309-BA76-2C37-BF97-83DA109EC708}"/>
                </a:ext>
              </a:extLst>
            </p:cNvPr>
            <p:cNvGrpSpPr/>
            <p:nvPr/>
          </p:nvGrpSpPr>
          <p:grpSpPr>
            <a:xfrm>
              <a:off x="21839238" y="5567707"/>
              <a:ext cx="7905750" cy="3770158"/>
              <a:chOff x="12363450" y="4232467"/>
              <a:chExt cx="9277350" cy="5044882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2E450F5-1EAF-54A9-2874-39442B8A056D}"/>
                  </a:ext>
                </a:extLst>
              </p:cNvPr>
              <p:cNvSpPr/>
              <p:nvPr/>
            </p:nvSpPr>
            <p:spPr>
              <a:xfrm>
                <a:off x="12363450" y="4232467"/>
                <a:ext cx="9277350" cy="5044882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shade val="30000"/>
                      <a:satMod val="115000"/>
                    </a:schemeClr>
                  </a:gs>
                  <a:gs pos="50000">
                    <a:schemeClr val="accent1">
                      <a:shade val="67500"/>
                      <a:satMod val="115000"/>
                    </a:schemeClr>
                  </a:gs>
                  <a:gs pos="100000">
                    <a:schemeClr val="accent1"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 sz="3200" b="1" dirty="0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1E3BF374-E77C-233B-E92F-4758AAD130B1}"/>
                  </a:ext>
                </a:extLst>
              </p:cNvPr>
              <p:cNvGrpSpPr/>
              <p:nvPr/>
            </p:nvGrpSpPr>
            <p:grpSpPr>
              <a:xfrm>
                <a:off x="12515850" y="4385666"/>
                <a:ext cx="9048750" cy="700125"/>
                <a:chOff x="914400" y="4442816"/>
                <a:chExt cx="9048750" cy="700125"/>
              </a:xfrm>
            </p:grpSpPr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381B058-26BE-BAB2-79EA-A327C72E9DF2}"/>
                    </a:ext>
                  </a:extLst>
                </p:cNvPr>
                <p:cNvSpPr txBox="1"/>
                <p:nvPr/>
              </p:nvSpPr>
              <p:spPr>
                <a:xfrm>
                  <a:off x="914400" y="4442816"/>
                  <a:ext cx="9048750" cy="70012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IE" sz="2800" b="1" dirty="0">
                      <a:solidFill>
                        <a:schemeClr val="bg1"/>
                      </a:solidFill>
                    </a:rPr>
                    <a:t>Wait &amp; Retry</a:t>
                  </a:r>
                </a:p>
              </p:txBody>
            </p: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69B4F2D9-FA43-58DF-241A-59FC646CE5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2270" y="5108003"/>
                  <a:ext cx="8112730" cy="0"/>
                </a:xfrm>
                <a:prstGeom prst="line">
                  <a:avLst/>
                </a:prstGeom>
                <a:ln w="19050" cap="flat" cmpd="sng" algn="ctr">
                  <a:solidFill>
                    <a:schemeClr val="bg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39" name="Graphic 38" descr="Alarm Ringing outline">
              <a:extLst>
                <a:ext uri="{FF2B5EF4-FFF2-40B4-BE49-F238E27FC236}">
                  <a16:creationId xmlns:a16="http://schemas.microsoft.com/office/drawing/2014/main" id="{A06521CE-5F19-1FCB-0285-A48FE6ADAE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117170" y="6665603"/>
              <a:ext cx="2105025" cy="2105025"/>
            </a:xfrm>
            <a:prstGeom prst="rect">
              <a:avLst/>
            </a:prstGeom>
          </p:spPr>
        </p:pic>
        <p:pic>
          <p:nvPicPr>
            <p:cNvPr id="41" name="Graphic 40" descr="Snooze outline">
              <a:extLst>
                <a:ext uri="{FF2B5EF4-FFF2-40B4-BE49-F238E27FC236}">
                  <a16:creationId xmlns:a16="http://schemas.microsoft.com/office/drawing/2014/main" id="{05D21A47-FEE5-33CD-5150-CCD8C98322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468970" y="6417953"/>
              <a:ext cx="2105025" cy="2105025"/>
            </a:xfrm>
            <a:prstGeom prst="rect">
              <a:avLst/>
            </a:prstGeom>
          </p:spPr>
        </p:pic>
        <p:sp>
          <p:nvSpPr>
            <p:cNvPr id="43" name="Arrow: Right 42">
              <a:extLst>
                <a:ext uri="{FF2B5EF4-FFF2-40B4-BE49-F238E27FC236}">
                  <a16:creationId xmlns:a16="http://schemas.microsoft.com/office/drawing/2014/main" id="{A2F234AD-9CCE-B2A5-133D-DF97E9659C03}"/>
                </a:ext>
              </a:extLst>
            </p:cNvPr>
            <p:cNvSpPr/>
            <p:nvPr/>
          </p:nvSpPr>
          <p:spPr>
            <a:xfrm>
              <a:off x="24806275" y="7169995"/>
              <a:ext cx="1828800" cy="981939"/>
            </a:xfrm>
            <a:prstGeom prst="rightArrow">
              <a:avLst/>
            </a:prstGeom>
            <a:solidFill>
              <a:schemeClr val="accent2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8438DC7B-472C-B3E3-A01D-765CC1D09460}"/>
                </a:ext>
              </a:extLst>
            </p:cNvPr>
            <p:cNvGrpSpPr/>
            <p:nvPr/>
          </p:nvGrpSpPr>
          <p:grpSpPr>
            <a:xfrm>
              <a:off x="5122141" y="2633807"/>
              <a:ext cx="20817737" cy="1143120"/>
              <a:chOff x="4899243" y="2108980"/>
              <a:chExt cx="18821400" cy="1107996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4F17CA91-6386-7A67-939A-4EBB612577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000" y="3108744"/>
                <a:ext cx="18649794" cy="0"/>
              </a:xfrm>
              <a:prstGeom prst="line">
                <a:avLst/>
              </a:prstGeom>
              <a:ln w="5715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14435C2-F2C9-4CB1-DFE2-178BD5F92F20}"/>
                  </a:ext>
                </a:extLst>
              </p:cNvPr>
              <p:cNvSpPr txBox="1"/>
              <p:nvPr/>
            </p:nvSpPr>
            <p:spPr>
              <a:xfrm>
                <a:off x="4899243" y="2108980"/>
                <a:ext cx="188214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E" sz="6600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i). Leader Election Coordinated Across HPC Jobs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415DE28-1A6C-8362-F4F8-741555000F08}"/>
                </a:ext>
              </a:extLst>
            </p:cNvPr>
            <p:cNvGrpSpPr/>
            <p:nvPr/>
          </p:nvGrpSpPr>
          <p:grpSpPr>
            <a:xfrm>
              <a:off x="5280891" y="14525624"/>
              <a:ext cx="18859500" cy="1107996"/>
              <a:chOff x="4953000" y="2082800"/>
              <a:chExt cx="18859500" cy="1107996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2A8FEBA9-B1C8-76B3-0138-002F653CAB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53000" y="3108744"/>
                <a:ext cx="18649794" cy="0"/>
              </a:xfrm>
              <a:prstGeom prst="line">
                <a:avLst/>
              </a:prstGeom>
              <a:ln w="5715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C04D604-5EE5-1D96-7D9A-76504BC438EE}"/>
                  </a:ext>
                </a:extLst>
              </p:cNvPr>
              <p:cNvSpPr txBox="1"/>
              <p:nvPr/>
            </p:nvSpPr>
            <p:spPr>
              <a:xfrm>
                <a:off x="4991100" y="2082800"/>
                <a:ext cx="188214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E" sz="6600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ii). Hosting Node of Leader Owns the OS Lock</a:t>
                </a:r>
              </a:p>
            </p:txBody>
          </p:sp>
        </p:grp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9F6B5165-62F2-45C5-C2B0-48352441AE46}"/>
                </a:ext>
              </a:extLst>
            </p:cNvPr>
            <p:cNvSpPr/>
            <p:nvPr/>
          </p:nvSpPr>
          <p:spPr>
            <a:xfrm>
              <a:off x="188191" y="15722603"/>
              <a:ext cx="29851350" cy="5918192"/>
            </a:xfrm>
            <a:prstGeom prst="roundRect">
              <a:avLst/>
            </a:prstGeom>
            <a:solidFill>
              <a:srgbClr val="E6EAED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b="1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A58CC51-694B-6303-6B7E-1DE40BCD20AB}"/>
                </a:ext>
              </a:extLst>
            </p:cNvPr>
            <p:cNvSpPr txBox="1"/>
            <p:nvPr/>
          </p:nvSpPr>
          <p:spPr>
            <a:xfrm>
              <a:off x="-289708" y="15798918"/>
              <a:ext cx="927735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4800" b="1" i="1" dirty="0"/>
                <a:t>4). Acquire File Lock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304CF6E-B326-E521-B77C-B4D210C04B06}"/>
                </a:ext>
              </a:extLst>
            </p:cNvPr>
            <p:cNvSpPr txBox="1"/>
            <p:nvPr/>
          </p:nvSpPr>
          <p:spPr>
            <a:xfrm>
              <a:off x="10337075" y="15798918"/>
              <a:ext cx="927735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4800" b="1" i="1" dirty="0"/>
                <a:t>5). Execute Work Under Lock</a:t>
              </a:r>
            </a:p>
          </p:txBody>
        </p:sp>
        <p:sp>
          <p:nvSpPr>
            <p:cNvPr id="92" name="Arrow: Right 91">
              <a:extLst>
                <a:ext uri="{FF2B5EF4-FFF2-40B4-BE49-F238E27FC236}">
                  <a16:creationId xmlns:a16="http://schemas.microsoft.com/office/drawing/2014/main" id="{AE345429-4113-2B59-9FBD-F7FEC818DA28}"/>
                </a:ext>
              </a:extLst>
            </p:cNvPr>
            <p:cNvSpPr/>
            <p:nvPr/>
          </p:nvSpPr>
          <p:spPr>
            <a:xfrm>
              <a:off x="8768936" y="18207958"/>
              <a:ext cx="1979305" cy="1413703"/>
            </a:xfrm>
            <a:prstGeom prst="rightArrow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93" name="Arrow: Right 92">
              <a:extLst>
                <a:ext uri="{FF2B5EF4-FFF2-40B4-BE49-F238E27FC236}">
                  <a16:creationId xmlns:a16="http://schemas.microsoft.com/office/drawing/2014/main" id="{9A92287C-9ADC-C5E8-F927-2ABB19F06159}"/>
                </a:ext>
              </a:extLst>
            </p:cNvPr>
            <p:cNvSpPr/>
            <p:nvPr/>
          </p:nvSpPr>
          <p:spPr>
            <a:xfrm>
              <a:off x="18640529" y="18100710"/>
              <a:ext cx="2242312" cy="1440594"/>
            </a:xfrm>
            <a:prstGeom prst="rightArrow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C31B3FA-AD41-3E67-4907-5195F0A775AF}"/>
                </a:ext>
              </a:extLst>
            </p:cNvPr>
            <p:cNvSpPr txBox="1"/>
            <p:nvPr/>
          </p:nvSpPr>
          <p:spPr>
            <a:xfrm>
              <a:off x="22365661" y="15798918"/>
              <a:ext cx="66579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4800" b="1" i="1" dirty="0"/>
                <a:t>6). Dequeue Mutex</a:t>
              </a:r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BEB964F5-01B5-3919-71C3-72F33580F0AB}"/>
                </a:ext>
              </a:extLst>
            </p:cNvPr>
            <p:cNvGrpSpPr/>
            <p:nvPr/>
          </p:nvGrpSpPr>
          <p:grpSpPr>
            <a:xfrm>
              <a:off x="21325242" y="16779966"/>
              <a:ext cx="8392038" cy="4236049"/>
              <a:chOff x="12363450" y="4232467"/>
              <a:chExt cx="9277350" cy="5044882"/>
            </a:xfrm>
          </p:grpSpPr>
          <p:sp>
            <p:nvSpPr>
              <p:cNvPr id="100" name="Rectangle: Rounded Corners 99">
                <a:extLst>
                  <a:ext uri="{FF2B5EF4-FFF2-40B4-BE49-F238E27FC236}">
                    <a16:creationId xmlns:a16="http://schemas.microsoft.com/office/drawing/2014/main" id="{D1D4EDCD-A5D1-874D-2060-507433C888D5}"/>
                  </a:ext>
                </a:extLst>
              </p:cNvPr>
              <p:cNvSpPr/>
              <p:nvPr/>
            </p:nvSpPr>
            <p:spPr>
              <a:xfrm>
                <a:off x="12363450" y="4232467"/>
                <a:ext cx="9277350" cy="5044882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shade val="30000"/>
                      <a:satMod val="115000"/>
                    </a:schemeClr>
                  </a:gs>
                  <a:gs pos="50000">
                    <a:schemeClr val="accent1">
                      <a:shade val="67500"/>
                      <a:satMod val="115000"/>
                    </a:schemeClr>
                  </a:gs>
                  <a:gs pos="100000">
                    <a:schemeClr val="accent1"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 sz="3200" b="1" dirty="0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0C38E234-E7AC-FB28-218C-CCAB9770B5A1}"/>
                  </a:ext>
                </a:extLst>
              </p:cNvPr>
              <p:cNvGrpSpPr/>
              <p:nvPr/>
            </p:nvGrpSpPr>
            <p:grpSpPr>
              <a:xfrm>
                <a:off x="12515850" y="4385666"/>
                <a:ext cx="9048750" cy="680484"/>
                <a:chOff x="914400" y="4442816"/>
                <a:chExt cx="9048750" cy="680484"/>
              </a:xfrm>
            </p:grpSpPr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6D892C4A-C8B2-E3B3-2102-90A87CEA6E3D}"/>
                    </a:ext>
                  </a:extLst>
                </p:cNvPr>
                <p:cNvSpPr txBox="1"/>
                <p:nvPr/>
              </p:nvSpPr>
              <p:spPr>
                <a:xfrm>
                  <a:off x="914400" y="4442816"/>
                  <a:ext cx="9048750" cy="62312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IE" sz="2800" b="1" dirty="0">
                      <a:solidFill>
                        <a:schemeClr val="bg1"/>
                      </a:solidFill>
                    </a:rPr>
                    <a:t>Clear Central then Election Lock</a:t>
                  </a:r>
                </a:p>
              </p:txBody>
            </p: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8F177FCE-694E-26FC-3BDF-DA48A7D41C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2270" y="5123300"/>
                  <a:ext cx="8112730" cy="0"/>
                </a:xfrm>
                <a:prstGeom prst="line">
                  <a:avLst/>
                </a:prstGeom>
                <a:ln w="19050" cap="flat" cmpd="sng" algn="ctr">
                  <a:solidFill>
                    <a:schemeClr val="bg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3" name="Arrow: Right 112">
              <a:extLst>
                <a:ext uri="{FF2B5EF4-FFF2-40B4-BE49-F238E27FC236}">
                  <a16:creationId xmlns:a16="http://schemas.microsoft.com/office/drawing/2014/main" id="{5235A552-AB28-96C9-9D25-FE98C601670A}"/>
                </a:ext>
              </a:extLst>
            </p:cNvPr>
            <p:cNvSpPr/>
            <p:nvPr/>
          </p:nvSpPr>
          <p:spPr>
            <a:xfrm rot="5400000">
              <a:off x="13797988" y="12011264"/>
              <a:ext cx="2656859" cy="1619250"/>
            </a:xfrm>
            <a:prstGeom prst="rightArrow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3824AFED-603D-7D8E-5651-3778581935FE}"/>
                </a:ext>
              </a:extLst>
            </p:cNvPr>
            <p:cNvGrpSpPr/>
            <p:nvPr/>
          </p:nvGrpSpPr>
          <p:grpSpPr>
            <a:xfrm>
              <a:off x="734291" y="16906275"/>
              <a:ext cx="7521575" cy="3842943"/>
              <a:chOff x="609600" y="4232468"/>
              <a:chExt cx="9277350" cy="5044882"/>
            </a:xfrm>
          </p:grpSpPr>
          <p:sp>
            <p:nvSpPr>
              <p:cNvPr id="108" name="Rectangle: Rounded Corners 107">
                <a:extLst>
                  <a:ext uri="{FF2B5EF4-FFF2-40B4-BE49-F238E27FC236}">
                    <a16:creationId xmlns:a16="http://schemas.microsoft.com/office/drawing/2014/main" id="{63642D35-62E7-4F25-2914-F20F10C76A8C}"/>
                  </a:ext>
                </a:extLst>
              </p:cNvPr>
              <p:cNvSpPr/>
              <p:nvPr/>
            </p:nvSpPr>
            <p:spPr>
              <a:xfrm>
                <a:off x="609600" y="4232468"/>
                <a:ext cx="9277350" cy="5044882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shade val="30000"/>
                      <a:satMod val="115000"/>
                    </a:schemeClr>
                  </a:gs>
                  <a:gs pos="50000">
                    <a:schemeClr val="accent1">
                      <a:shade val="67500"/>
                      <a:satMod val="115000"/>
                    </a:schemeClr>
                  </a:gs>
                  <a:gs pos="100000">
                    <a:schemeClr val="accent1"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IE" sz="3200" b="1" dirty="0"/>
              </a:p>
            </p:txBody>
          </p: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4C706FEC-6D43-6EF3-8962-CE9C89EDB1A5}"/>
                  </a:ext>
                </a:extLst>
              </p:cNvPr>
              <p:cNvGrpSpPr/>
              <p:nvPr/>
            </p:nvGrpSpPr>
            <p:grpSpPr>
              <a:xfrm>
                <a:off x="609600" y="4385666"/>
                <a:ext cx="9048750" cy="689940"/>
                <a:chOff x="914400" y="4442816"/>
                <a:chExt cx="9048750" cy="689940"/>
              </a:xfrm>
            </p:grpSpPr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5FB26764-FE71-E2BA-81BD-1A41BC916065}"/>
                    </a:ext>
                  </a:extLst>
                </p:cNvPr>
                <p:cNvSpPr txBox="1"/>
                <p:nvPr/>
              </p:nvSpPr>
              <p:spPr>
                <a:xfrm>
                  <a:off x="914400" y="4442816"/>
                  <a:ext cx="9048750" cy="6868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IE" sz="2800" b="1" dirty="0">
                      <a:solidFill>
                        <a:schemeClr val="bg1"/>
                      </a:solidFill>
                    </a:rPr>
                    <a:t>FileChannel Lock on Central LockFile</a:t>
                  </a:r>
                </a:p>
              </p:txBody>
            </p: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D438D6CE-796E-F0D7-2297-DD9F25BC03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97160" y="5132756"/>
                  <a:ext cx="8032762" cy="0"/>
                </a:xfrm>
                <a:prstGeom prst="line">
                  <a:avLst/>
                </a:prstGeom>
                <a:ln w="19050" cap="flat" cmpd="sng" algn="ctr">
                  <a:solidFill>
                    <a:schemeClr val="bg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2E5359AA-2A23-D204-F4FF-03D4CC2A86B1}"/>
                </a:ext>
              </a:extLst>
            </p:cNvPr>
            <p:cNvGrpSpPr/>
            <p:nvPr/>
          </p:nvGrpSpPr>
          <p:grpSpPr>
            <a:xfrm>
              <a:off x="2801215" y="17754707"/>
              <a:ext cx="3140911" cy="2301407"/>
              <a:chOff x="1939924" y="18109350"/>
              <a:chExt cx="3573819" cy="2536825"/>
            </a:xfrm>
          </p:grpSpPr>
          <p:pic>
            <p:nvPicPr>
              <p:cNvPr id="120" name="Graphic 119" descr="Lock outline">
                <a:extLst>
                  <a:ext uri="{FF2B5EF4-FFF2-40B4-BE49-F238E27FC236}">
                    <a16:creationId xmlns:a16="http://schemas.microsoft.com/office/drawing/2014/main" id="{7B630FEC-92E0-4756-D730-8992B21219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836986" y="18584802"/>
                <a:ext cx="1676757" cy="1676757"/>
              </a:xfrm>
              <a:prstGeom prst="rect">
                <a:avLst/>
              </a:prstGeom>
            </p:spPr>
          </p:pic>
          <p:pic>
            <p:nvPicPr>
              <p:cNvPr id="121" name="Graphic 120" descr="Document with solid fill">
                <a:extLst>
                  <a:ext uri="{FF2B5EF4-FFF2-40B4-BE49-F238E27FC236}">
                    <a16:creationId xmlns:a16="http://schemas.microsoft.com/office/drawing/2014/main" id="{9A7FF259-FA79-C04A-27C7-5666BA552D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939924" y="18109350"/>
                <a:ext cx="2536825" cy="2536825"/>
              </a:xfrm>
              <a:prstGeom prst="rect">
                <a:avLst/>
              </a:prstGeom>
            </p:spPr>
          </p:pic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58AADD96-942D-E95B-B1E7-25F4E2905E02}"/>
                </a:ext>
              </a:extLst>
            </p:cNvPr>
            <p:cNvGrpSpPr/>
            <p:nvPr/>
          </p:nvGrpSpPr>
          <p:grpSpPr>
            <a:xfrm>
              <a:off x="11122891" y="16906275"/>
              <a:ext cx="7023100" cy="3919143"/>
              <a:chOff x="12363450" y="4232467"/>
              <a:chExt cx="9277350" cy="5044882"/>
            </a:xfrm>
          </p:grpSpPr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8CE5F9D7-906C-B109-E9C5-E0D38401E58F}"/>
                  </a:ext>
                </a:extLst>
              </p:cNvPr>
              <p:cNvSpPr/>
              <p:nvPr/>
            </p:nvSpPr>
            <p:spPr>
              <a:xfrm>
                <a:off x="12363450" y="4232467"/>
                <a:ext cx="9277350" cy="5044882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1">
                      <a:shade val="30000"/>
                      <a:satMod val="115000"/>
                    </a:schemeClr>
                  </a:gs>
                  <a:gs pos="50000">
                    <a:schemeClr val="accent1">
                      <a:shade val="67500"/>
                      <a:satMod val="115000"/>
                    </a:schemeClr>
                  </a:gs>
                  <a:gs pos="100000">
                    <a:schemeClr val="accent1"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 sz="3200" b="1" dirty="0"/>
              </a:p>
            </p:txBody>
          </p: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EFB25828-2711-D2B1-17B2-15EC5A261F83}"/>
                  </a:ext>
                </a:extLst>
              </p:cNvPr>
              <p:cNvGrpSpPr/>
              <p:nvPr/>
            </p:nvGrpSpPr>
            <p:grpSpPr>
              <a:xfrm>
                <a:off x="12515850" y="4385666"/>
                <a:ext cx="9048750" cy="692714"/>
                <a:chOff x="914400" y="4442816"/>
                <a:chExt cx="9048750" cy="692714"/>
              </a:xfrm>
            </p:grpSpPr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401BD3F1-B161-5045-06D8-A48535812444}"/>
                    </a:ext>
                  </a:extLst>
                </p:cNvPr>
                <p:cNvSpPr txBox="1"/>
                <p:nvPr/>
              </p:nvSpPr>
              <p:spPr>
                <a:xfrm>
                  <a:off x="914400" y="4442816"/>
                  <a:ext cx="9048750" cy="6735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IE" sz="2800" b="1" dirty="0">
                      <a:solidFill>
                        <a:schemeClr val="bg1"/>
                      </a:solidFill>
                    </a:rPr>
                    <a:t>Run Job</a:t>
                  </a:r>
                </a:p>
              </p:txBody>
            </p: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F6133D7E-94E1-7137-40DE-0C6131EF11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2269" y="5135530"/>
                  <a:ext cx="8112730" cy="0"/>
                </a:xfrm>
                <a:prstGeom prst="line">
                  <a:avLst/>
                </a:prstGeom>
                <a:ln w="19050" cap="flat" cmpd="sng" algn="ctr">
                  <a:solidFill>
                    <a:schemeClr val="bg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5D7E449F-558E-2A82-83D0-0DD18C718BCB}"/>
                </a:ext>
              </a:extLst>
            </p:cNvPr>
            <p:cNvGrpSpPr/>
            <p:nvPr/>
          </p:nvGrpSpPr>
          <p:grpSpPr>
            <a:xfrm>
              <a:off x="12985467" y="17592118"/>
              <a:ext cx="4074674" cy="2638970"/>
              <a:chOff x="15089626" y="18117665"/>
              <a:chExt cx="2911547" cy="2214581"/>
            </a:xfrm>
          </p:grpSpPr>
          <p:pic>
            <p:nvPicPr>
              <p:cNvPr id="130" name="Graphic 129" descr="Database outline">
                <a:extLst>
                  <a:ext uri="{FF2B5EF4-FFF2-40B4-BE49-F238E27FC236}">
                    <a16:creationId xmlns:a16="http://schemas.microsoft.com/office/drawing/2014/main" id="{A1B2ADF8-6F5C-75F1-C094-9E6AE9F712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5089626" y="18117665"/>
                <a:ext cx="2214581" cy="2214581"/>
              </a:xfrm>
              <a:prstGeom prst="rect">
                <a:avLst/>
              </a:prstGeom>
            </p:spPr>
          </p:pic>
          <p:pic>
            <p:nvPicPr>
              <p:cNvPr id="131" name="Graphic 130" descr="Gears outline">
                <a:extLst>
                  <a:ext uri="{FF2B5EF4-FFF2-40B4-BE49-F238E27FC236}">
                    <a16:creationId xmlns:a16="http://schemas.microsoft.com/office/drawing/2014/main" id="{728D8DAC-7377-4510-7121-8CD0C52F69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6511777" y="18356709"/>
                <a:ext cx="1489396" cy="1489396"/>
              </a:xfrm>
              <a:prstGeom prst="rect">
                <a:avLst/>
              </a:prstGeom>
            </p:spPr>
          </p:pic>
        </p:grpSp>
        <p:sp>
          <p:nvSpPr>
            <p:cNvPr id="138" name="Minus Sign 137">
              <a:extLst>
                <a:ext uri="{FF2B5EF4-FFF2-40B4-BE49-F238E27FC236}">
                  <a16:creationId xmlns:a16="http://schemas.microsoft.com/office/drawing/2014/main" id="{C48D16BE-8A2E-3ACD-419B-BB62C0A67363}"/>
                </a:ext>
              </a:extLst>
            </p:cNvPr>
            <p:cNvSpPr/>
            <p:nvPr/>
          </p:nvSpPr>
          <p:spPr>
            <a:xfrm rot="2461338">
              <a:off x="25800995" y="18645329"/>
              <a:ext cx="4601827" cy="763631"/>
            </a:xfrm>
            <a:prstGeom prst="mathMinus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FE2729AB-7D31-09EC-B6D4-DD02446E99F7}"/>
                </a:ext>
              </a:extLst>
            </p:cNvPr>
            <p:cNvGrpSpPr/>
            <p:nvPr/>
          </p:nvGrpSpPr>
          <p:grpSpPr>
            <a:xfrm>
              <a:off x="20892445" y="18037170"/>
              <a:ext cx="8251657" cy="2105025"/>
              <a:chOff x="20920154" y="17681571"/>
              <a:chExt cx="8251657" cy="2105025"/>
            </a:xfrm>
          </p:grpSpPr>
          <p:sp>
            <p:nvSpPr>
              <p:cNvPr id="99" name="Arrow: Right 98">
                <a:extLst>
                  <a:ext uri="{FF2B5EF4-FFF2-40B4-BE49-F238E27FC236}">
                    <a16:creationId xmlns:a16="http://schemas.microsoft.com/office/drawing/2014/main" id="{9BFB6834-0C7D-E9A4-ED0F-4C588162AC49}"/>
                  </a:ext>
                </a:extLst>
              </p:cNvPr>
              <p:cNvSpPr/>
              <p:nvPr/>
            </p:nvSpPr>
            <p:spPr>
              <a:xfrm>
                <a:off x="24851915" y="18210209"/>
                <a:ext cx="1828800" cy="981939"/>
              </a:xfrm>
              <a:prstGeom prst="rightArrow">
                <a:avLst/>
              </a:prstGeom>
              <a:solidFill>
                <a:schemeClr val="accent2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8D3338D0-9143-5ED2-2FAA-962AD88F8957}"/>
                  </a:ext>
                </a:extLst>
              </p:cNvPr>
              <p:cNvGrpSpPr/>
              <p:nvPr/>
            </p:nvGrpSpPr>
            <p:grpSpPr>
              <a:xfrm>
                <a:off x="21995031" y="17702978"/>
                <a:ext cx="2427822" cy="1996402"/>
                <a:chOff x="26375777" y="17930059"/>
                <a:chExt cx="3573819" cy="2536825"/>
              </a:xfrm>
            </p:grpSpPr>
            <p:pic>
              <p:nvPicPr>
                <p:cNvPr id="133" name="Graphic 132" descr="Lock outline">
                  <a:extLst>
                    <a:ext uri="{FF2B5EF4-FFF2-40B4-BE49-F238E27FC236}">
                      <a16:creationId xmlns:a16="http://schemas.microsoft.com/office/drawing/2014/main" id="{A193D7A6-EA2C-4556-C775-0E301B7079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272839" y="18405511"/>
                  <a:ext cx="1676757" cy="1676757"/>
                </a:xfrm>
                <a:prstGeom prst="rect">
                  <a:avLst/>
                </a:prstGeom>
              </p:spPr>
            </p:pic>
            <p:pic>
              <p:nvPicPr>
                <p:cNvPr id="134" name="Graphic 133" descr="Document with solid fill">
                  <a:extLst>
                    <a:ext uri="{FF2B5EF4-FFF2-40B4-BE49-F238E27FC236}">
                      <a16:creationId xmlns:a16="http://schemas.microsoft.com/office/drawing/2014/main" id="{45B2C3B3-84ED-56A1-57A4-39CBF959ED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375777" y="17930059"/>
                  <a:ext cx="2536825" cy="2536825"/>
                </a:xfrm>
                <a:prstGeom prst="rect">
                  <a:avLst/>
                </a:prstGeom>
              </p:spPr>
            </p:pic>
          </p:grpSp>
          <p:pic>
            <p:nvPicPr>
              <p:cNvPr id="97" name="Graphic 96" descr="Alarm Ringing outline">
                <a:extLst>
                  <a:ext uri="{FF2B5EF4-FFF2-40B4-BE49-F238E27FC236}">
                    <a16:creationId xmlns:a16="http://schemas.microsoft.com/office/drawing/2014/main" id="{7DD1699D-8A5C-2C89-E485-D1DE7EA636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7066786" y="17681571"/>
                <a:ext cx="2105025" cy="2105025"/>
              </a:xfrm>
              <a:prstGeom prst="rect">
                <a:avLst/>
              </a:prstGeom>
            </p:spPr>
          </p:pic>
          <p:sp>
            <p:nvSpPr>
              <p:cNvPr id="141" name="Minus Sign 140">
                <a:extLst>
                  <a:ext uri="{FF2B5EF4-FFF2-40B4-BE49-F238E27FC236}">
                    <a16:creationId xmlns:a16="http://schemas.microsoft.com/office/drawing/2014/main" id="{D1BB6AE0-ED32-E388-CB7C-69E78586C5B7}"/>
                  </a:ext>
                </a:extLst>
              </p:cNvPr>
              <p:cNvSpPr/>
              <p:nvPr/>
            </p:nvSpPr>
            <p:spPr>
              <a:xfrm rot="2461338">
                <a:off x="20920154" y="18264330"/>
                <a:ext cx="4601827" cy="763631"/>
              </a:xfrm>
              <a:prstGeom prst="mathMinus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</p:grp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779D6EF5-6E71-750C-C968-275F246CB369}"/>
                </a:ext>
              </a:extLst>
            </p:cNvPr>
            <p:cNvSpPr txBox="1"/>
            <p:nvPr/>
          </p:nvSpPr>
          <p:spPr>
            <a:xfrm>
              <a:off x="13082300" y="20255632"/>
              <a:ext cx="309927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E" sz="2000" b="1" dirty="0">
                  <a:solidFill>
                    <a:schemeClr val="bg1"/>
                  </a:solidFill>
                </a:rPr>
                <a:t>Read/Write ItemStore</a:t>
              </a:r>
              <a:endParaRPr lang="en-IE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0163D558-D9CF-EB15-A543-67E9B490F9E6}"/>
                </a:ext>
              </a:extLst>
            </p:cNvPr>
            <p:cNvSpPr txBox="1"/>
            <p:nvPr/>
          </p:nvSpPr>
          <p:spPr>
            <a:xfrm>
              <a:off x="24093343" y="8745858"/>
              <a:ext cx="309927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E" sz="2000" b="1" dirty="0">
                  <a:solidFill>
                    <a:schemeClr val="bg1"/>
                  </a:solidFill>
                </a:rPr>
                <a:t>Commits HostLock File</a:t>
              </a:r>
              <a:endParaRPr lang="en-IE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488BA0E4-2698-AA4F-33BC-437205A939A7}"/>
                </a:ext>
              </a:extLst>
            </p:cNvPr>
            <p:cNvSpPr txBox="1"/>
            <p:nvPr/>
          </p:nvSpPr>
          <p:spPr>
            <a:xfrm>
              <a:off x="22975262" y="20443592"/>
              <a:ext cx="552631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E" sz="2000" b="1" dirty="0">
                  <a:solidFill>
                    <a:schemeClr val="bg1"/>
                  </a:solidFill>
                </a:rPr>
                <a:t>Clears lock files for the next elected leader</a:t>
              </a:r>
              <a:endParaRPr lang="en-IE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3B8E43E1-7436-194E-48AB-E1CA8307367E}"/>
                </a:ext>
              </a:extLst>
            </p:cNvPr>
            <p:cNvSpPr txBox="1"/>
            <p:nvPr/>
          </p:nvSpPr>
          <p:spPr>
            <a:xfrm>
              <a:off x="2527706" y="20119124"/>
              <a:ext cx="309927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E" sz="2000" b="1" dirty="0">
                  <a:solidFill>
                    <a:schemeClr val="bg1"/>
                  </a:solidFill>
                </a:rPr>
                <a:t>Host holds OS lock</a:t>
              </a:r>
              <a:endParaRPr lang="en-IE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D60B3236-5E5F-740E-7BF1-6307428B9C13}"/>
                </a:ext>
              </a:extLst>
            </p:cNvPr>
            <p:cNvSpPr txBox="1"/>
            <p:nvPr/>
          </p:nvSpPr>
          <p:spPr>
            <a:xfrm>
              <a:off x="12017069" y="6417953"/>
              <a:ext cx="7519788" cy="2708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3400" b="1" dirty="0">
                  <a:solidFill>
                    <a:schemeClr val="bg1"/>
                  </a:solidFill>
                </a:rPr>
                <a:t>1769689749.HostA-InstanceA.json</a:t>
              </a:r>
            </a:p>
            <a:p>
              <a:pPr algn="ctr"/>
              <a:r>
                <a:rPr lang="en-IE" sz="3400" b="1" dirty="0">
                  <a:solidFill>
                    <a:schemeClr val="bg1"/>
                  </a:solidFill>
                </a:rPr>
                <a:t>1769689809.HostA-InstanceB.json</a:t>
              </a:r>
            </a:p>
            <a:p>
              <a:pPr algn="ctr"/>
              <a:r>
                <a:rPr lang="en-IE" sz="3400" b="1" dirty="0">
                  <a:solidFill>
                    <a:schemeClr val="bg1"/>
                  </a:solidFill>
                </a:rPr>
                <a:t>1769689869.HostB-InstanceZ.json</a:t>
              </a:r>
            </a:p>
            <a:p>
              <a:pPr algn="ctr"/>
              <a:r>
                <a:rPr lang="en-IE" sz="3400" b="1" dirty="0">
                  <a:solidFill>
                    <a:schemeClr val="bg1"/>
                  </a:solidFill>
                </a:rPr>
                <a:t>1769689929.HostR-InstanceG.json</a:t>
              </a:r>
            </a:p>
            <a:p>
              <a:pPr algn="ctr"/>
              <a:r>
                <a:rPr lang="en-IE" sz="3400" b="1" dirty="0">
                  <a:solidFill>
                    <a:schemeClr val="bg1"/>
                  </a:solidFill>
                </a:rPr>
                <a:t>1769689989.HostA-InstanceF.json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5615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58B3095-0260-7A2F-3594-5D20E6B23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1" y="245921"/>
            <a:ext cx="27203400" cy="5914990"/>
          </a:xfrm>
        </p:spPr>
        <p:txBody>
          <a:bodyPr>
            <a:normAutofit fontScale="90000"/>
          </a:bodyPr>
          <a:lstStyle/>
          <a:p>
            <a:pPr algn="ctr"/>
            <a:r>
              <a:rPr lang="en-IE" b="1" dirty="0"/>
              <a:t>Mapping of TaskTide Components</a:t>
            </a:r>
            <a:br>
              <a:rPr lang="en-IE" b="1" dirty="0"/>
            </a:br>
            <a:r>
              <a:rPr lang="en-IE" b="1" dirty="0"/>
              <a:t>to Pilot Job Model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079B890-9077-F1E1-5437-0B56E5965B01}"/>
              </a:ext>
            </a:extLst>
          </p:cNvPr>
          <p:cNvGrpSpPr/>
          <p:nvPr/>
        </p:nvGrpSpPr>
        <p:grpSpPr>
          <a:xfrm>
            <a:off x="3441700" y="6446996"/>
            <a:ext cx="26022300" cy="15612904"/>
            <a:chOff x="6404293" y="7551896"/>
            <a:chExt cx="17414240" cy="1125728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A3B5530-C2C5-432B-8650-01D5F92A1DA7}"/>
                </a:ext>
              </a:extLst>
            </p:cNvPr>
            <p:cNvSpPr/>
            <p:nvPr/>
          </p:nvSpPr>
          <p:spPr>
            <a:xfrm>
              <a:off x="6404293" y="7562056"/>
              <a:ext cx="5303520" cy="3962400"/>
            </a:xfrm>
            <a:prstGeom prst="roundRect">
              <a:avLst/>
            </a:prstGeom>
            <a:solidFill>
              <a:srgbClr val="B56576"/>
            </a:solidFill>
            <a:ln w="76200">
              <a:solidFill>
                <a:schemeClr val="tx1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6600" b="1" dirty="0"/>
                <a:t>Pilot Manager</a:t>
              </a:r>
            </a:p>
            <a:p>
              <a:pPr algn="ctr"/>
              <a:r>
                <a:rPr lang="en-IE" sz="5400" b="1" i="1" dirty="0"/>
                <a:t>(Provisioning)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2C7CA26-DC3F-D8BF-1823-0FC5B1F42429}"/>
                </a:ext>
              </a:extLst>
            </p:cNvPr>
            <p:cNvSpPr/>
            <p:nvPr/>
          </p:nvSpPr>
          <p:spPr>
            <a:xfrm>
              <a:off x="6404293" y="14846776"/>
              <a:ext cx="5303520" cy="3962400"/>
            </a:xfrm>
            <a:prstGeom prst="roundRect">
              <a:avLst/>
            </a:prstGeom>
            <a:solidFill>
              <a:srgbClr val="B56576"/>
            </a:solidFill>
            <a:ln w="76200">
              <a:solidFill>
                <a:schemeClr val="tx1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6000" b="1" dirty="0"/>
                <a:t>Delegate to Schedulers</a:t>
              </a:r>
            </a:p>
            <a:p>
              <a:pPr algn="ctr"/>
              <a:r>
                <a:rPr lang="en-IE" sz="5400" b="1" i="1" dirty="0"/>
                <a:t>(SLURM, K8s etc)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61EACF5-381B-A801-9C56-2B9AA25037CB}"/>
                </a:ext>
              </a:extLst>
            </p:cNvPr>
            <p:cNvSpPr/>
            <p:nvPr/>
          </p:nvSpPr>
          <p:spPr>
            <a:xfrm>
              <a:off x="12449493" y="7551896"/>
              <a:ext cx="5303520" cy="3962400"/>
            </a:xfrm>
            <a:prstGeom prst="roundRect">
              <a:avLst/>
            </a:prstGeom>
            <a:solidFill>
              <a:srgbClr val="4A4E69"/>
            </a:solidFill>
            <a:ln w="76200">
              <a:solidFill>
                <a:schemeClr val="tx1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6600" b="1" dirty="0"/>
                <a:t>Workload Manager</a:t>
              </a:r>
            </a:p>
            <a:p>
              <a:pPr algn="ctr"/>
              <a:r>
                <a:rPr lang="en-IE" sz="5400" b="1" i="1" dirty="0"/>
                <a:t>(Dispatching)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F4E2FC9-AA1E-2152-1294-D9B20D8F0939}"/>
                </a:ext>
              </a:extLst>
            </p:cNvPr>
            <p:cNvSpPr/>
            <p:nvPr/>
          </p:nvSpPr>
          <p:spPr>
            <a:xfrm>
              <a:off x="12449493" y="14836616"/>
              <a:ext cx="5303520" cy="3962400"/>
            </a:xfrm>
            <a:prstGeom prst="roundRect">
              <a:avLst/>
            </a:prstGeom>
            <a:solidFill>
              <a:srgbClr val="4A4E69"/>
            </a:solidFill>
            <a:ln w="76200">
              <a:solidFill>
                <a:schemeClr val="tx1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6000" b="1" i="1" dirty="0"/>
                <a:t>TaskTide Manager</a:t>
              </a:r>
            </a:p>
            <a:p>
              <a:pPr algn="ctr"/>
              <a:r>
                <a:rPr lang="en-IE" sz="6000" b="1" i="1" dirty="0"/>
                <a:t>&amp;</a:t>
              </a:r>
            </a:p>
            <a:p>
              <a:pPr algn="ctr"/>
              <a:r>
                <a:rPr lang="en-IE" sz="6000" b="1" i="1" dirty="0"/>
                <a:t>TaskTide Repository</a:t>
              </a:r>
              <a:endParaRPr lang="en-IE" sz="5400" b="1" i="1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C59B431-D851-B80B-F782-CD4578C86502}"/>
                </a:ext>
              </a:extLst>
            </p:cNvPr>
            <p:cNvSpPr/>
            <p:nvPr/>
          </p:nvSpPr>
          <p:spPr>
            <a:xfrm>
              <a:off x="18515013" y="7562056"/>
              <a:ext cx="5303520" cy="3962400"/>
            </a:xfrm>
            <a:prstGeom prst="roundRect">
              <a:avLst/>
            </a:prstGeom>
            <a:solidFill>
              <a:srgbClr val="6B5B95"/>
            </a:solidFill>
            <a:ln w="76200">
              <a:solidFill>
                <a:schemeClr val="tx1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6600" b="1" dirty="0"/>
                <a:t>Task Manager</a:t>
              </a:r>
            </a:p>
            <a:p>
              <a:pPr algn="ctr"/>
              <a:r>
                <a:rPr lang="en-IE" sz="5400" b="1" i="1" dirty="0"/>
                <a:t>(Execution)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B7D5B73F-21AD-3A0B-09DF-443A8870625A}"/>
                </a:ext>
              </a:extLst>
            </p:cNvPr>
            <p:cNvSpPr/>
            <p:nvPr/>
          </p:nvSpPr>
          <p:spPr>
            <a:xfrm>
              <a:off x="18515013" y="14846776"/>
              <a:ext cx="5303520" cy="3962400"/>
            </a:xfrm>
            <a:prstGeom prst="roundRect">
              <a:avLst/>
            </a:prstGeom>
            <a:solidFill>
              <a:srgbClr val="6B5B95"/>
            </a:solidFill>
            <a:ln w="76200">
              <a:solidFill>
                <a:schemeClr val="tx1"/>
              </a:solidFill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6000" b="1" i="1" dirty="0"/>
                <a:t>TaskTide Client</a:t>
              </a:r>
            </a:p>
            <a:p>
              <a:pPr algn="ctr"/>
              <a:r>
                <a:rPr lang="en-IE" sz="6000" b="1" i="1" dirty="0"/>
                <a:t>&amp;</a:t>
              </a:r>
            </a:p>
            <a:p>
              <a:pPr algn="ctr"/>
              <a:r>
                <a:rPr lang="en-IE" sz="6000" b="1" i="1" dirty="0"/>
                <a:t>TaskTide Engine</a:t>
              </a:r>
              <a:endParaRPr lang="en-IE" sz="5400" b="1" i="1" dirty="0"/>
            </a:p>
          </p:txBody>
        </p:sp>
        <p:sp>
          <p:nvSpPr>
            <p:cNvPr id="16" name="Arrow: Down 15">
              <a:extLst>
                <a:ext uri="{FF2B5EF4-FFF2-40B4-BE49-F238E27FC236}">
                  <a16:creationId xmlns:a16="http://schemas.microsoft.com/office/drawing/2014/main" id="{9E8F5C0A-A32A-C17F-9A9A-2B3977313AA9}"/>
                </a:ext>
              </a:extLst>
            </p:cNvPr>
            <p:cNvSpPr/>
            <p:nvPr/>
          </p:nvSpPr>
          <p:spPr>
            <a:xfrm>
              <a:off x="8395653" y="11525909"/>
              <a:ext cx="1178560" cy="3891280"/>
            </a:xfrm>
            <a:prstGeom prst="downArrow">
              <a:avLst/>
            </a:prstGeom>
            <a:solidFill>
              <a:srgbClr val="4A6FA5"/>
            </a:solidFill>
            <a:ln w="5715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sz="3200"/>
            </a:p>
          </p:txBody>
        </p:sp>
        <p:sp>
          <p:nvSpPr>
            <p:cNvPr id="17" name="Arrow: Down 16">
              <a:extLst>
                <a:ext uri="{FF2B5EF4-FFF2-40B4-BE49-F238E27FC236}">
                  <a16:creationId xmlns:a16="http://schemas.microsoft.com/office/drawing/2014/main" id="{627699BF-8C58-A803-0A60-513BDDC3A7C0}"/>
                </a:ext>
              </a:extLst>
            </p:cNvPr>
            <p:cNvSpPr/>
            <p:nvPr/>
          </p:nvSpPr>
          <p:spPr>
            <a:xfrm>
              <a:off x="14420534" y="11537012"/>
              <a:ext cx="1178560" cy="3901440"/>
            </a:xfrm>
            <a:prstGeom prst="downArrow">
              <a:avLst/>
            </a:prstGeom>
            <a:solidFill>
              <a:srgbClr val="4A6FA5"/>
            </a:solidFill>
            <a:ln w="5715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sz="3200"/>
            </a:p>
          </p:txBody>
        </p:sp>
        <p:sp>
          <p:nvSpPr>
            <p:cNvPr id="18" name="Arrow: Down 17">
              <a:extLst>
                <a:ext uri="{FF2B5EF4-FFF2-40B4-BE49-F238E27FC236}">
                  <a16:creationId xmlns:a16="http://schemas.microsoft.com/office/drawing/2014/main" id="{588DFD7E-825B-38AA-50A1-48C819D883EB}"/>
                </a:ext>
              </a:extLst>
            </p:cNvPr>
            <p:cNvSpPr/>
            <p:nvPr/>
          </p:nvSpPr>
          <p:spPr>
            <a:xfrm>
              <a:off x="20526694" y="11525907"/>
              <a:ext cx="1178560" cy="3901440"/>
            </a:xfrm>
            <a:prstGeom prst="downArrow">
              <a:avLst/>
            </a:prstGeom>
            <a:solidFill>
              <a:srgbClr val="4A6FA5"/>
            </a:solidFill>
            <a:ln w="5715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sz="3200"/>
            </a:p>
          </p:txBody>
        </p:sp>
      </p:grpSp>
    </p:spTree>
    <p:extLst>
      <p:ext uri="{BB962C8B-B14F-4D97-AF65-F5344CB8AC3E}">
        <p14:creationId xmlns:p14="http://schemas.microsoft.com/office/powerpoint/2010/main" val="1340470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3CE86-7161-A9BD-45FD-6F22304D5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white tooth with a red ball and bow and arrow&#10;&#10;AI-generated content may be incorrect.">
            <a:extLst>
              <a:ext uri="{FF2B5EF4-FFF2-40B4-BE49-F238E27FC236}">
                <a16:creationId xmlns:a16="http://schemas.microsoft.com/office/drawing/2014/main" id="{E1FE6B74-6CAE-A5DB-C447-6DF730DC7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077" y="16265703"/>
            <a:ext cx="5328880" cy="3351074"/>
          </a:xfrm>
          <a:prstGeom prst="rect">
            <a:avLst/>
          </a:prstGeom>
        </p:spPr>
      </p:pic>
      <p:pic>
        <p:nvPicPr>
          <p:cNvPr id="15" name="Picture 14" descr="A close-up of a logo&#10;&#10;AI-generated content may be incorrect.">
            <a:extLst>
              <a:ext uri="{FF2B5EF4-FFF2-40B4-BE49-F238E27FC236}">
                <a16:creationId xmlns:a16="http://schemas.microsoft.com/office/drawing/2014/main" id="{06C3043E-52E1-11EF-906B-59D487C072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8564" y="15949535"/>
            <a:ext cx="5019858" cy="277588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F67664-A795-DBE9-AA52-79FEBF892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70166" y="1106687"/>
            <a:ext cx="7968078" cy="7152674"/>
          </a:xfrm>
          <a:prstGeom prst="rect">
            <a:avLst/>
          </a:prstGeom>
        </p:spPr>
      </p:pic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697A1408-FC0C-100B-FE0E-B1F767175B93}"/>
              </a:ext>
            </a:extLst>
          </p:cNvPr>
          <p:cNvSpPr/>
          <p:nvPr/>
        </p:nvSpPr>
        <p:spPr>
          <a:xfrm>
            <a:off x="5750917" y="4551093"/>
            <a:ext cx="6201238" cy="1263908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5000" b="1" dirty="0"/>
              <a:t>TaskTide Client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ACCD8FFD-F9AD-D60F-3E5E-5246062D1849}"/>
              </a:ext>
            </a:extLst>
          </p:cNvPr>
          <p:cNvSpPr/>
          <p:nvPr/>
        </p:nvSpPr>
        <p:spPr>
          <a:xfrm>
            <a:off x="2502490" y="7012739"/>
            <a:ext cx="4585982" cy="1343146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5000" b="1" dirty="0"/>
              <a:t>ManagerClient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F2F64F30-091D-BDAD-27FC-2AD93288F974}"/>
              </a:ext>
            </a:extLst>
          </p:cNvPr>
          <p:cNvSpPr/>
          <p:nvPr/>
        </p:nvSpPr>
        <p:spPr>
          <a:xfrm>
            <a:off x="9680995" y="7025760"/>
            <a:ext cx="4352343" cy="1335648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5000" b="1" dirty="0"/>
              <a:t>EngineClient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61387D95-CBF1-A502-8EE4-0E6B5D2F80B0}"/>
              </a:ext>
            </a:extLst>
          </p:cNvPr>
          <p:cNvSpPr/>
          <p:nvPr/>
        </p:nvSpPr>
        <p:spPr>
          <a:xfrm>
            <a:off x="5420985" y="9234926"/>
            <a:ext cx="6531163" cy="1343146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5000" b="1" dirty="0"/>
              <a:t>TaskTideService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5E049925-F34A-EFE4-90E2-0AB2F5FF52F3}"/>
              </a:ext>
            </a:extLst>
          </p:cNvPr>
          <p:cNvSpPr/>
          <p:nvPr/>
        </p:nvSpPr>
        <p:spPr>
          <a:xfrm>
            <a:off x="5420983" y="11380298"/>
            <a:ext cx="6418772" cy="1182201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5000" b="1" dirty="0"/>
              <a:t>TaskTideRepository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67D27A5C-1A54-F813-BE69-7A5942C35929}"/>
              </a:ext>
            </a:extLst>
          </p:cNvPr>
          <p:cNvSpPr/>
          <p:nvPr/>
        </p:nvSpPr>
        <p:spPr>
          <a:xfrm>
            <a:off x="1270000" y="14259701"/>
            <a:ext cx="6163026" cy="127061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5000" b="1" dirty="0"/>
              <a:t>TemplateRepository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2F2D9D02-3A56-54CB-6191-882B3D76141B}"/>
              </a:ext>
            </a:extLst>
          </p:cNvPr>
          <p:cNvSpPr/>
          <p:nvPr/>
        </p:nvSpPr>
        <p:spPr>
          <a:xfrm>
            <a:off x="13539903" y="15157973"/>
            <a:ext cx="6440138" cy="1270455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5000" b="1" dirty="0"/>
              <a:t>ItemStoreRepository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30A00E42-787A-9CBE-661B-74828FB13D8F}"/>
              </a:ext>
            </a:extLst>
          </p:cNvPr>
          <p:cNvSpPr/>
          <p:nvPr/>
        </p:nvSpPr>
        <p:spPr>
          <a:xfrm>
            <a:off x="7896942" y="13461077"/>
            <a:ext cx="4831346" cy="109293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5000" b="1" dirty="0"/>
              <a:t>JpaRepository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5740114-8DA1-2E55-2D12-F68B41B5E29D}"/>
              </a:ext>
            </a:extLst>
          </p:cNvPr>
          <p:cNvGrpSpPr/>
          <p:nvPr/>
        </p:nvGrpSpPr>
        <p:grpSpPr>
          <a:xfrm>
            <a:off x="14532334" y="17263364"/>
            <a:ext cx="5208788" cy="2791999"/>
            <a:chOff x="8471368" y="11395622"/>
            <a:chExt cx="3773483" cy="1545522"/>
          </a:xfrm>
        </p:grpSpPr>
        <p:pic>
          <p:nvPicPr>
            <p:cNvPr id="52" name="Picture 51" descr="A logo with a feather&#10;&#10;AI-generated content may be incorrect.">
              <a:extLst>
                <a:ext uri="{FF2B5EF4-FFF2-40B4-BE49-F238E27FC236}">
                  <a16:creationId xmlns:a16="http://schemas.microsoft.com/office/drawing/2014/main" id="{D7F1693E-7025-8467-D2E1-D07425C7D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1368" y="11395622"/>
              <a:ext cx="1552575" cy="733425"/>
            </a:xfrm>
            <a:prstGeom prst="rect">
              <a:avLst/>
            </a:prstGeom>
          </p:spPr>
        </p:pic>
        <p:pic>
          <p:nvPicPr>
            <p:cNvPr id="53" name="Picture 52" descr="A yellow leopard jumping in a folder&#10;&#10;AI-generated content may be incorrect.">
              <a:extLst>
                <a:ext uri="{FF2B5EF4-FFF2-40B4-BE49-F238E27FC236}">
                  <a16:creationId xmlns:a16="http://schemas.microsoft.com/office/drawing/2014/main" id="{9EFB5294-5299-6F2D-4B44-3D4954D13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10768" y="12024102"/>
              <a:ext cx="1834083" cy="917042"/>
            </a:xfrm>
            <a:prstGeom prst="rect">
              <a:avLst/>
            </a:prstGeom>
          </p:spPr>
        </p:pic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0136711D-DAEB-DC8C-BC12-5937C6AD3D43}"/>
                </a:ext>
              </a:extLst>
            </p:cNvPr>
            <p:cNvCxnSpPr/>
            <p:nvPr/>
          </p:nvCxnSpPr>
          <p:spPr>
            <a:xfrm flipH="1">
              <a:off x="9449163" y="11416068"/>
              <a:ext cx="1765738" cy="1525076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F41C21B-1002-5F40-E2C4-A60CF6060AA1}"/>
              </a:ext>
            </a:extLst>
          </p:cNvPr>
          <p:cNvCxnSpPr>
            <a:cxnSpLocks/>
          </p:cNvCxnSpPr>
          <p:nvPr/>
        </p:nvCxnSpPr>
        <p:spPr>
          <a:xfrm>
            <a:off x="6262144" y="5849311"/>
            <a:ext cx="0" cy="107790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CD3992E-2D12-1079-1D8F-2679C1B936EA}"/>
              </a:ext>
            </a:extLst>
          </p:cNvPr>
          <p:cNvCxnSpPr>
            <a:cxnSpLocks/>
          </p:cNvCxnSpPr>
          <p:nvPr/>
        </p:nvCxnSpPr>
        <p:spPr>
          <a:xfrm>
            <a:off x="10302267" y="12610224"/>
            <a:ext cx="0" cy="80609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CC21341-3094-3950-D147-7182BEF424D4}"/>
              </a:ext>
            </a:extLst>
          </p:cNvPr>
          <p:cNvCxnSpPr>
            <a:cxnSpLocks/>
          </p:cNvCxnSpPr>
          <p:nvPr/>
        </p:nvCxnSpPr>
        <p:spPr>
          <a:xfrm>
            <a:off x="16552875" y="16484332"/>
            <a:ext cx="0" cy="71025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1865516B-2C47-FA60-6E82-ED0871B6619A}"/>
              </a:ext>
            </a:extLst>
          </p:cNvPr>
          <p:cNvSpPr/>
          <p:nvPr/>
        </p:nvSpPr>
        <p:spPr>
          <a:xfrm>
            <a:off x="15009882" y="6989374"/>
            <a:ext cx="4775687" cy="140597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5000" b="1" dirty="0"/>
              <a:t>TaskTideEngine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BA4962-DA4F-F14B-60D7-1FE7882114F8}"/>
              </a:ext>
            </a:extLst>
          </p:cNvPr>
          <p:cNvCxnSpPr>
            <a:cxnSpLocks/>
          </p:cNvCxnSpPr>
          <p:nvPr/>
        </p:nvCxnSpPr>
        <p:spPr>
          <a:xfrm>
            <a:off x="11869475" y="12095599"/>
            <a:ext cx="647546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A061BCB1-8FE1-4A80-0D0B-D65883EE0925}"/>
              </a:ext>
            </a:extLst>
          </p:cNvPr>
          <p:cNvSpPr/>
          <p:nvPr/>
        </p:nvSpPr>
        <p:spPr>
          <a:xfrm>
            <a:off x="12517020" y="11395574"/>
            <a:ext cx="4775698" cy="1219121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5000" b="1" dirty="0"/>
              <a:t>TaskTideModel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A0181391-FDAE-83C0-4446-6EDBC6942091}"/>
              </a:ext>
            </a:extLst>
          </p:cNvPr>
          <p:cNvSpPr/>
          <p:nvPr/>
        </p:nvSpPr>
        <p:spPr>
          <a:xfrm>
            <a:off x="18617519" y="9978545"/>
            <a:ext cx="3937683" cy="115097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5000" b="1" dirty="0"/>
              <a:t>Workflow</a:t>
            </a:r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D5B57F85-30C3-BE1B-FA95-6F3E52596542}"/>
              </a:ext>
            </a:extLst>
          </p:cNvPr>
          <p:cNvSpPr/>
          <p:nvPr/>
        </p:nvSpPr>
        <p:spPr>
          <a:xfrm>
            <a:off x="18614966" y="11534189"/>
            <a:ext cx="3937683" cy="115097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5000" b="1" dirty="0"/>
              <a:t>Step</a:t>
            </a: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C73AFC73-F548-D403-D88D-2AD70C0AD41F}"/>
              </a:ext>
            </a:extLst>
          </p:cNvPr>
          <p:cNvSpPr/>
          <p:nvPr/>
        </p:nvSpPr>
        <p:spPr>
          <a:xfrm>
            <a:off x="18599462" y="13071328"/>
            <a:ext cx="3937683" cy="1206278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5000" b="1" dirty="0"/>
              <a:t>WorkItem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5B77FBD-F0A9-C9AF-FE66-42E43E3F8969}"/>
              </a:ext>
            </a:extLst>
          </p:cNvPr>
          <p:cNvCxnSpPr>
            <a:cxnSpLocks/>
          </p:cNvCxnSpPr>
          <p:nvPr/>
        </p:nvCxnSpPr>
        <p:spPr>
          <a:xfrm>
            <a:off x="11178510" y="5851703"/>
            <a:ext cx="0" cy="107550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68628CA-3690-D0AB-F0B1-D24B98C3E2E4}"/>
              </a:ext>
            </a:extLst>
          </p:cNvPr>
          <p:cNvCxnSpPr>
            <a:cxnSpLocks/>
          </p:cNvCxnSpPr>
          <p:nvPr/>
        </p:nvCxnSpPr>
        <p:spPr>
          <a:xfrm>
            <a:off x="6262144" y="8404932"/>
            <a:ext cx="0" cy="76475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A86C12-51C1-0736-C3F2-4E1F911E7A6B}"/>
              </a:ext>
            </a:extLst>
          </p:cNvPr>
          <p:cNvCxnSpPr>
            <a:cxnSpLocks/>
          </p:cNvCxnSpPr>
          <p:nvPr/>
        </p:nvCxnSpPr>
        <p:spPr>
          <a:xfrm>
            <a:off x="11234048" y="8408626"/>
            <a:ext cx="0" cy="78141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BA6A289-C8CE-AB78-DFC9-EF8717C9EEBE}"/>
              </a:ext>
            </a:extLst>
          </p:cNvPr>
          <p:cNvCxnSpPr>
            <a:cxnSpLocks/>
          </p:cNvCxnSpPr>
          <p:nvPr/>
        </p:nvCxnSpPr>
        <p:spPr>
          <a:xfrm>
            <a:off x="8626327" y="10628035"/>
            <a:ext cx="0" cy="76842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A5C7856-1F9B-CB58-54A2-5AD49111829B}"/>
              </a:ext>
            </a:extLst>
          </p:cNvPr>
          <p:cNvCxnSpPr>
            <a:cxnSpLocks/>
          </p:cNvCxnSpPr>
          <p:nvPr/>
        </p:nvCxnSpPr>
        <p:spPr>
          <a:xfrm>
            <a:off x="14059559" y="7730992"/>
            <a:ext cx="898631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2894676-A062-0D25-A978-A09474FFC8F4}"/>
              </a:ext>
            </a:extLst>
          </p:cNvPr>
          <p:cNvCxnSpPr>
            <a:cxnSpLocks/>
          </p:cNvCxnSpPr>
          <p:nvPr/>
        </p:nvCxnSpPr>
        <p:spPr>
          <a:xfrm>
            <a:off x="17394074" y="12119683"/>
            <a:ext cx="1124069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D9BE884-26F1-4A91-7FFC-4EED34B19924}"/>
              </a:ext>
            </a:extLst>
          </p:cNvPr>
          <p:cNvCxnSpPr>
            <a:cxnSpLocks/>
          </p:cNvCxnSpPr>
          <p:nvPr/>
        </p:nvCxnSpPr>
        <p:spPr>
          <a:xfrm flipV="1">
            <a:off x="17343783" y="10862388"/>
            <a:ext cx="1220257" cy="127045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AF6ADCA-B7DA-0810-51D8-0DBEEFCAB473}"/>
              </a:ext>
            </a:extLst>
          </p:cNvPr>
          <p:cNvCxnSpPr>
            <a:cxnSpLocks/>
          </p:cNvCxnSpPr>
          <p:nvPr/>
        </p:nvCxnSpPr>
        <p:spPr>
          <a:xfrm rot="5400000" flipV="1">
            <a:off x="17339645" y="12205226"/>
            <a:ext cx="1307588" cy="1185604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9C63B5C-2238-027C-615F-44B0217A2BB0}"/>
              </a:ext>
            </a:extLst>
          </p:cNvPr>
          <p:cNvCxnSpPr>
            <a:cxnSpLocks/>
          </p:cNvCxnSpPr>
          <p:nvPr/>
        </p:nvCxnSpPr>
        <p:spPr>
          <a:xfrm flipH="1">
            <a:off x="6262144" y="12612331"/>
            <a:ext cx="234" cy="162876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4D6A6C3-E337-21A9-1C16-75F98CA5DD56}"/>
              </a:ext>
            </a:extLst>
          </p:cNvPr>
          <p:cNvCxnSpPr>
            <a:cxnSpLocks/>
          </p:cNvCxnSpPr>
          <p:nvPr/>
        </p:nvCxnSpPr>
        <p:spPr>
          <a:xfrm>
            <a:off x="11788958" y="12484795"/>
            <a:ext cx="4528699" cy="258801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395422B-528F-3AE2-3CFD-CEFE2FEB7B25}"/>
              </a:ext>
            </a:extLst>
          </p:cNvPr>
          <p:cNvCxnSpPr>
            <a:cxnSpLocks/>
          </p:cNvCxnSpPr>
          <p:nvPr/>
        </p:nvCxnSpPr>
        <p:spPr>
          <a:xfrm>
            <a:off x="10283536" y="14612374"/>
            <a:ext cx="0" cy="1177446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E811A4E-72B7-EF21-7806-6477EADFF5C1}"/>
              </a:ext>
            </a:extLst>
          </p:cNvPr>
          <p:cNvCxnSpPr>
            <a:cxnSpLocks/>
          </p:cNvCxnSpPr>
          <p:nvPr/>
        </p:nvCxnSpPr>
        <p:spPr>
          <a:xfrm>
            <a:off x="4119501" y="15581710"/>
            <a:ext cx="0" cy="710255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C4FEB49-A31F-5D0E-8D51-BD86366EBB89}"/>
              </a:ext>
            </a:extLst>
          </p:cNvPr>
          <p:cNvCxnSpPr>
            <a:cxnSpLocks/>
          </p:cNvCxnSpPr>
          <p:nvPr/>
        </p:nvCxnSpPr>
        <p:spPr>
          <a:xfrm>
            <a:off x="19996958" y="15814131"/>
            <a:ext cx="787245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7" name="Flowchart: Alternate Process 36">
            <a:extLst>
              <a:ext uri="{FF2B5EF4-FFF2-40B4-BE49-F238E27FC236}">
                <a16:creationId xmlns:a16="http://schemas.microsoft.com/office/drawing/2014/main" id="{9FC76920-6E56-9111-1942-70A9DA759DD0}"/>
              </a:ext>
            </a:extLst>
          </p:cNvPr>
          <p:cNvSpPr/>
          <p:nvPr/>
        </p:nvSpPr>
        <p:spPr>
          <a:xfrm>
            <a:off x="20775185" y="15086664"/>
            <a:ext cx="4918550" cy="1445848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200" b="1" dirty="0"/>
              <a:t>MutexOrchestrator</a:t>
            </a:r>
          </a:p>
        </p:txBody>
      </p:sp>
      <p:sp>
        <p:nvSpPr>
          <p:cNvPr id="38" name="Flowchart: Alternate Process 37">
            <a:extLst>
              <a:ext uri="{FF2B5EF4-FFF2-40B4-BE49-F238E27FC236}">
                <a16:creationId xmlns:a16="http://schemas.microsoft.com/office/drawing/2014/main" id="{F6315447-3B31-9C1E-2037-7FAE6E0DC1C3}"/>
              </a:ext>
            </a:extLst>
          </p:cNvPr>
          <p:cNvSpPr/>
          <p:nvPr/>
        </p:nvSpPr>
        <p:spPr>
          <a:xfrm>
            <a:off x="26999518" y="13737745"/>
            <a:ext cx="3935130" cy="115097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5000" b="1" dirty="0"/>
              <a:t>MutexModel</a:t>
            </a:r>
          </a:p>
        </p:txBody>
      </p:sp>
      <p:sp>
        <p:nvSpPr>
          <p:cNvPr id="39" name="Flowchart: Alternate Process 38">
            <a:extLst>
              <a:ext uri="{FF2B5EF4-FFF2-40B4-BE49-F238E27FC236}">
                <a16:creationId xmlns:a16="http://schemas.microsoft.com/office/drawing/2014/main" id="{1F5AD0F6-902B-BC91-A1BF-B1C1FFA3A532}"/>
              </a:ext>
            </a:extLst>
          </p:cNvPr>
          <p:cNvSpPr/>
          <p:nvPr/>
        </p:nvSpPr>
        <p:spPr>
          <a:xfrm>
            <a:off x="26996966" y="15293389"/>
            <a:ext cx="3937683" cy="115097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5000" b="1" dirty="0"/>
              <a:t>MutexActor</a:t>
            </a:r>
          </a:p>
        </p:txBody>
      </p:sp>
      <p:sp>
        <p:nvSpPr>
          <p:cNvPr id="40" name="Flowchart: Alternate Process 39">
            <a:extLst>
              <a:ext uri="{FF2B5EF4-FFF2-40B4-BE49-F238E27FC236}">
                <a16:creationId xmlns:a16="http://schemas.microsoft.com/office/drawing/2014/main" id="{496076F2-D8F5-2D61-D76B-0017910D5D4A}"/>
              </a:ext>
            </a:extLst>
          </p:cNvPr>
          <p:cNvSpPr/>
          <p:nvPr/>
        </p:nvSpPr>
        <p:spPr>
          <a:xfrm>
            <a:off x="26981462" y="16830528"/>
            <a:ext cx="3937683" cy="1206278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200" b="1" dirty="0"/>
              <a:t>MutexStrategy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C1300B4-5166-ABF5-DC56-EF182A20D891}"/>
              </a:ext>
            </a:extLst>
          </p:cNvPr>
          <p:cNvCxnSpPr>
            <a:cxnSpLocks/>
          </p:cNvCxnSpPr>
          <p:nvPr/>
        </p:nvCxnSpPr>
        <p:spPr>
          <a:xfrm flipV="1">
            <a:off x="25725783" y="14554014"/>
            <a:ext cx="1204359" cy="1338029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5093687-F272-0F74-0C78-BC1C77E89BC1}"/>
              </a:ext>
            </a:extLst>
          </p:cNvPr>
          <p:cNvCxnSpPr>
            <a:cxnSpLocks/>
          </p:cNvCxnSpPr>
          <p:nvPr/>
        </p:nvCxnSpPr>
        <p:spPr>
          <a:xfrm>
            <a:off x="25744536" y="15854449"/>
            <a:ext cx="1185604" cy="1445851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DFDE449-31C0-0675-A577-A7F69668B32A}"/>
              </a:ext>
            </a:extLst>
          </p:cNvPr>
          <p:cNvCxnSpPr>
            <a:cxnSpLocks/>
          </p:cNvCxnSpPr>
          <p:nvPr/>
        </p:nvCxnSpPr>
        <p:spPr>
          <a:xfrm>
            <a:off x="25768812" y="15873440"/>
            <a:ext cx="1161328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8" name="Flowchart: Alternate Process 47">
            <a:extLst>
              <a:ext uri="{FF2B5EF4-FFF2-40B4-BE49-F238E27FC236}">
                <a16:creationId xmlns:a16="http://schemas.microsoft.com/office/drawing/2014/main" id="{DF56FC6F-F379-CAE9-C4C2-EF3588FCD34F}"/>
              </a:ext>
            </a:extLst>
          </p:cNvPr>
          <p:cNvSpPr/>
          <p:nvPr/>
        </p:nvSpPr>
        <p:spPr>
          <a:xfrm>
            <a:off x="12947202" y="4545802"/>
            <a:ext cx="4352343" cy="1335648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400" b="1" dirty="0"/>
              <a:t>TaskTideConfig</a:t>
            </a:r>
          </a:p>
        </p:txBody>
      </p:sp>
      <p:sp>
        <p:nvSpPr>
          <p:cNvPr id="49" name="Flowchart: Alternate Process 48">
            <a:extLst>
              <a:ext uri="{FF2B5EF4-FFF2-40B4-BE49-F238E27FC236}">
                <a16:creationId xmlns:a16="http://schemas.microsoft.com/office/drawing/2014/main" id="{AD5BAC29-B482-CE00-8889-D5E91ECB58D3}"/>
              </a:ext>
            </a:extLst>
          </p:cNvPr>
          <p:cNvSpPr/>
          <p:nvPr/>
        </p:nvSpPr>
        <p:spPr>
          <a:xfrm>
            <a:off x="18276089" y="4509416"/>
            <a:ext cx="4775687" cy="1405977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4400" b="1" dirty="0"/>
              <a:t>ArgumentTree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C6FAB01-E177-07B8-A412-F0419F5EF0CF}"/>
              </a:ext>
            </a:extLst>
          </p:cNvPr>
          <p:cNvCxnSpPr>
            <a:cxnSpLocks/>
          </p:cNvCxnSpPr>
          <p:nvPr/>
        </p:nvCxnSpPr>
        <p:spPr>
          <a:xfrm>
            <a:off x="17325766" y="5251034"/>
            <a:ext cx="898631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3D98B52-48DF-7BA6-2C60-11A7BD5308E6}"/>
              </a:ext>
            </a:extLst>
          </p:cNvPr>
          <p:cNvCxnSpPr>
            <a:cxnSpLocks/>
          </p:cNvCxnSpPr>
          <p:nvPr/>
        </p:nvCxnSpPr>
        <p:spPr>
          <a:xfrm>
            <a:off x="12022246" y="5247726"/>
            <a:ext cx="898631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61ABEC6E-AF8D-C833-0860-E9E6C575F926}"/>
              </a:ext>
            </a:extLst>
          </p:cNvPr>
          <p:cNvSpPr/>
          <p:nvPr/>
        </p:nvSpPr>
        <p:spPr>
          <a:xfrm>
            <a:off x="443341" y="4515225"/>
            <a:ext cx="4352343" cy="1335648"/>
          </a:xfrm>
          <a:prstGeom prst="flowChartAlternateProcess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5000" b="1" dirty="0"/>
              <a:t>WebAPI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CE0B039-7FB9-A34A-9885-04BAEE8577BD}"/>
              </a:ext>
            </a:extLst>
          </p:cNvPr>
          <p:cNvCxnSpPr>
            <a:cxnSpLocks/>
          </p:cNvCxnSpPr>
          <p:nvPr/>
        </p:nvCxnSpPr>
        <p:spPr>
          <a:xfrm rot="10800000" flipV="1">
            <a:off x="4874059" y="5226359"/>
            <a:ext cx="898631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5816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4203</TotalTime>
  <Words>759</Words>
  <Application>Microsoft Office PowerPoint</Application>
  <PresentationFormat>Custom</PresentationFormat>
  <Paragraphs>235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High-Level Layered Architecture</vt:lpstr>
      <vt:lpstr>PowerPoint Presentation</vt:lpstr>
      <vt:lpstr>TaskTide Operating Principle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High Level Development Approach</vt:lpstr>
      <vt:lpstr>De-centralized Mutex Workflow</vt:lpstr>
      <vt:lpstr>Mapping of TaskTide Components to Pilot Job Model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Kenna</dc:creator>
  <cp:lastModifiedBy>Brendan Kenna</cp:lastModifiedBy>
  <cp:revision>309</cp:revision>
  <dcterms:created xsi:type="dcterms:W3CDTF">2025-07-22T15:08:42Z</dcterms:created>
  <dcterms:modified xsi:type="dcterms:W3CDTF">2026-10-07T10:57:42Z</dcterms:modified>
</cp:coreProperties>
</file>